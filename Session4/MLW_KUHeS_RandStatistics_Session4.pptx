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app0.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package/2006/relationships/metadata/extended-properties" Target="docProps/app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91" autoAdjust="0"/>
    <p:restoredTop sz="94660"/>
  </p:normalViewPr>
  <p:slideViewPr>
    <p:cSldViewPr snapToGrid="0">
      <p:cViewPr varScale="1">
        <p:scale>
          <a:sx n="111" d="100"/>
          <a:sy n="111" d="100"/>
        </p:scale>
        <p:origin x="480"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presProps" Target="presProps.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viewProps" Target="viewProp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microsoft.com/office/2016/11/relationships/changesInfo" Target="changesInfos/changesInfo1.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ester Gunsaru" userId="fcbc3b57-5752-4646-b64c-42d739644f63" providerId="ADAL" clId="{3D054897-9A39-4848-982F-7C9BE3A1605B}"/>
    <pc:docChg chg="custSel modSld">
      <pc:chgData name="Vester Gunsaru" userId="fcbc3b57-5752-4646-b64c-42d739644f63" providerId="ADAL" clId="{3D054897-9A39-4848-982F-7C9BE3A1605B}" dt="2026-01-27T13:48:57.661" v="49" actId="27636"/>
      <pc:docMkLst>
        <pc:docMk/>
      </pc:docMkLst>
      <pc:sldChg chg="modSp mod">
        <pc:chgData name="Vester Gunsaru" userId="fcbc3b57-5752-4646-b64c-42d739644f63" providerId="ADAL" clId="{3D054897-9A39-4848-982F-7C9BE3A1605B}" dt="2026-01-27T13:43:03.539" v="1" actId="27636"/>
        <pc:sldMkLst>
          <pc:docMk/>
          <pc:sldMk cId="0" sldId="260"/>
        </pc:sldMkLst>
        <pc:spChg chg="mod">
          <ac:chgData name="Vester Gunsaru" userId="fcbc3b57-5752-4646-b64c-42d739644f63" providerId="ADAL" clId="{3D054897-9A39-4848-982F-7C9BE3A1605B}" dt="2026-01-27T13:43:03.539" v="1" actId="27636"/>
          <ac:spMkLst>
            <pc:docMk/>
            <pc:sldMk cId="0" sldId="260"/>
            <ac:spMk id="3" creationId="{288BC91F-1C76-43AE-8B2A-956D48B768BE}"/>
          </ac:spMkLst>
        </pc:spChg>
      </pc:sldChg>
      <pc:sldChg chg="modSp mod">
        <pc:chgData name="Vester Gunsaru" userId="fcbc3b57-5752-4646-b64c-42d739644f63" providerId="ADAL" clId="{3D054897-9A39-4848-982F-7C9BE3A1605B}" dt="2026-01-27T13:43:54.841" v="3" actId="27636"/>
        <pc:sldMkLst>
          <pc:docMk/>
          <pc:sldMk cId="0" sldId="269"/>
        </pc:sldMkLst>
        <pc:spChg chg="mod">
          <ac:chgData name="Vester Gunsaru" userId="fcbc3b57-5752-4646-b64c-42d739644f63" providerId="ADAL" clId="{3D054897-9A39-4848-982F-7C9BE3A1605B}" dt="2026-01-27T13:43:54.841" v="3" actId="27636"/>
          <ac:spMkLst>
            <pc:docMk/>
            <pc:sldMk cId="0" sldId="269"/>
            <ac:spMk id="3" creationId="{288BC91F-1C76-43AE-8B2A-956D48B768BE}"/>
          </ac:spMkLst>
        </pc:spChg>
      </pc:sldChg>
      <pc:sldChg chg="modSp mod">
        <pc:chgData name="Vester Gunsaru" userId="fcbc3b57-5752-4646-b64c-42d739644f63" providerId="ADAL" clId="{3D054897-9A39-4848-982F-7C9BE3A1605B}" dt="2026-01-27T13:44:05.637" v="6" actId="1076"/>
        <pc:sldMkLst>
          <pc:docMk/>
          <pc:sldMk cId="0" sldId="273"/>
        </pc:sldMkLst>
        <pc:spChg chg="mod">
          <ac:chgData name="Vester Gunsaru" userId="fcbc3b57-5752-4646-b64c-42d739644f63" providerId="ADAL" clId="{3D054897-9A39-4848-982F-7C9BE3A1605B}" dt="2026-01-27T13:44:05.637" v="6" actId="1076"/>
          <ac:spMkLst>
            <pc:docMk/>
            <pc:sldMk cId="0" sldId="273"/>
            <ac:spMk id="3" creationId="{288BC91F-1C76-43AE-8B2A-956D48B768BE}"/>
          </ac:spMkLst>
        </pc:spChg>
      </pc:sldChg>
      <pc:sldChg chg="modSp mod">
        <pc:chgData name="Vester Gunsaru" userId="fcbc3b57-5752-4646-b64c-42d739644f63" providerId="ADAL" clId="{3D054897-9A39-4848-982F-7C9BE3A1605B}" dt="2026-01-27T13:44:23.449" v="8" actId="27636"/>
        <pc:sldMkLst>
          <pc:docMk/>
          <pc:sldMk cId="0" sldId="283"/>
        </pc:sldMkLst>
        <pc:spChg chg="mod">
          <ac:chgData name="Vester Gunsaru" userId="fcbc3b57-5752-4646-b64c-42d739644f63" providerId="ADAL" clId="{3D054897-9A39-4848-982F-7C9BE3A1605B}" dt="2026-01-27T13:44:23.449" v="8" actId="27636"/>
          <ac:spMkLst>
            <pc:docMk/>
            <pc:sldMk cId="0" sldId="283"/>
            <ac:spMk id="3" creationId="{288BC91F-1C76-43AE-8B2A-956D48B768BE}"/>
          </ac:spMkLst>
        </pc:spChg>
      </pc:sldChg>
      <pc:sldChg chg="modSp mod">
        <pc:chgData name="Vester Gunsaru" userId="fcbc3b57-5752-4646-b64c-42d739644f63" providerId="ADAL" clId="{3D054897-9A39-4848-982F-7C9BE3A1605B}" dt="2026-01-27T13:44:35.994" v="10" actId="27636"/>
        <pc:sldMkLst>
          <pc:docMk/>
          <pc:sldMk cId="0" sldId="290"/>
        </pc:sldMkLst>
        <pc:spChg chg="mod">
          <ac:chgData name="Vester Gunsaru" userId="fcbc3b57-5752-4646-b64c-42d739644f63" providerId="ADAL" clId="{3D054897-9A39-4848-982F-7C9BE3A1605B}" dt="2026-01-27T13:44:35.994" v="10" actId="27636"/>
          <ac:spMkLst>
            <pc:docMk/>
            <pc:sldMk cId="0" sldId="290"/>
            <ac:spMk id="3" creationId="{288BC91F-1C76-43AE-8B2A-956D48B768BE}"/>
          </ac:spMkLst>
        </pc:spChg>
      </pc:sldChg>
      <pc:sldChg chg="modSp mod">
        <pc:chgData name="Vester Gunsaru" userId="fcbc3b57-5752-4646-b64c-42d739644f63" providerId="ADAL" clId="{3D054897-9A39-4848-982F-7C9BE3A1605B}" dt="2026-01-27T13:44:54.114" v="12" actId="27636"/>
        <pc:sldMkLst>
          <pc:docMk/>
          <pc:sldMk cId="0" sldId="301"/>
        </pc:sldMkLst>
        <pc:spChg chg="mod">
          <ac:chgData name="Vester Gunsaru" userId="fcbc3b57-5752-4646-b64c-42d739644f63" providerId="ADAL" clId="{3D054897-9A39-4848-982F-7C9BE3A1605B}" dt="2026-01-27T13:44:54.114" v="12" actId="27636"/>
          <ac:spMkLst>
            <pc:docMk/>
            <pc:sldMk cId="0" sldId="301"/>
            <ac:spMk id="3" creationId="{288BC91F-1C76-43AE-8B2A-956D48B768BE}"/>
          </ac:spMkLst>
        </pc:spChg>
      </pc:sldChg>
      <pc:sldChg chg="modSp mod">
        <pc:chgData name="Vester Gunsaru" userId="fcbc3b57-5752-4646-b64c-42d739644f63" providerId="ADAL" clId="{3D054897-9A39-4848-982F-7C9BE3A1605B}" dt="2026-01-27T13:45:09.044" v="17" actId="27636"/>
        <pc:sldMkLst>
          <pc:docMk/>
          <pc:sldMk cId="0" sldId="305"/>
        </pc:sldMkLst>
        <pc:spChg chg="mod">
          <ac:chgData name="Vester Gunsaru" userId="fcbc3b57-5752-4646-b64c-42d739644f63" providerId="ADAL" clId="{3D054897-9A39-4848-982F-7C9BE3A1605B}" dt="2026-01-27T13:45:09.044" v="17" actId="27636"/>
          <ac:spMkLst>
            <pc:docMk/>
            <pc:sldMk cId="0" sldId="305"/>
            <ac:spMk id="4" creationId="{F6C278EB-CD3C-4569-8B41-D3DDD3B4004E}"/>
          </ac:spMkLst>
        </pc:spChg>
      </pc:sldChg>
      <pc:sldChg chg="modSp mod">
        <pc:chgData name="Vester Gunsaru" userId="fcbc3b57-5752-4646-b64c-42d739644f63" providerId="ADAL" clId="{3D054897-9A39-4848-982F-7C9BE3A1605B}" dt="2026-01-27T13:46:22.265" v="19" actId="27636"/>
        <pc:sldMkLst>
          <pc:docMk/>
          <pc:sldMk cId="0" sldId="307"/>
        </pc:sldMkLst>
        <pc:spChg chg="mod">
          <ac:chgData name="Vester Gunsaru" userId="fcbc3b57-5752-4646-b64c-42d739644f63" providerId="ADAL" clId="{3D054897-9A39-4848-982F-7C9BE3A1605B}" dt="2026-01-27T13:46:22.265" v="19" actId="27636"/>
          <ac:spMkLst>
            <pc:docMk/>
            <pc:sldMk cId="0" sldId="307"/>
            <ac:spMk id="3" creationId="{288BC91F-1C76-43AE-8B2A-956D48B768BE}"/>
          </ac:spMkLst>
        </pc:spChg>
      </pc:sldChg>
      <pc:sldChg chg="modSp mod">
        <pc:chgData name="Vester Gunsaru" userId="fcbc3b57-5752-4646-b64c-42d739644f63" providerId="ADAL" clId="{3D054897-9A39-4848-982F-7C9BE3A1605B}" dt="2026-01-27T13:46:56.876" v="23" actId="27636"/>
        <pc:sldMkLst>
          <pc:docMk/>
          <pc:sldMk cId="0" sldId="317"/>
        </pc:sldMkLst>
        <pc:spChg chg="mod">
          <ac:chgData name="Vester Gunsaru" userId="fcbc3b57-5752-4646-b64c-42d739644f63" providerId="ADAL" clId="{3D054897-9A39-4848-982F-7C9BE3A1605B}" dt="2026-01-27T13:46:56.876" v="23" actId="27636"/>
          <ac:spMkLst>
            <pc:docMk/>
            <pc:sldMk cId="0" sldId="317"/>
            <ac:spMk id="3" creationId="{288BC91F-1C76-43AE-8B2A-956D48B768BE}"/>
          </ac:spMkLst>
        </pc:spChg>
      </pc:sldChg>
      <pc:sldChg chg="modSp mod">
        <pc:chgData name="Vester Gunsaru" userId="fcbc3b57-5752-4646-b64c-42d739644f63" providerId="ADAL" clId="{3D054897-9A39-4848-982F-7C9BE3A1605B}" dt="2026-01-27T13:47:05.034" v="25" actId="27636"/>
        <pc:sldMkLst>
          <pc:docMk/>
          <pc:sldMk cId="0" sldId="320"/>
        </pc:sldMkLst>
        <pc:spChg chg="mod">
          <ac:chgData name="Vester Gunsaru" userId="fcbc3b57-5752-4646-b64c-42d739644f63" providerId="ADAL" clId="{3D054897-9A39-4848-982F-7C9BE3A1605B}" dt="2026-01-27T13:47:05.034" v="25" actId="27636"/>
          <ac:spMkLst>
            <pc:docMk/>
            <pc:sldMk cId="0" sldId="320"/>
            <ac:spMk id="3" creationId="{288BC91F-1C76-43AE-8B2A-956D48B768BE}"/>
          </ac:spMkLst>
        </pc:spChg>
      </pc:sldChg>
      <pc:sldChg chg="modSp mod">
        <pc:chgData name="Vester Gunsaru" userId="fcbc3b57-5752-4646-b64c-42d739644f63" providerId="ADAL" clId="{3D054897-9A39-4848-982F-7C9BE3A1605B}" dt="2026-01-27T13:47:11.784" v="27" actId="27636"/>
        <pc:sldMkLst>
          <pc:docMk/>
          <pc:sldMk cId="0" sldId="321"/>
        </pc:sldMkLst>
        <pc:spChg chg="mod">
          <ac:chgData name="Vester Gunsaru" userId="fcbc3b57-5752-4646-b64c-42d739644f63" providerId="ADAL" clId="{3D054897-9A39-4848-982F-7C9BE3A1605B}" dt="2026-01-27T13:47:11.784" v="27" actId="27636"/>
          <ac:spMkLst>
            <pc:docMk/>
            <pc:sldMk cId="0" sldId="321"/>
            <ac:spMk id="3" creationId="{288BC91F-1C76-43AE-8B2A-956D48B768BE}"/>
          </ac:spMkLst>
        </pc:spChg>
      </pc:sldChg>
      <pc:sldChg chg="modSp mod">
        <pc:chgData name="Vester Gunsaru" userId="fcbc3b57-5752-4646-b64c-42d739644f63" providerId="ADAL" clId="{3D054897-9A39-4848-982F-7C9BE3A1605B}" dt="2026-01-27T13:47:25.546" v="29" actId="27636"/>
        <pc:sldMkLst>
          <pc:docMk/>
          <pc:sldMk cId="0" sldId="333"/>
        </pc:sldMkLst>
        <pc:spChg chg="mod">
          <ac:chgData name="Vester Gunsaru" userId="fcbc3b57-5752-4646-b64c-42d739644f63" providerId="ADAL" clId="{3D054897-9A39-4848-982F-7C9BE3A1605B}" dt="2026-01-27T13:47:25.546" v="29" actId="27636"/>
          <ac:spMkLst>
            <pc:docMk/>
            <pc:sldMk cId="0" sldId="333"/>
            <ac:spMk id="3" creationId="{288BC91F-1C76-43AE-8B2A-956D48B768BE}"/>
          </ac:spMkLst>
        </pc:spChg>
      </pc:sldChg>
      <pc:sldChg chg="modSp mod">
        <pc:chgData name="Vester Gunsaru" userId="fcbc3b57-5752-4646-b64c-42d739644f63" providerId="ADAL" clId="{3D054897-9A39-4848-982F-7C9BE3A1605B}" dt="2026-01-27T13:47:30.226" v="31" actId="27636"/>
        <pc:sldMkLst>
          <pc:docMk/>
          <pc:sldMk cId="0" sldId="334"/>
        </pc:sldMkLst>
        <pc:spChg chg="mod">
          <ac:chgData name="Vester Gunsaru" userId="fcbc3b57-5752-4646-b64c-42d739644f63" providerId="ADAL" clId="{3D054897-9A39-4848-982F-7C9BE3A1605B}" dt="2026-01-27T13:47:30.226" v="31" actId="27636"/>
          <ac:spMkLst>
            <pc:docMk/>
            <pc:sldMk cId="0" sldId="334"/>
            <ac:spMk id="3" creationId="{288BC91F-1C76-43AE-8B2A-956D48B768BE}"/>
          </ac:spMkLst>
        </pc:spChg>
      </pc:sldChg>
      <pc:sldChg chg="modSp mod">
        <pc:chgData name="Vester Gunsaru" userId="fcbc3b57-5752-4646-b64c-42d739644f63" providerId="ADAL" clId="{3D054897-9A39-4848-982F-7C9BE3A1605B}" dt="2026-01-27T13:47:39.943" v="33" actId="27636"/>
        <pc:sldMkLst>
          <pc:docMk/>
          <pc:sldMk cId="0" sldId="341"/>
        </pc:sldMkLst>
        <pc:spChg chg="mod">
          <ac:chgData name="Vester Gunsaru" userId="fcbc3b57-5752-4646-b64c-42d739644f63" providerId="ADAL" clId="{3D054897-9A39-4848-982F-7C9BE3A1605B}" dt="2026-01-27T13:47:39.943" v="33" actId="27636"/>
          <ac:spMkLst>
            <pc:docMk/>
            <pc:sldMk cId="0" sldId="341"/>
            <ac:spMk id="3" creationId="{288BC91F-1C76-43AE-8B2A-956D48B768BE}"/>
          </ac:spMkLst>
        </pc:spChg>
      </pc:sldChg>
      <pc:sldChg chg="modSp mod">
        <pc:chgData name="Vester Gunsaru" userId="fcbc3b57-5752-4646-b64c-42d739644f63" providerId="ADAL" clId="{3D054897-9A39-4848-982F-7C9BE3A1605B}" dt="2026-01-27T13:47:51.339" v="35" actId="27636"/>
        <pc:sldMkLst>
          <pc:docMk/>
          <pc:sldMk cId="0" sldId="350"/>
        </pc:sldMkLst>
        <pc:spChg chg="mod">
          <ac:chgData name="Vester Gunsaru" userId="fcbc3b57-5752-4646-b64c-42d739644f63" providerId="ADAL" clId="{3D054897-9A39-4848-982F-7C9BE3A1605B}" dt="2026-01-27T13:47:51.339" v="35" actId="27636"/>
          <ac:spMkLst>
            <pc:docMk/>
            <pc:sldMk cId="0" sldId="350"/>
            <ac:spMk id="3" creationId="{288BC91F-1C76-43AE-8B2A-956D48B768BE}"/>
          </ac:spMkLst>
        </pc:spChg>
      </pc:sldChg>
      <pc:sldChg chg="modSp mod">
        <pc:chgData name="Vester Gunsaru" userId="fcbc3b57-5752-4646-b64c-42d739644f63" providerId="ADAL" clId="{3D054897-9A39-4848-982F-7C9BE3A1605B}" dt="2026-01-27T13:47:58.177" v="37" actId="27636"/>
        <pc:sldMkLst>
          <pc:docMk/>
          <pc:sldMk cId="0" sldId="354"/>
        </pc:sldMkLst>
        <pc:spChg chg="mod">
          <ac:chgData name="Vester Gunsaru" userId="fcbc3b57-5752-4646-b64c-42d739644f63" providerId="ADAL" clId="{3D054897-9A39-4848-982F-7C9BE3A1605B}" dt="2026-01-27T13:47:58.177" v="37" actId="27636"/>
          <ac:spMkLst>
            <pc:docMk/>
            <pc:sldMk cId="0" sldId="354"/>
            <ac:spMk id="3" creationId="{288BC91F-1C76-43AE-8B2A-956D48B768BE}"/>
          </ac:spMkLst>
        </pc:spChg>
      </pc:sldChg>
      <pc:sldChg chg="modSp mod">
        <pc:chgData name="Vester Gunsaru" userId="fcbc3b57-5752-4646-b64c-42d739644f63" providerId="ADAL" clId="{3D054897-9A39-4848-982F-7C9BE3A1605B}" dt="2026-01-27T13:48:12.899" v="40" actId="255"/>
        <pc:sldMkLst>
          <pc:docMk/>
          <pc:sldMk cId="0" sldId="356"/>
        </pc:sldMkLst>
        <pc:spChg chg="mod">
          <ac:chgData name="Vester Gunsaru" userId="fcbc3b57-5752-4646-b64c-42d739644f63" providerId="ADAL" clId="{3D054897-9A39-4848-982F-7C9BE3A1605B}" dt="2026-01-27T13:48:12.899" v="40" actId="255"/>
          <ac:spMkLst>
            <pc:docMk/>
            <pc:sldMk cId="0" sldId="356"/>
            <ac:spMk id="4" creationId="{F6C278EB-CD3C-4569-8B41-D3DDD3B4004E}"/>
          </ac:spMkLst>
        </pc:spChg>
      </pc:sldChg>
      <pc:sldChg chg="modSp mod">
        <pc:chgData name="Vester Gunsaru" userId="fcbc3b57-5752-4646-b64c-42d739644f63" providerId="ADAL" clId="{3D054897-9A39-4848-982F-7C9BE3A1605B}" dt="2026-01-27T13:48:32.316" v="42" actId="27636"/>
        <pc:sldMkLst>
          <pc:docMk/>
          <pc:sldMk cId="0" sldId="357"/>
        </pc:sldMkLst>
        <pc:spChg chg="mod">
          <ac:chgData name="Vester Gunsaru" userId="fcbc3b57-5752-4646-b64c-42d739644f63" providerId="ADAL" clId="{3D054897-9A39-4848-982F-7C9BE3A1605B}" dt="2026-01-27T13:48:32.316" v="42" actId="27636"/>
          <ac:spMkLst>
            <pc:docMk/>
            <pc:sldMk cId="0" sldId="357"/>
            <ac:spMk id="3" creationId="{288BC91F-1C76-43AE-8B2A-956D48B768BE}"/>
          </ac:spMkLst>
        </pc:spChg>
      </pc:sldChg>
      <pc:sldChg chg="modSp mod">
        <pc:chgData name="Vester Gunsaru" userId="fcbc3b57-5752-4646-b64c-42d739644f63" providerId="ADAL" clId="{3D054897-9A39-4848-982F-7C9BE3A1605B}" dt="2026-01-27T13:48:42.827" v="44" actId="27636"/>
        <pc:sldMkLst>
          <pc:docMk/>
          <pc:sldMk cId="0" sldId="359"/>
        </pc:sldMkLst>
        <pc:spChg chg="mod">
          <ac:chgData name="Vester Gunsaru" userId="fcbc3b57-5752-4646-b64c-42d739644f63" providerId="ADAL" clId="{3D054897-9A39-4848-982F-7C9BE3A1605B}" dt="2026-01-27T13:48:42.827" v="44" actId="27636"/>
          <ac:spMkLst>
            <pc:docMk/>
            <pc:sldMk cId="0" sldId="359"/>
            <ac:spMk id="3" creationId="{288BC91F-1C76-43AE-8B2A-956D48B768BE}"/>
          </ac:spMkLst>
        </pc:spChg>
      </pc:sldChg>
      <pc:sldChg chg="modSp mod">
        <pc:chgData name="Vester Gunsaru" userId="fcbc3b57-5752-4646-b64c-42d739644f63" providerId="ADAL" clId="{3D054897-9A39-4848-982F-7C9BE3A1605B}" dt="2026-01-27T13:48:52.502" v="47" actId="1076"/>
        <pc:sldMkLst>
          <pc:docMk/>
          <pc:sldMk cId="0" sldId="363"/>
        </pc:sldMkLst>
        <pc:spChg chg="mod">
          <ac:chgData name="Vester Gunsaru" userId="fcbc3b57-5752-4646-b64c-42d739644f63" providerId="ADAL" clId="{3D054897-9A39-4848-982F-7C9BE3A1605B}" dt="2026-01-27T13:48:52.502" v="47" actId="1076"/>
          <ac:spMkLst>
            <pc:docMk/>
            <pc:sldMk cId="0" sldId="363"/>
            <ac:spMk id="4" creationId="{F6C278EB-CD3C-4569-8B41-D3DDD3B4004E}"/>
          </ac:spMkLst>
        </pc:spChg>
      </pc:sldChg>
      <pc:sldChg chg="modSp mod">
        <pc:chgData name="Vester Gunsaru" userId="fcbc3b57-5752-4646-b64c-42d739644f63" providerId="ADAL" clId="{3D054897-9A39-4848-982F-7C9BE3A1605B}" dt="2026-01-27T13:48:57.661" v="49" actId="27636"/>
        <pc:sldMkLst>
          <pc:docMk/>
          <pc:sldMk cId="0" sldId="364"/>
        </pc:sldMkLst>
        <pc:spChg chg="mod">
          <ac:chgData name="Vester Gunsaru" userId="fcbc3b57-5752-4646-b64c-42d739644f63" providerId="ADAL" clId="{3D054897-9A39-4848-982F-7C9BE3A1605B}" dt="2026-01-27T13:48:57.661" v="49" actId="27636"/>
          <ac:spMkLst>
            <pc:docMk/>
            <pc:sldMk cId="0" sldId="364"/>
            <ac:spMk id="3" creationId="{288BC91F-1C76-43AE-8B2A-956D48B768BE}"/>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DFE552-82FF-41CD-AE9B-C5B295BA4FFD}"/>
              </a:ext>
            </a:extLst>
          </p:cNvPr>
          <p:cNvSpPr>
            <a:spLocks noGrp="1"/>
          </p:cNvSpPr>
          <p:nvPr>
            <p:ph type="ctrTitle"/>
          </p:nvPr>
        </p:nvSpPr>
        <p:spPr>
          <a:xfrm>
            <a:off x="1524000" y="1122363"/>
            <a:ext cx="9144000" cy="2387600"/>
          </a:xfrm>
        </p:spPr>
        <p:txBody>
          <a:bodyPr anchor="b">
            <a:normAutofit/>
          </a:bodyPr>
          <a:lstStyle>
            <a:lvl1pPr algn="ctr">
              <a:defRPr sz="5400" b="1">
                <a:solidFill>
                  <a:srgbClr val="C00000"/>
                </a:solidFill>
              </a:defRPr>
            </a:lvl1pPr>
          </a:lstStyle>
          <a:p>
            <a:r>
              <a:rPr lang="en-US" dirty="0"/>
              <a:t>Click to edit Master title style</a:t>
            </a:r>
            <a:endParaRPr lang="en-GB" dirty="0"/>
          </a:p>
        </p:txBody>
      </p:sp>
      <p:sp>
        <p:nvSpPr>
          <p:cNvPr id="3" name="Subtitle 2">
            <a:extLst>
              <a:ext uri="{FF2B5EF4-FFF2-40B4-BE49-F238E27FC236}">
                <a16:creationId xmlns:a16="http://schemas.microsoft.com/office/drawing/2014/main" id="{4E8C47A7-1C60-48ED-9106-1A4E50CD85F0}"/>
              </a:ext>
            </a:extLst>
          </p:cNvPr>
          <p:cNvSpPr>
            <a:spLocks noGrp="1"/>
          </p:cNvSpPr>
          <p:nvPr>
            <p:ph type="subTitle" idx="1"/>
          </p:nvPr>
        </p:nvSpPr>
        <p:spPr>
          <a:xfrm>
            <a:off x="1524000" y="4026500"/>
            <a:ext cx="9144000" cy="1231300"/>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sp>
        <p:nvSpPr>
          <p:cNvPr id="6" name="Slide Number Placeholder 5">
            <a:extLst>
              <a:ext uri="{FF2B5EF4-FFF2-40B4-BE49-F238E27FC236}">
                <a16:creationId xmlns:a16="http://schemas.microsoft.com/office/drawing/2014/main" id="{90A256D4-A46F-42D5-9B93-520AF7ED2811}"/>
              </a:ext>
            </a:extLst>
          </p:cNvPr>
          <p:cNvSpPr>
            <a:spLocks noGrp="1"/>
          </p:cNvSpPr>
          <p:nvPr>
            <p:ph type="sldNum" sz="quarter" idx="12"/>
          </p:nvPr>
        </p:nvSpPr>
        <p:spPr/>
        <p:txBody>
          <a:bodyPr/>
          <a:lstStyle/>
          <a:p>
            <a:fld id="{E1C5CB42-CF14-4293-8971-6DCD1AAE8BE7}" type="slidenum">
              <a:rPr lang="en-GB" smtClean="0"/>
              <a:t>‹#›</a:t>
            </a:fld>
            <a:endParaRPr lang="en-GB"/>
          </a:p>
        </p:txBody>
      </p:sp>
      <p:sp>
        <p:nvSpPr>
          <p:cNvPr id="7" name="Date Placeholder 3">
            <a:extLst>
              <a:ext uri="{FF2B5EF4-FFF2-40B4-BE49-F238E27FC236}">
                <a16:creationId xmlns:a16="http://schemas.microsoft.com/office/drawing/2014/main" id="{7CD99309-7B5F-490B-9BDE-AAF9B5F8DCFE}"/>
              </a:ext>
            </a:extLst>
          </p:cNvPr>
          <p:cNvSpPr>
            <a:spLocks noGrp="1"/>
          </p:cNvSpPr>
          <p:nvPr>
            <p:ph type="dt" sz="half" idx="2"/>
          </p:nvPr>
        </p:nvSpPr>
        <p:spPr>
          <a:xfrm>
            <a:off x="4724400" y="5580025"/>
            <a:ext cx="2743200" cy="311224"/>
          </a:xfrm>
          <a:prstGeom prst="rect">
            <a:avLst/>
          </a:prstGeom>
        </p:spPr>
        <p:txBody>
          <a:bodyPr vert="horz" lIns="91440" tIns="45720" rIns="91440" bIns="45720" rtlCol="0" anchor="ctr"/>
          <a:lstStyle>
            <a:lvl1pPr algn="ctr">
              <a:defRPr sz="1200">
                <a:solidFill>
                  <a:schemeClr val="bg2">
                    <a:lumMod val="50000"/>
                  </a:schemeClr>
                </a:solidFill>
              </a:defRPr>
            </a:lvl1pPr>
          </a:lstStyle>
          <a:p>
            <a:fld id="{C2113EE3-8373-4C14-933F-C1E589D5B246}" type="datetime1">
              <a:rPr lang="en-GB" smtClean="0"/>
              <a:t>27/01/2026</a:t>
            </a:fld>
            <a:endParaRPr lang="en-GB" dirty="0"/>
          </a:p>
        </p:txBody>
      </p:sp>
    </p:spTree>
    <p:extLst>
      <p:ext uri="{BB962C8B-B14F-4D97-AF65-F5344CB8AC3E}">
        <p14:creationId xmlns:p14="http://schemas.microsoft.com/office/powerpoint/2010/main" val="2912064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p:txBody>
          <a:bodyPr/>
          <a:lstStyle>
            <a:lvl2pPr marL="685800" indent="-228600">
              <a:buClr>
                <a:srgbClr val="C00000"/>
              </a:buClr>
              <a:buFont typeface="Arial" panose="020B0604020202020204" pitchFamily="34" charset="0"/>
              <a:buChar char="•"/>
              <a:defRPr/>
            </a:lvl2pPr>
            <a:lvl3pPr marL="1143000" indent="-228600">
              <a:buClrTx/>
              <a:buFont typeface="Arial" panose="020B0604020202020204" pitchFamily="34" charset="0"/>
              <a:buChar char="•"/>
              <a:defRPr/>
            </a:lvl3pPr>
            <a:lvl4pPr>
              <a:buClr>
                <a:srgbClr val="C00000"/>
              </a:buClr>
              <a:defRPr/>
            </a:lvl4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6" name="Slide Number Placeholder 5">
            <a:extLst>
              <a:ext uri="{FF2B5EF4-FFF2-40B4-BE49-F238E27FC236}">
                <a16:creationId xmlns:a16="http://schemas.microsoft.com/office/drawing/2014/main" id="{C03F998A-2A5E-471F-9FEB-2559B0A7F93D}"/>
              </a:ext>
            </a:extLst>
          </p:cNvPr>
          <p:cNvSpPr>
            <a:spLocks noGrp="1"/>
          </p:cNvSpPr>
          <p:nvPr>
            <p:ph type="sldNum" sz="quarter" idx="12"/>
          </p:nvPr>
        </p:nvSpPr>
        <p:spPr/>
        <p:txBody>
          <a:bodyPr/>
          <a:lstStyle/>
          <a:p>
            <a:fld id="{E1C5CB42-CF14-4293-8971-6DCD1AAE8BE7}" type="slidenum">
              <a:rPr lang="en-GB" smtClean="0"/>
              <a:t>‹#›</a:t>
            </a:fld>
            <a:endParaRPr lang="en-GB"/>
          </a:p>
        </p:txBody>
      </p:sp>
    </p:spTree>
    <p:extLst>
      <p:ext uri="{BB962C8B-B14F-4D97-AF65-F5344CB8AC3E}">
        <p14:creationId xmlns:p14="http://schemas.microsoft.com/office/powerpoint/2010/main" val="39900302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511042-BDFA-4708-84AB-F848A1D5D4A0}"/>
              </a:ext>
            </a:extLst>
          </p:cNvPr>
          <p:cNvSpPr>
            <a:spLocks noGrp="1"/>
          </p:cNvSpPr>
          <p:nvPr>
            <p:ph type="title"/>
          </p:nvPr>
        </p:nvSpPr>
        <p:spPr>
          <a:xfrm>
            <a:off x="831850" y="1709738"/>
            <a:ext cx="10515600" cy="2852737"/>
          </a:xfrm>
        </p:spPr>
        <p:txBody>
          <a:bodyPr anchor="b">
            <a:normAutofit/>
          </a:bodyPr>
          <a:lstStyle>
            <a:lvl1pPr>
              <a:defRPr sz="4400" b="1">
                <a:solidFill>
                  <a:srgbClr val="C00000"/>
                </a:solidFill>
              </a:defRPr>
            </a:lvl1pPr>
          </a:lstStyle>
          <a:p>
            <a:r>
              <a:rPr lang="en-US" dirty="0"/>
              <a:t>Click to edit Master title style</a:t>
            </a:r>
            <a:endParaRPr lang="en-GB" dirty="0"/>
          </a:p>
        </p:txBody>
      </p:sp>
      <p:sp>
        <p:nvSpPr>
          <p:cNvPr id="3" name="Text Placeholder 2">
            <a:extLst>
              <a:ext uri="{FF2B5EF4-FFF2-40B4-BE49-F238E27FC236}">
                <a16:creationId xmlns:a16="http://schemas.microsoft.com/office/drawing/2014/main" id="{8E6FC57D-47CF-4AB3-8F41-D74240EA10C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Edit Master text styles</a:t>
            </a:r>
          </a:p>
        </p:txBody>
      </p:sp>
      <p:sp>
        <p:nvSpPr>
          <p:cNvPr id="6" name="Slide Number Placeholder 5">
            <a:extLst>
              <a:ext uri="{FF2B5EF4-FFF2-40B4-BE49-F238E27FC236}">
                <a16:creationId xmlns:a16="http://schemas.microsoft.com/office/drawing/2014/main" id="{910AAC92-EEED-4232-ACDE-84003A6476BB}"/>
              </a:ext>
            </a:extLst>
          </p:cNvPr>
          <p:cNvSpPr>
            <a:spLocks noGrp="1"/>
          </p:cNvSpPr>
          <p:nvPr>
            <p:ph type="sldNum" sz="quarter" idx="12"/>
          </p:nvPr>
        </p:nvSpPr>
        <p:spPr/>
        <p:txBody>
          <a:bodyPr/>
          <a:lstStyle/>
          <a:p>
            <a:fld id="{E1C5CB42-CF14-4293-8971-6DCD1AAE8BE7}" type="slidenum">
              <a:rPr lang="en-GB" smtClean="0"/>
              <a:t>‹#›</a:t>
            </a:fld>
            <a:endParaRPr lang="en-GB"/>
          </a:p>
        </p:txBody>
      </p:sp>
    </p:spTree>
    <p:extLst>
      <p:ext uri="{BB962C8B-B14F-4D97-AF65-F5344CB8AC3E}">
        <p14:creationId xmlns:p14="http://schemas.microsoft.com/office/powerpoint/2010/main" val="30486793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1C85BE-B3D8-4FF3-B29D-02E8297507B4}"/>
              </a:ext>
            </a:extLst>
          </p:cNvPr>
          <p:cNvSpPr>
            <a:spLocks noGrp="1"/>
          </p:cNvSpPr>
          <p:nvPr>
            <p:ph type="title"/>
          </p:nvPr>
        </p:nvSpPr>
        <p:spPr/>
        <p:txBody>
          <a:bodyPr/>
          <a:lstStyle/>
          <a:p>
            <a:r>
              <a:rPr lang="en-US" dirty="0"/>
              <a:t>Click to edit Master title style</a:t>
            </a:r>
            <a:endParaRPr lang="en-GB" dirty="0"/>
          </a:p>
        </p:txBody>
      </p:sp>
      <p:sp>
        <p:nvSpPr>
          <p:cNvPr id="3" name="Content Placeholder 2">
            <a:extLst>
              <a:ext uri="{FF2B5EF4-FFF2-40B4-BE49-F238E27FC236}">
                <a16:creationId xmlns:a16="http://schemas.microsoft.com/office/drawing/2014/main" id="{7E89358A-6410-47DE-B7D5-0F708CD13DF5}"/>
              </a:ext>
            </a:extLst>
          </p:cNvPr>
          <p:cNvSpPr>
            <a:spLocks noGrp="1"/>
          </p:cNvSpPr>
          <p:nvPr>
            <p:ph sz="half" idx="1"/>
          </p:nvPr>
        </p:nvSpPr>
        <p:spPr>
          <a:xfrm>
            <a:off x="838200" y="1825625"/>
            <a:ext cx="5181600" cy="4351338"/>
          </a:xfrm>
        </p:spPr>
        <p:txBody>
          <a:bodyPr/>
          <a:lstStyle>
            <a:lvl2pPr>
              <a:buClr>
                <a:srgbClr val="C00000"/>
              </a:buClr>
              <a:defRPr/>
            </a:lvl2pPr>
            <a:lvl3pPr>
              <a:buClrTx/>
              <a:defRPr/>
            </a:lvl3pPr>
            <a:lvl4pPr>
              <a:buClr>
                <a:srgbClr val="C00000"/>
              </a:buClr>
              <a:defRPr/>
            </a:lvl4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Content Placeholder 3">
            <a:extLst>
              <a:ext uri="{FF2B5EF4-FFF2-40B4-BE49-F238E27FC236}">
                <a16:creationId xmlns:a16="http://schemas.microsoft.com/office/drawing/2014/main" id="{B94B0D16-5BFA-42AC-ADC2-646F18F108D0}"/>
              </a:ext>
            </a:extLst>
          </p:cNvPr>
          <p:cNvSpPr>
            <a:spLocks noGrp="1"/>
          </p:cNvSpPr>
          <p:nvPr>
            <p:ph sz="half" idx="2"/>
          </p:nvPr>
        </p:nvSpPr>
        <p:spPr>
          <a:xfrm>
            <a:off x="6172200" y="1825625"/>
            <a:ext cx="5181600" cy="4351338"/>
          </a:xfrm>
        </p:spPr>
        <p:txBody>
          <a:bodyPr/>
          <a:lstStyle>
            <a:lvl2pPr>
              <a:buClr>
                <a:srgbClr val="C00000"/>
              </a:buClr>
              <a:defRPr/>
            </a:lvl2pPr>
            <a:lvl3pPr>
              <a:buClrTx/>
              <a:defRPr/>
            </a:lvl3pPr>
            <a:lvl4pPr>
              <a:buClr>
                <a:srgbClr val="C00000"/>
              </a:buClr>
              <a:defRPr/>
            </a:lvl4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7" name="Slide Number Placeholder 6">
            <a:extLst>
              <a:ext uri="{FF2B5EF4-FFF2-40B4-BE49-F238E27FC236}">
                <a16:creationId xmlns:a16="http://schemas.microsoft.com/office/drawing/2014/main" id="{5392B6E7-0296-4DDC-8A37-ADBF03312730}"/>
              </a:ext>
            </a:extLst>
          </p:cNvPr>
          <p:cNvSpPr>
            <a:spLocks noGrp="1"/>
          </p:cNvSpPr>
          <p:nvPr>
            <p:ph type="sldNum" sz="quarter" idx="12"/>
          </p:nvPr>
        </p:nvSpPr>
        <p:spPr/>
        <p:txBody>
          <a:bodyPr/>
          <a:lstStyle/>
          <a:p>
            <a:fld id="{E1C5CB42-CF14-4293-8971-6DCD1AAE8BE7}" type="slidenum">
              <a:rPr lang="en-GB" smtClean="0"/>
              <a:t>‹#›</a:t>
            </a:fld>
            <a:endParaRPr lang="en-GB"/>
          </a:p>
        </p:txBody>
      </p:sp>
    </p:spTree>
    <p:extLst>
      <p:ext uri="{BB962C8B-B14F-4D97-AF65-F5344CB8AC3E}">
        <p14:creationId xmlns:p14="http://schemas.microsoft.com/office/powerpoint/2010/main" val="1239958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E0E6CF-0013-49C7-AEB8-8E91374711DB}"/>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183B4A6D-F116-4484-8C9C-A4639CC18BB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DA21EE16-2CAA-4269-9363-D2817EE0DF85}"/>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DC135FF5-1094-4B0C-B250-AD8B448C6F3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D5D47F8F-0A27-4035-ACD4-A78ECFE4A298}"/>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9" name="Slide Number Placeholder 8">
            <a:extLst>
              <a:ext uri="{FF2B5EF4-FFF2-40B4-BE49-F238E27FC236}">
                <a16:creationId xmlns:a16="http://schemas.microsoft.com/office/drawing/2014/main" id="{26EF0084-C4B2-4571-BB9F-0F21077EB4E6}"/>
              </a:ext>
            </a:extLst>
          </p:cNvPr>
          <p:cNvSpPr>
            <a:spLocks noGrp="1"/>
          </p:cNvSpPr>
          <p:nvPr>
            <p:ph type="sldNum" sz="quarter" idx="12"/>
          </p:nvPr>
        </p:nvSpPr>
        <p:spPr/>
        <p:txBody>
          <a:bodyPr/>
          <a:lstStyle/>
          <a:p>
            <a:fld id="{E1C5CB42-CF14-4293-8971-6DCD1AAE8BE7}" type="slidenum">
              <a:rPr lang="en-GB" smtClean="0"/>
              <a:t>‹#›</a:t>
            </a:fld>
            <a:endParaRPr lang="en-GB"/>
          </a:p>
        </p:txBody>
      </p:sp>
    </p:spTree>
    <p:extLst>
      <p:ext uri="{BB962C8B-B14F-4D97-AF65-F5344CB8AC3E}">
        <p14:creationId xmlns:p14="http://schemas.microsoft.com/office/powerpoint/2010/main" val="20527154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9237DD-A251-437C-AEDD-CB5B4426A930}"/>
              </a:ext>
            </a:extLst>
          </p:cNvPr>
          <p:cNvSpPr>
            <a:spLocks noGrp="1"/>
          </p:cNvSpPr>
          <p:nvPr>
            <p:ph type="title"/>
          </p:nvPr>
        </p:nvSpPr>
        <p:spPr/>
        <p:txBody>
          <a:bodyPr/>
          <a:lstStyle/>
          <a:p>
            <a:r>
              <a:rPr lang="en-US"/>
              <a:t>Click to edit Master title style</a:t>
            </a:r>
            <a:endParaRPr lang="en-GB"/>
          </a:p>
        </p:txBody>
      </p:sp>
      <p:sp>
        <p:nvSpPr>
          <p:cNvPr id="5" name="Slide Number Placeholder 4">
            <a:extLst>
              <a:ext uri="{FF2B5EF4-FFF2-40B4-BE49-F238E27FC236}">
                <a16:creationId xmlns:a16="http://schemas.microsoft.com/office/drawing/2014/main" id="{77CF1F1D-CD28-4160-A015-F8A9E022CFE3}"/>
              </a:ext>
            </a:extLst>
          </p:cNvPr>
          <p:cNvSpPr>
            <a:spLocks noGrp="1"/>
          </p:cNvSpPr>
          <p:nvPr>
            <p:ph type="sldNum" sz="quarter" idx="12"/>
          </p:nvPr>
        </p:nvSpPr>
        <p:spPr/>
        <p:txBody>
          <a:bodyPr/>
          <a:lstStyle/>
          <a:p>
            <a:fld id="{E1C5CB42-CF14-4293-8971-6DCD1AAE8BE7}" type="slidenum">
              <a:rPr lang="en-GB" smtClean="0"/>
              <a:t>‹#›</a:t>
            </a:fld>
            <a:endParaRPr lang="en-GB"/>
          </a:p>
        </p:txBody>
      </p:sp>
    </p:spTree>
    <p:extLst>
      <p:ext uri="{BB962C8B-B14F-4D97-AF65-F5344CB8AC3E}">
        <p14:creationId xmlns:p14="http://schemas.microsoft.com/office/powerpoint/2010/main" val="691959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568FEFF-33E8-4DF3-9F82-C8924C647AEE}"/>
              </a:ext>
            </a:extLst>
          </p:cNvPr>
          <p:cNvSpPr>
            <a:spLocks noGrp="1"/>
          </p:cNvSpPr>
          <p:nvPr>
            <p:ph type="sldNum" sz="quarter" idx="12"/>
          </p:nvPr>
        </p:nvSpPr>
        <p:spPr/>
        <p:txBody>
          <a:bodyPr/>
          <a:lstStyle/>
          <a:p>
            <a:fld id="{E1C5CB42-CF14-4293-8971-6DCD1AAE8BE7}" type="slidenum">
              <a:rPr lang="en-GB" smtClean="0"/>
              <a:t>‹#›</a:t>
            </a:fld>
            <a:endParaRPr lang="en-GB"/>
          </a:p>
        </p:txBody>
      </p:sp>
    </p:spTree>
    <p:extLst>
      <p:ext uri="{BB962C8B-B14F-4D97-AF65-F5344CB8AC3E}">
        <p14:creationId xmlns:p14="http://schemas.microsoft.com/office/powerpoint/2010/main" val="16861138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CC315F-F711-43BA-8C23-8D50769E33D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7618A54E-07B9-4B62-B101-F97969B049D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F6C278EB-CD3C-4569-8B41-D3DDD3B4004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7" name="Slide Number Placeholder 6">
            <a:extLst>
              <a:ext uri="{FF2B5EF4-FFF2-40B4-BE49-F238E27FC236}">
                <a16:creationId xmlns:a16="http://schemas.microsoft.com/office/drawing/2014/main" id="{14DD33D4-F2B4-4E27-98BD-BC92728343CB}"/>
              </a:ext>
            </a:extLst>
          </p:cNvPr>
          <p:cNvSpPr>
            <a:spLocks noGrp="1"/>
          </p:cNvSpPr>
          <p:nvPr>
            <p:ph type="sldNum" sz="quarter" idx="12"/>
          </p:nvPr>
        </p:nvSpPr>
        <p:spPr/>
        <p:txBody>
          <a:bodyPr/>
          <a:lstStyle/>
          <a:p>
            <a:fld id="{E1C5CB42-CF14-4293-8971-6DCD1AAE8BE7}" type="slidenum">
              <a:rPr lang="en-GB" smtClean="0"/>
              <a:t>‹#›</a:t>
            </a:fld>
            <a:endParaRPr lang="en-GB"/>
          </a:p>
        </p:txBody>
      </p:sp>
    </p:spTree>
    <p:extLst>
      <p:ext uri="{BB962C8B-B14F-4D97-AF65-F5344CB8AC3E}">
        <p14:creationId xmlns:p14="http://schemas.microsoft.com/office/powerpoint/2010/main" val="9302299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4D806B-9951-41F8-8355-56988956D28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0142C372-A8E3-48FB-BC6D-03E9BE45A17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057AF29B-6E7F-438B-A4F0-E7B08FC248A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7" name="Slide Number Placeholder 6">
            <a:extLst>
              <a:ext uri="{FF2B5EF4-FFF2-40B4-BE49-F238E27FC236}">
                <a16:creationId xmlns:a16="http://schemas.microsoft.com/office/drawing/2014/main" id="{11CB0398-38BC-4D55-98B4-91433EB43CB7}"/>
              </a:ext>
            </a:extLst>
          </p:cNvPr>
          <p:cNvSpPr>
            <a:spLocks noGrp="1"/>
          </p:cNvSpPr>
          <p:nvPr>
            <p:ph type="sldNum" sz="quarter" idx="12"/>
          </p:nvPr>
        </p:nvSpPr>
        <p:spPr/>
        <p:txBody>
          <a:bodyPr/>
          <a:lstStyle/>
          <a:p>
            <a:fld id="{E1C5CB42-CF14-4293-8971-6DCD1AAE8BE7}" type="slidenum">
              <a:rPr lang="en-GB" smtClean="0"/>
              <a:t>‹#›</a:t>
            </a:fld>
            <a:endParaRPr lang="en-GB"/>
          </a:p>
        </p:txBody>
      </p:sp>
    </p:spTree>
    <p:extLst>
      <p:ext uri="{BB962C8B-B14F-4D97-AF65-F5344CB8AC3E}">
        <p14:creationId xmlns:p14="http://schemas.microsoft.com/office/powerpoint/2010/main" val="25802110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CC010A-D0D2-45E6-B04B-900AFC280692}"/>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D79A6CE9-1503-44AE-9C80-F0F8D874EAE6}"/>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Slide Number Placeholder 5">
            <a:extLst>
              <a:ext uri="{FF2B5EF4-FFF2-40B4-BE49-F238E27FC236}">
                <a16:creationId xmlns:a16="http://schemas.microsoft.com/office/drawing/2014/main" id="{C35A2AA1-1B6B-4E88-A09D-356FC68522B7}"/>
              </a:ext>
            </a:extLst>
          </p:cNvPr>
          <p:cNvSpPr>
            <a:spLocks noGrp="1"/>
          </p:cNvSpPr>
          <p:nvPr>
            <p:ph type="sldNum" sz="quarter" idx="12"/>
          </p:nvPr>
        </p:nvSpPr>
        <p:spPr/>
        <p:txBody>
          <a:bodyPr/>
          <a:lstStyle/>
          <a:p>
            <a:fld id="{E1C5CB42-CF14-4293-8971-6DCD1AAE8BE7}" type="slidenum">
              <a:rPr lang="en-GB" smtClean="0"/>
              <a:t>‹#›</a:t>
            </a:fld>
            <a:endParaRPr lang="en-GB"/>
          </a:p>
        </p:txBody>
      </p:sp>
    </p:spTree>
    <p:extLst>
      <p:ext uri="{BB962C8B-B14F-4D97-AF65-F5344CB8AC3E}">
        <p14:creationId xmlns:p14="http://schemas.microsoft.com/office/powerpoint/2010/main" val="19444267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AE5E3CF-3D05-44C8-88C8-D98ADD5B835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9AF504C6-15EF-447C-AD59-74FEC0CCC51E}"/>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Slide Number Placeholder 5">
            <a:extLst>
              <a:ext uri="{FF2B5EF4-FFF2-40B4-BE49-F238E27FC236}">
                <a16:creationId xmlns:a16="http://schemas.microsoft.com/office/drawing/2014/main" id="{91767EC9-ADE0-4807-A12B-A966A05B8BB9}"/>
              </a:ext>
            </a:extLst>
          </p:cNvPr>
          <p:cNvSpPr>
            <a:spLocks noGrp="1"/>
          </p:cNvSpPr>
          <p:nvPr>
            <p:ph type="sldNum" sz="quarter" idx="12"/>
          </p:nvPr>
        </p:nvSpPr>
        <p:spPr/>
        <p:txBody>
          <a:bodyPr/>
          <a:lstStyle/>
          <a:p>
            <a:fld id="{E1C5CB42-CF14-4293-8971-6DCD1AAE8BE7}" type="slidenum">
              <a:rPr lang="en-GB" smtClean="0"/>
              <a:t>‹#›</a:t>
            </a:fld>
            <a:endParaRPr lang="en-GB"/>
          </a:p>
        </p:txBody>
      </p:sp>
    </p:spTree>
    <p:extLst>
      <p:ext uri="{BB962C8B-B14F-4D97-AF65-F5344CB8AC3E}">
        <p14:creationId xmlns:p14="http://schemas.microsoft.com/office/powerpoint/2010/main" val="25860764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17" Type="http://schemas.openxmlformats.org/officeDocument/2006/relationships/image" Target="../media/image5.png"/><Relationship Id="rId2" Type="http://schemas.openxmlformats.org/officeDocument/2006/relationships/slideLayout" Target="../slideLayouts/slideLayout2.xml"/><Relationship Id="rId16"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emf"/><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01289F0-EB91-42F5-8365-E3427F55C1DD}"/>
              </a:ext>
            </a:extLst>
          </p:cNvPr>
          <p:cNvSpPr>
            <a:spLocks noChangeAspect="1"/>
          </p:cNvSpPr>
          <p:nvPr userDrawn="1"/>
        </p:nvSpPr>
        <p:spPr>
          <a:xfrm>
            <a:off x="2262487" y="581720"/>
            <a:ext cx="7667022" cy="5935758"/>
          </a:xfrm>
          <a:prstGeom prst="rect">
            <a:avLst/>
          </a:prstGeom>
          <a:blipFill dpi="0" rotWithShape="1">
            <a:blip r:embed="rId13">
              <a:alphaModFix amt="25000"/>
              <a:extLst>
                <a:ext uri="{96DAC541-7B7A-43D3-8B79-37D633B846F1}">
                  <asvg:svgBlip xmlns:asvg="http://schemas.microsoft.com/office/drawing/2016/SVG/main" r:embed="rId14"/>
                </a:ext>
              </a:extLst>
            </a:blip>
            <a:srcRect/>
            <a:stretch>
              <a:fillRect/>
            </a:stretch>
          </a:blip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tIns="90000" bIns="90000" rtlCol="0" anchor="ctr" anchorCtr="0"/>
          <a:lstStyle/>
          <a:p>
            <a:pPr algn="ctr"/>
            <a:endParaRPr lang="en-GB" sz="1400" dirty="0" err="1">
              <a:solidFill>
                <a:schemeClr val="tx1"/>
              </a:solidFill>
            </a:endParaRPr>
          </a:p>
        </p:txBody>
      </p:sp>
      <p:sp>
        <p:nvSpPr>
          <p:cNvPr id="2" name="Title Placeholder 1">
            <a:extLst>
              <a:ext uri="{FF2B5EF4-FFF2-40B4-BE49-F238E27FC236}">
                <a16:creationId xmlns:a16="http://schemas.microsoft.com/office/drawing/2014/main" id="{1C1E1190-2136-48F0-AC05-CF8B70904B38}"/>
              </a:ext>
            </a:extLst>
          </p:cNvPr>
          <p:cNvSpPr>
            <a:spLocks noGrp="1"/>
          </p:cNvSpPr>
          <p:nvPr>
            <p:ph type="title"/>
          </p:nvPr>
        </p:nvSpPr>
        <p:spPr>
          <a:xfrm>
            <a:off x="949720" y="365125"/>
            <a:ext cx="10333113"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F2345448-651E-4B5A-868C-102A5658F70B}"/>
              </a:ext>
            </a:extLst>
          </p:cNvPr>
          <p:cNvSpPr>
            <a:spLocks noGrp="1"/>
          </p:cNvSpPr>
          <p:nvPr>
            <p:ph type="body" idx="1"/>
          </p:nvPr>
        </p:nvSpPr>
        <p:spPr>
          <a:xfrm>
            <a:off x="838200" y="1825624"/>
            <a:ext cx="10515600" cy="4667250"/>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6" name="Slide Number Placeholder 5">
            <a:extLst>
              <a:ext uri="{FF2B5EF4-FFF2-40B4-BE49-F238E27FC236}">
                <a16:creationId xmlns:a16="http://schemas.microsoft.com/office/drawing/2014/main" id="{9A570DB5-9A54-43D6-A1BD-EE919D586D51}"/>
              </a:ext>
            </a:extLst>
          </p:cNvPr>
          <p:cNvSpPr>
            <a:spLocks noGrp="1"/>
          </p:cNvSpPr>
          <p:nvPr>
            <p:ph type="sldNum" sz="quarter" idx="4"/>
          </p:nvPr>
        </p:nvSpPr>
        <p:spPr>
          <a:xfrm>
            <a:off x="9448799" y="6542081"/>
            <a:ext cx="2743200" cy="315919"/>
          </a:xfrm>
          <a:prstGeom prst="rect">
            <a:avLst/>
          </a:prstGeom>
        </p:spPr>
        <p:txBody>
          <a:bodyPr vert="horz" lIns="91440" tIns="45720" rIns="91440" bIns="45720" rtlCol="0" anchor="ctr"/>
          <a:lstStyle>
            <a:lvl1pPr algn="r">
              <a:defRPr sz="1200">
                <a:solidFill>
                  <a:schemeClr val="tx1">
                    <a:tint val="75000"/>
                  </a:schemeClr>
                </a:solidFill>
              </a:defRPr>
            </a:lvl1pPr>
          </a:lstStyle>
          <a:p>
            <a:fld id="{E1C5CB42-CF14-4293-8971-6DCD1AAE8BE7}" type="slidenum">
              <a:rPr lang="en-GB" smtClean="0"/>
              <a:t>‹#›</a:t>
            </a:fld>
            <a:endParaRPr lang="en-GB"/>
          </a:p>
        </p:txBody>
      </p:sp>
      <p:sp>
        <p:nvSpPr>
          <p:cNvPr id="7" name="Rectangle 2">
            <a:extLst>
              <a:ext uri="{FF2B5EF4-FFF2-40B4-BE49-F238E27FC236}">
                <a16:creationId xmlns:a16="http://schemas.microsoft.com/office/drawing/2014/main" id="{9B768418-2B2A-4DD4-AF20-A6EC6C03C465}"/>
              </a:ext>
            </a:extLst>
          </p:cNvPr>
          <p:cNvSpPr>
            <a:spLocks noChangeArrowheads="1"/>
          </p:cNvSpPr>
          <p:nvPr userDrawn="1"/>
        </p:nvSpPr>
        <p:spPr bwMode="auto">
          <a:xfrm>
            <a:off x="-2" y="86916"/>
            <a:ext cx="12192001" cy="228029"/>
          </a:xfrm>
          <a:prstGeom prst="rect">
            <a:avLst/>
          </a:prstGeom>
          <a:solidFill>
            <a:srgbClr val="B0120E"/>
          </a:solidFill>
          <a:ln>
            <a:noFill/>
          </a:ln>
          <a:extLst>
            <a:ext uri="{91240B29-F687-4f45-9708-019B960494DF}">
              <a14:hiddenLine xmlns:a14="http://schemas.microsoft.com/office/drawing/2010/main" xmlns="" w="0">
                <a:solidFill>
                  <a:srgbClr val="000000"/>
                </a:solidFill>
                <a:miter lim="800000"/>
                <a:headEnd/>
                <a:tailEnd/>
              </a14:hiddenLine>
            </a:ext>
          </a:extLst>
        </p:spPr>
        <p:txBody>
          <a:bodyPr wrap="none" lIns="77925" tIns="38963" rIns="77925" bIns="38963" anchor="ctr"/>
          <a:lstStyle/>
          <a:p>
            <a:endParaRPr lang="en-US">
              <a:latin typeface="Calibri" pitchFamily="34" charset="0"/>
            </a:endParaRPr>
          </a:p>
        </p:txBody>
      </p:sp>
      <p:pic>
        <p:nvPicPr>
          <p:cNvPr id="9" name="Picture 8" descr="logo.pdf">
            <a:extLst>
              <a:ext uri="{FF2B5EF4-FFF2-40B4-BE49-F238E27FC236}">
                <a16:creationId xmlns:a16="http://schemas.microsoft.com/office/drawing/2014/main" id="{102BA6D8-072F-4F9F-A5A0-82DCD1210E27}"/>
              </a:ext>
            </a:extLst>
          </p:cNvPr>
          <p:cNvPicPr>
            <a:picLocks/>
          </p:cNvPicPr>
          <p:nvPr userDrawn="1"/>
        </p:nvPicPr>
        <p:blipFill>
          <a:blip r:embed="rId15" cstate="print">
            <a:extLst>
              <a:ext uri="{28A0092B-C50C-407E-A947-70E740481C1C}">
                <a14:useLocalDpi xmlns:a14="http://schemas.microsoft.com/office/drawing/2010/main" val="0"/>
              </a:ext>
            </a:extLst>
          </a:blip>
          <a:stretch>
            <a:fillRect/>
          </a:stretch>
        </p:blipFill>
        <p:spPr>
          <a:xfrm>
            <a:off x="11367532" y="326042"/>
            <a:ext cx="708279" cy="972000"/>
          </a:xfrm>
          <a:prstGeom prst="rect">
            <a:avLst/>
          </a:prstGeom>
        </p:spPr>
      </p:pic>
      <p:sp>
        <p:nvSpPr>
          <p:cNvPr id="4" name="Rectangle 3">
            <a:extLst>
              <a:ext uri="{FF2B5EF4-FFF2-40B4-BE49-F238E27FC236}">
                <a16:creationId xmlns:a16="http://schemas.microsoft.com/office/drawing/2014/main" id="{0530C013-6450-9241-806F-A84F38C100C4}"/>
              </a:ext>
            </a:extLst>
          </p:cNvPr>
          <p:cNvSpPr/>
          <p:nvPr userDrawn="1"/>
        </p:nvSpPr>
        <p:spPr>
          <a:xfrm>
            <a:off x="1069560" y="6618679"/>
            <a:ext cx="11678081" cy="276999"/>
          </a:xfrm>
          <a:prstGeom prst="rect">
            <a:avLst/>
          </a:prstGeom>
        </p:spPr>
        <p:txBody>
          <a:bodyPr wrap="square">
            <a:spAutoFit/>
          </a:bodyPr>
          <a:lstStyle/>
          <a:p>
            <a:r>
              <a:rPr lang="en-GB" sz="1200" b="1" dirty="0">
                <a:solidFill>
                  <a:schemeClr val="bg2">
                    <a:lumMod val="50000"/>
                  </a:schemeClr>
                </a:solidFill>
              </a:rPr>
              <a:t>Except where otherwise noted, these slides by Marc </a:t>
            </a:r>
            <a:r>
              <a:rPr lang="en-GB" sz="1200" b="1" dirty="0" err="1">
                <a:solidFill>
                  <a:schemeClr val="bg2">
                    <a:lumMod val="50000"/>
                  </a:schemeClr>
                </a:solidFill>
              </a:rPr>
              <a:t>Henrion</a:t>
            </a:r>
            <a:r>
              <a:rPr lang="en-GB" sz="1200" b="1" dirty="0">
                <a:solidFill>
                  <a:schemeClr val="bg2">
                    <a:lumMod val="50000"/>
                  </a:schemeClr>
                </a:solidFill>
              </a:rPr>
              <a:t> are licensed under a Creative Commons Attribution 4.0 License: http://</a:t>
            </a:r>
            <a:r>
              <a:rPr lang="en-GB" sz="1200" b="1" dirty="0" err="1">
                <a:solidFill>
                  <a:schemeClr val="bg2">
                    <a:lumMod val="50000"/>
                  </a:schemeClr>
                </a:solidFill>
              </a:rPr>
              <a:t>creativecommons.org</a:t>
            </a:r>
            <a:r>
              <a:rPr lang="en-GB" sz="1200" b="1" dirty="0">
                <a:solidFill>
                  <a:schemeClr val="bg2">
                    <a:lumMod val="50000"/>
                  </a:schemeClr>
                </a:solidFill>
              </a:rPr>
              <a:t>/by/4.0</a:t>
            </a:r>
            <a:endParaRPr lang="en-MW" sz="1200" b="1" dirty="0">
              <a:solidFill>
                <a:schemeClr val="bg2">
                  <a:lumMod val="50000"/>
                </a:schemeClr>
              </a:solidFill>
            </a:endParaRPr>
          </a:p>
        </p:txBody>
      </p:sp>
      <p:pic>
        <p:nvPicPr>
          <p:cNvPr id="11" name="Picture 10" descr="A drawing of a face  Description automatically generated">
            <a:extLst>
              <a:ext uri="{FF2B5EF4-FFF2-40B4-BE49-F238E27FC236}">
                <a16:creationId xmlns:a16="http://schemas.microsoft.com/office/drawing/2014/main" id="{EE356342-7E80-AD4B-BA14-513E4B339F25}"/>
              </a:ext>
            </a:extLst>
          </p:cNvPr>
          <p:cNvPicPr>
            <a:picLocks noChangeAspect="1"/>
          </p:cNvPicPr>
          <p:nvPr userDrawn="1"/>
        </p:nvPicPr>
        <p:blipFill>
          <a:blip r:embed="rId16">
            <a:extLst>
              <a:ext uri="{28A0092B-C50C-407E-A947-70E740481C1C}">
                <a14:useLocalDpi xmlns:a14="http://schemas.microsoft.com/office/drawing/2010/main" val="0"/>
              </a:ext>
            </a:extLst>
          </a:blip>
          <a:stretch>
            <a:fillRect/>
          </a:stretch>
        </p:blipFill>
        <p:spPr>
          <a:xfrm>
            <a:off x="0" y="6478840"/>
            <a:ext cx="1103012" cy="379160"/>
          </a:xfrm>
          <a:prstGeom prst="rect">
            <a:avLst/>
          </a:prstGeom>
        </p:spPr>
      </p:pic>
      <p:pic>
        <p:nvPicPr>
          <p:cNvPr id="5" name="Picture 4">
            <a:extLst>
              <a:ext uri="{FF2B5EF4-FFF2-40B4-BE49-F238E27FC236}">
                <a16:creationId xmlns:a16="http://schemas.microsoft.com/office/drawing/2014/main" id="{3B116630-6B0B-BDDE-E9C1-B82678EC1EF6}"/>
              </a:ext>
            </a:extLst>
          </p:cNvPr>
          <p:cNvPicPr>
            <a:picLocks noChangeAspect="1"/>
          </p:cNvPicPr>
          <p:nvPr userDrawn="1"/>
        </p:nvPicPr>
        <p:blipFill>
          <a:blip r:embed="rId17"/>
          <a:stretch>
            <a:fillRect/>
          </a:stretch>
        </p:blipFill>
        <p:spPr>
          <a:xfrm>
            <a:off x="-2" y="326042"/>
            <a:ext cx="981646" cy="981646"/>
          </a:xfrm>
          <a:prstGeom prst="rect">
            <a:avLst/>
          </a:prstGeom>
        </p:spPr>
      </p:pic>
    </p:spTree>
    <p:extLst>
      <p:ext uri="{BB962C8B-B14F-4D97-AF65-F5344CB8AC3E}">
        <p14:creationId xmlns:p14="http://schemas.microsoft.com/office/powerpoint/2010/main" val="297477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1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7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hyperlink" Target="https://github.com/mlw-stats/R_And_Statistics_Training_2026"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github.com/mlw-stats/R_And_Statistics_Training_2026" TargetMode="External"/><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8.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8.xml"/></Relationships>
</file>

<file path=ppt/slides/_rels/slide5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8.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hyperlink" Target="https://doi.org/10.1080/00031305.2019.1583913" TargetMode="External"/><Relationship Id="rId2" Type="http://schemas.openxmlformats.org/officeDocument/2006/relationships/hyperlink" Target="https://en.wikipedia.org/wiki/Lady_tasting_tea" TargetMode="Externa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8.xml"/></Relationships>
</file>

<file path=ppt/slides/_rels/slide10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8.xml"/></Relationships>
</file>

<file path=ppt/slides/_rels/slide10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8.xml"/></Relationships>
</file>

<file path=ppt/slides/_rels/slide10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DFE552-82FF-41CD-AE9B-C5B295BA4FFD}"/>
              </a:ext>
            </a:extLst>
          </p:cNvPr>
          <p:cNvSpPr>
            <a:spLocks noGrp="1"/>
          </p:cNvSpPr>
          <p:nvPr>
            <p:ph type="ctrTitle"/>
          </p:nvPr>
        </p:nvSpPr>
        <p:spPr>
          <a:xfrm>
            <a:off x="1524000" y="1122363"/>
            <a:ext cx="9144000" cy="2387600"/>
          </a:xfrm>
        </p:spPr>
        <p:txBody>
          <a:bodyPr/>
          <a:lstStyle/>
          <a:p>
            <a:pPr marL="0" lvl="0" indent="0">
              <a:buNone/>
            </a:pPr>
            <a:r>
              <a:t>Statistics and R short course</a:t>
            </a:r>
          </a:p>
        </p:txBody>
      </p:sp>
      <p:sp>
        <p:nvSpPr>
          <p:cNvPr id="3" name="Subtitle 2">
            <a:extLst>
              <a:ext uri="{FF2B5EF4-FFF2-40B4-BE49-F238E27FC236}">
                <a16:creationId xmlns:a16="http://schemas.microsoft.com/office/drawing/2014/main" id="{4E8C47A7-1C60-48ED-9106-1A4E50CD85F0}"/>
              </a:ext>
            </a:extLst>
          </p:cNvPr>
          <p:cNvSpPr>
            <a:spLocks noGrp="1"/>
          </p:cNvSpPr>
          <p:nvPr>
            <p:ph type="subTitle" idx="1"/>
          </p:nvPr>
        </p:nvSpPr>
        <p:spPr>
          <a:xfrm>
            <a:off x="1524000" y="4026500"/>
            <a:ext cx="9144000" cy="1231300"/>
          </a:xfrm>
        </p:spPr>
        <p:txBody>
          <a:bodyPr/>
          <a:lstStyle/>
          <a:p>
            <a:pPr marL="0" lvl="0" indent="0">
              <a:buNone/>
            </a:pPr>
            <a:r>
              <a:t>Session 4: Parameter estimation and Statistical hypothesis testing</a:t>
            </a:r>
            <a:br/>
            <a:br/>
            <a:r>
              <a:t>Vester Gunsaru</a:t>
            </a:r>
          </a:p>
        </p:txBody>
      </p:sp>
      <p:sp>
        <p:nvSpPr>
          <p:cNvPr id="7" name="Date Placeholder 3">
            <a:extLst>
              <a:ext uri="{FF2B5EF4-FFF2-40B4-BE49-F238E27FC236}">
                <a16:creationId xmlns:a16="http://schemas.microsoft.com/office/drawing/2014/main" id="{7CD99309-7B5F-490B-9BDE-AAF9B5F8DCFE}"/>
              </a:ext>
            </a:extLst>
          </p:cNvPr>
          <p:cNvSpPr>
            <a:spLocks noGrp="1"/>
          </p:cNvSpPr>
          <p:nvPr>
            <p:ph type="dt" sz="half" idx="2"/>
          </p:nvPr>
        </p:nvSpPr>
        <p:spPr>
          <a:xfrm>
            <a:off x="4724400" y="5580025"/>
            <a:ext cx="2743200" cy="311224"/>
          </a:xfrm>
          <a:prstGeom prst="rect">
            <a:avLst/>
          </a:prstGeom>
        </p:spPr>
        <p:txBody>
          <a:bodyPr/>
          <a:lstStyle/>
          <a:p>
            <a:pPr marL="0" lvl="0" indent="0">
              <a:buNone/>
            </a:pPr>
            <a:r>
              <a:t>28 January 2026</a:t>
            </a:r>
          </a:p>
        </p:txBody>
      </p:sp>
      <p:sp>
        <p:nvSpPr>
          <p:cNvPr id="6" name="Slide Number Placeholder 5">
            <a:extLst>
              <a:ext uri="{FF2B5EF4-FFF2-40B4-BE49-F238E27FC236}">
                <a16:creationId xmlns:a16="http://schemas.microsoft.com/office/drawing/2014/main" id="{90A256D4-A46F-42D5-9B93-520AF7ED2811}"/>
              </a:ext>
            </a:extLst>
          </p:cNvPr>
          <p:cNvSpPr>
            <a:spLocks noGrp="1"/>
          </p:cNvSpPr>
          <p:nvPr>
            <p:ph type="sldNum" sz="quarter" idx="12"/>
          </p:nvPr>
        </p:nvSpPr>
        <p:spPr/>
        <p:txBody>
          <a:bodyPr/>
          <a:lstStyle/>
          <a:p>
            <a:fld id="{E1C5CB42-CF14-4293-8971-6DCD1AAE8BE7}" type="slidenum">
              <a:rPr lang="en-GB" smtClean="0"/>
              <a:t>1</a:t>
            </a:fld>
            <a:endParaRPr lang="en-GB"/>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511042-BDFA-4708-84AB-F848A1D5D4A0}"/>
              </a:ext>
            </a:extLst>
          </p:cNvPr>
          <p:cNvSpPr>
            <a:spLocks noGrp="1"/>
          </p:cNvSpPr>
          <p:nvPr>
            <p:ph type="title"/>
          </p:nvPr>
        </p:nvSpPr>
        <p:spPr>
          <a:xfrm>
            <a:off x="831850" y="1709738"/>
            <a:ext cx="10515600" cy="2852737"/>
          </a:xfrm>
        </p:spPr>
        <p:txBody>
          <a:bodyPr/>
          <a:lstStyle/>
          <a:p>
            <a:pPr marL="0" lvl="0" indent="0">
              <a:buNone/>
            </a:pPr>
            <a:r>
              <a:t>Introduction</a:t>
            </a:r>
          </a:p>
        </p:txBody>
      </p:sp>
      <p:sp>
        <p:nvSpPr>
          <p:cNvPr id="6" name="Slide Number Placeholder 5">
            <a:extLst>
              <a:ext uri="{FF2B5EF4-FFF2-40B4-BE49-F238E27FC236}">
                <a16:creationId xmlns:a16="http://schemas.microsoft.com/office/drawing/2014/main" id="{910AAC92-EEED-4232-ACDE-84003A6476BB}"/>
              </a:ext>
            </a:extLst>
          </p:cNvPr>
          <p:cNvSpPr>
            <a:spLocks noGrp="1"/>
          </p:cNvSpPr>
          <p:nvPr>
            <p:ph type="sldNum" sz="quarter" idx="12"/>
          </p:nvPr>
        </p:nvSpPr>
        <p:spPr/>
        <p:txBody>
          <a:bodyPr/>
          <a:lstStyle/>
          <a:p>
            <a:fld id="{E1C5CB42-CF14-4293-8971-6DCD1AAE8BE7}" type="slidenum">
              <a:rPr lang="en-GB" smtClean="0"/>
              <a:t>2</a:t>
            </a:fld>
            <a:endParaRPr lang="en-GB"/>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marL="0" lvl="0" indent="0">
              <a:buNone/>
            </a:pPr>
            <a:r>
              <a:t>Preliminaries</a:t>
            </a:r>
          </a:p>
        </p:txBody>
      </p:sp>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p:txBody>
          <a:bodyPr/>
          <a:lstStyle/>
          <a:p>
            <a:pPr lvl="0"/>
            <a:r>
              <a:t>Course website / GitHub:</a:t>
            </a:r>
          </a:p>
          <a:p>
            <a:pPr marL="0" lvl="0" indent="0">
              <a:buNone/>
            </a:pPr>
            <a:r>
              <a:rPr>
                <a:hlinkClick r:id="rId2"/>
              </a:rPr>
              <a:t>https://github.com/mlw-stats/R_And_Statistics_Training_2026</a:t>
            </a:r>
          </a:p>
          <a:p>
            <a:pPr lvl="0"/>
            <a:r>
              <a:t>Office hours</a:t>
            </a:r>
          </a:p>
          <a:p>
            <a:pPr lvl="1"/>
            <a:r>
              <a:rPr b="1"/>
              <a:t>Vester</a:t>
            </a:r>
            <a:r>
              <a:t> - Mondays @ 2pm; </a:t>
            </a:r>
            <a:r>
              <a:rPr b="1"/>
              <a:t>Kapeni Meeting 1</a:t>
            </a:r>
          </a:p>
          <a:p>
            <a:pPr lvl="1"/>
            <a:r>
              <a:rPr b="1"/>
              <a:t>Eva</a:t>
            </a:r>
            <a:r>
              <a:t> - Tuesdays @ 2pm; </a:t>
            </a:r>
            <a:r>
              <a:rPr b="1"/>
              <a:t>Creator Ground Floor</a:t>
            </a:r>
          </a:p>
          <a:p>
            <a:pPr lvl="1"/>
            <a:r>
              <a:rPr b="1"/>
              <a:t>Marc</a:t>
            </a:r>
            <a:r>
              <a:t> - Thursdays @ 9am; </a:t>
            </a:r>
            <a:r>
              <a:rPr b="1"/>
              <a:t>Kapeni Meeting 2</a:t>
            </a:r>
          </a:p>
          <a:p>
            <a:pPr lvl="1"/>
            <a:r>
              <a:rPr b="1"/>
              <a:t>Jessie</a:t>
            </a:r>
            <a:r>
              <a:t> - Mondays @ 3pm; </a:t>
            </a:r>
            <a:r>
              <a:rPr b="1"/>
              <a:t>Kapeni Hurdle 1</a:t>
            </a:r>
          </a:p>
          <a:p>
            <a:pPr marL="0" lvl="0" indent="0">
              <a:buNone/>
            </a:pPr>
            <a14:m xmlns:a14="http://schemas.microsoft.com/office/drawing/2010/main">
              <m:oMathPara xmlns:m="http://schemas.openxmlformats.org/officeDocument/2006/math">
                <m:oMathParaPr>
                  <m:jc m:val="center"/>
                </m:oMathParaPr>
                <m:oMath xmlns:m="http://schemas.openxmlformats.org/officeDocument/2006/math">
                  <m:r>
                    <a:rPr>
                      <a:latin typeface="Cambria Math" panose="02040503050406030204" pitchFamily="18" charset="0"/>
                    </a:rPr>
                    <m:t> </m:t>
                  </m:r>
                </m:oMath>
              </m:oMathPara>
            </a14:m>
            <a:endParaRPr b="1"/>
          </a:p>
          <a:p>
            <a:pPr lvl="0"/>
            <a:r>
              <a:t>Housekeeping</a:t>
            </a:r>
          </a:p>
          <a:p>
            <a:pPr lvl="1"/>
            <a:r>
              <a:t>Refreshments (no lunch - sorry)</a:t>
            </a:r>
          </a:p>
          <a:p>
            <a:pPr lvl="1"/>
            <a:r>
              <a:t>Fire exits &amp; bathrooms</a:t>
            </a:r>
          </a:p>
        </p:txBody>
      </p:sp>
      <p:sp>
        <p:nvSpPr>
          <p:cNvPr id="6" name="Slide Number Placeholder 5">
            <a:extLst>
              <a:ext uri="{FF2B5EF4-FFF2-40B4-BE49-F238E27FC236}">
                <a16:creationId xmlns:a16="http://schemas.microsoft.com/office/drawing/2014/main" id="{C03F998A-2A5E-471F-9FEB-2559B0A7F93D}"/>
              </a:ext>
            </a:extLst>
          </p:cNvPr>
          <p:cNvSpPr>
            <a:spLocks noGrp="1"/>
          </p:cNvSpPr>
          <p:nvPr>
            <p:ph type="sldNum" sz="quarter" idx="12"/>
          </p:nvPr>
        </p:nvSpPr>
        <p:spPr/>
        <p:txBody>
          <a:bodyPr/>
          <a:lstStyle/>
          <a:p>
            <a:fld id="{E1C5CB42-CF14-4293-8971-6DCD1AAE8BE7}" type="slidenum">
              <a:rPr lang="en-GB" smtClean="0"/>
              <a:t>3</a:t>
            </a:fld>
            <a:endParaRPr lang="en-GB"/>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marL="0" lvl="0" indent="0">
              <a:buNone/>
            </a:pPr>
            <a:r>
              <a:t>Preliminaries</a:t>
            </a:r>
          </a:p>
        </p:txBody>
      </p:sp>
      <p:pic>
        <p:nvPicPr>
          <p:cNvPr id="3" name="Picture 1" descr="QRcode_RandStats_GitHub.png"/>
          <p:cNvPicPr>
            <a:picLocks noGrp="1" noChangeAspect="1"/>
          </p:cNvPicPr>
          <p:nvPr/>
        </p:nvPicPr>
        <p:blipFill>
          <a:blip r:embed="rId2"/>
          <a:stretch>
            <a:fillRect/>
          </a:stretch>
        </p:blipFill>
        <p:spPr bwMode="auto">
          <a:xfrm>
            <a:off x="4013200" y="1816100"/>
            <a:ext cx="4152900" cy="4152900"/>
          </a:xfrm>
          <a:prstGeom prst="rect">
            <a:avLst/>
          </a:prstGeom>
          <a:noFill/>
          <a:ln w="9525">
            <a:noFill/>
            <a:headEnd/>
            <a:tailEnd/>
          </a:ln>
        </p:spPr>
      </p:pic>
      <p:sp>
        <p:nvSpPr>
          <p:cNvPr id="4" name="TextBox 3"/>
          <p:cNvSpPr txBox="1"/>
          <p:nvPr/>
        </p:nvSpPr>
        <p:spPr>
          <a:xfrm>
            <a:off x="838200" y="5969000"/>
            <a:ext cx="10515600" cy="508000"/>
          </a:xfrm>
          <a:prstGeom prst="rect">
            <a:avLst/>
          </a:prstGeom>
          <a:noFill/>
        </p:spPr>
        <p:txBody>
          <a:bodyPr/>
          <a:lstStyle/>
          <a:p>
            <a:pPr marL="0" lvl="0" indent="0" algn="ctr">
              <a:buNone/>
            </a:pPr>
            <a:r>
              <a:rPr>
                <a:hlinkClick r:id="rId3"/>
              </a:rPr>
              <a:t>https://github.com/mlw-stats/R_And_Statistics_Training_2026</a:t>
            </a:r>
          </a:p>
        </p:txBody>
      </p:sp>
      <p:sp>
        <p:nvSpPr>
          <p:cNvPr id="6" name="Slide Number Placeholder 5">
            <a:extLst>
              <a:ext uri="{FF2B5EF4-FFF2-40B4-BE49-F238E27FC236}">
                <a16:creationId xmlns:a16="http://schemas.microsoft.com/office/drawing/2014/main" id="{C03F998A-2A5E-471F-9FEB-2559B0A7F93D}"/>
              </a:ext>
            </a:extLst>
          </p:cNvPr>
          <p:cNvSpPr>
            <a:spLocks noGrp="1"/>
          </p:cNvSpPr>
          <p:nvPr>
            <p:ph type="sldNum" sz="quarter" idx="12"/>
          </p:nvPr>
        </p:nvSpPr>
        <p:spPr/>
        <p:txBody>
          <a:bodyPr/>
          <a:lstStyle/>
          <a:p>
            <a:fld id="{E1C5CB42-CF14-4293-8971-6DCD1AAE8BE7}" type="slidenum">
              <a:rPr lang="en-GB" smtClean="0"/>
              <a:t>4</a:t>
            </a:fld>
            <a:endParaRPr lang="en-GB"/>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marL="0" lvl="0" indent="0">
              <a:buNone/>
            </a:pPr>
            <a:r>
              <a:t>Learning outcomes</a:t>
            </a:r>
          </a:p>
        </p:txBody>
      </p:sp>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a:xfrm>
            <a:off x="949720" y="1592711"/>
            <a:ext cx="10515600" cy="4667250"/>
          </a:xfrm>
        </p:spPr>
        <p:txBody>
          <a:bodyPr>
            <a:normAutofit lnSpcReduction="10000"/>
          </a:bodyPr>
          <a:lstStyle/>
          <a:p>
            <a:pPr marL="457200" lvl="0" indent="-457200">
              <a:buAutoNum type="arabicPeriod"/>
            </a:pPr>
            <a:r>
              <a:rPr b="1" dirty="0"/>
              <a:t>KNOW R</a:t>
            </a:r>
            <a:r>
              <a:rPr dirty="0"/>
              <a:t>: Explain know what R is &amp; what it can do.</a:t>
            </a:r>
          </a:p>
          <a:p>
            <a:pPr marL="457200" lvl="0" indent="-457200">
              <a:buAutoNum type="arabicPeriod"/>
            </a:pPr>
            <a:r>
              <a:rPr b="1" dirty="0"/>
              <a:t>KNOW R RESOURCES</a:t>
            </a:r>
            <a:r>
              <a:rPr dirty="0"/>
              <a:t>: List useful R resources and access them.</a:t>
            </a:r>
          </a:p>
          <a:p>
            <a:pPr marL="457200" lvl="0" indent="-457200">
              <a:buAutoNum type="arabicPeriod"/>
            </a:pPr>
            <a:r>
              <a:rPr b="1" dirty="0"/>
              <a:t>DO R</a:t>
            </a:r>
            <a:r>
              <a:rPr dirty="0"/>
              <a:t>: Perform basic operations relevant for your research in R:</a:t>
            </a:r>
          </a:p>
          <a:p>
            <a:pPr marL="914400" lvl="1" indent="-457200">
              <a:buAutoNum type="alphaLcPeriod"/>
            </a:pPr>
            <a:r>
              <a:rPr dirty="0"/>
              <a:t>Read data into R &amp; write data or results to the </a:t>
            </a:r>
            <a:r>
              <a:rPr dirty="0" err="1"/>
              <a:t>harddrive</a:t>
            </a:r>
            <a:r>
              <a:rPr dirty="0"/>
              <a:t>.</a:t>
            </a:r>
          </a:p>
          <a:p>
            <a:pPr marL="914400" lvl="1" indent="-457200">
              <a:buAutoNum type="alphaLcPeriod"/>
            </a:pPr>
            <a:r>
              <a:rPr dirty="0"/>
              <a:t>Manipulate &amp; use different object types.</a:t>
            </a:r>
          </a:p>
          <a:p>
            <a:pPr marL="914400" lvl="1" indent="-457200">
              <a:buAutoNum type="alphaLcPeriod"/>
            </a:pPr>
            <a:r>
              <a:rPr dirty="0"/>
              <a:t>Write &amp; use functions in R</a:t>
            </a:r>
          </a:p>
          <a:p>
            <a:pPr marL="914400" lvl="1" indent="-457200">
              <a:buAutoNum type="alphaLcPeriod"/>
            </a:pPr>
            <a:r>
              <a:rPr dirty="0"/>
              <a:t>Perform basic analyses on a dataset: mean, standard deviation, linear regression.</a:t>
            </a:r>
          </a:p>
          <a:p>
            <a:pPr marL="914400" lvl="1" indent="-457200">
              <a:buAutoNum type="alphaLcPeriod"/>
            </a:pPr>
            <a:r>
              <a:rPr dirty="0"/>
              <a:t>Produce various standard graphs and tables</a:t>
            </a:r>
          </a:p>
          <a:p>
            <a:pPr marL="457200" lvl="0" indent="-457200">
              <a:buAutoNum type="arabicPeriod"/>
            </a:pPr>
            <a:r>
              <a:rPr b="1" dirty="0"/>
              <a:t>UNDERSTAND BASICS OF STATISTICS</a:t>
            </a:r>
            <a:r>
              <a:rPr dirty="0"/>
              <a:t>: Explain basic statistical theory: common distributions, standard statistical techniques, assumptions behind common statistical tests and regression models.</a:t>
            </a:r>
          </a:p>
          <a:p>
            <a:pPr marL="457200" lvl="0" indent="-457200">
              <a:buAutoNum type="arabicPeriod"/>
            </a:pPr>
            <a:r>
              <a:rPr b="1" dirty="0"/>
              <a:t>COMPREHEND OPEN SCIENCE</a:t>
            </a:r>
            <a:r>
              <a:rPr dirty="0"/>
              <a:t>: </a:t>
            </a:r>
            <a:r>
              <a:rPr dirty="0" err="1"/>
              <a:t>Summarise</a:t>
            </a:r>
            <a:r>
              <a:rPr dirty="0"/>
              <a:t> principles of open, reproducible research.</a:t>
            </a:r>
          </a:p>
          <a:p>
            <a:pPr marL="457200" lvl="0" indent="-457200">
              <a:buAutoNum type="arabicPeriod"/>
            </a:pPr>
            <a:r>
              <a:rPr b="1" dirty="0"/>
              <a:t>DO OPEN SCIENCE WITH R</a:t>
            </a:r>
            <a:r>
              <a:rPr dirty="0"/>
              <a:t>: Use R scripts, R markdown, packages &amp; GitHub.</a:t>
            </a:r>
          </a:p>
        </p:txBody>
      </p:sp>
      <p:sp>
        <p:nvSpPr>
          <p:cNvPr id="6" name="Slide Number Placeholder 5">
            <a:extLst>
              <a:ext uri="{FF2B5EF4-FFF2-40B4-BE49-F238E27FC236}">
                <a16:creationId xmlns:a16="http://schemas.microsoft.com/office/drawing/2014/main" id="{C03F998A-2A5E-471F-9FEB-2559B0A7F93D}"/>
              </a:ext>
            </a:extLst>
          </p:cNvPr>
          <p:cNvSpPr>
            <a:spLocks noGrp="1"/>
          </p:cNvSpPr>
          <p:nvPr>
            <p:ph type="sldNum" sz="quarter" idx="12"/>
          </p:nvPr>
        </p:nvSpPr>
        <p:spPr/>
        <p:txBody>
          <a:bodyPr/>
          <a:lstStyle/>
          <a:p>
            <a:fld id="{E1C5CB42-CF14-4293-8971-6DCD1AAE8BE7}" type="slidenum">
              <a:rPr lang="en-GB" smtClean="0"/>
              <a:t>5</a:t>
            </a:fld>
            <a:endParaRPr lang="en-GB"/>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marL="0" lvl="0" indent="0">
              <a:buNone/>
            </a:pPr>
            <a:r>
              <a:t>Outline</a:t>
            </a:r>
          </a:p>
        </p:txBody>
      </p:sp>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p:txBody>
          <a:bodyPr/>
          <a:lstStyle/>
          <a:p>
            <a:pPr marL="0" lvl="0" indent="0">
              <a:buNone/>
            </a:pPr>
            <a14:m xmlns:a14="http://schemas.microsoft.com/office/drawing/2010/main">
              <m:oMathPara xmlns:m="http://schemas.openxmlformats.org/officeDocument/2006/math">
                <m:oMathParaPr>
                  <m:jc m:val="center"/>
                </m:oMathParaPr>
                <m:oMath xmlns:m="http://schemas.openxmlformats.org/officeDocument/2006/math">
                  <m:r>
                    <a:rPr>
                      <a:latin typeface="Cambria Math" panose="02040503050406030204" pitchFamily="18" charset="0"/>
                    </a:rPr>
                    <m:t> </m:t>
                  </m:r>
                </m:oMath>
              </m:oMathPara>
            </a14:m>
            <a:endParaRPr/>
          </a:p>
          <a:p>
            <a:pPr marL="457200" lvl="0" indent="-457200">
              <a:buAutoNum type="arabicPeriod"/>
            </a:pPr>
            <a:r>
              <a:t>Estimation</a:t>
            </a:r>
          </a:p>
          <a:p>
            <a:pPr marL="457200" lvl="0" indent="-457200">
              <a:buAutoNum type="arabicPeriod"/>
            </a:pPr>
            <a:r>
              <a:t>Null hypothesis significance testing</a:t>
            </a:r>
          </a:p>
          <a:p>
            <a:pPr marL="457200" lvl="0" indent="-457200">
              <a:buAutoNum type="arabicPeriod"/>
            </a:pPr>
            <a:r>
              <a:t>Sample size calculations</a:t>
            </a:r>
          </a:p>
        </p:txBody>
      </p:sp>
      <p:sp>
        <p:nvSpPr>
          <p:cNvPr id="6" name="Slide Number Placeholder 5">
            <a:extLst>
              <a:ext uri="{FF2B5EF4-FFF2-40B4-BE49-F238E27FC236}">
                <a16:creationId xmlns:a16="http://schemas.microsoft.com/office/drawing/2014/main" id="{C03F998A-2A5E-471F-9FEB-2559B0A7F93D}"/>
              </a:ext>
            </a:extLst>
          </p:cNvPr>
          <p:cNvSpPr>
            <a:spLocks noGrp="1"/>
          </p:cNvSpPr>
          <p:nvPr>
            <p:ph type="sldNum" sz="quarter" idx="12"/>
          </p:nvPr>
        </p:nvSpPr>
        <p:spPr/>
        <p:txBody>
          <a:bodyPr/>
          <a:lstStyle/>
          <a:p>
            <a:fld id="{E1C5CB42-CF14-4293-8971-6DCD1AAE8BE7}" type="slidenum">
              <a:rPr lang="en-GB" smtClean="0"/>
              <a:t>6</a:t>
            </a:fld>
            <a:endParaRPr lang="en-GB"/>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511042-BDFA-4708-84AB-F848A1D5D4A0}"/>
              </a:ext>
            </a:extLst>
          </p:cNvPr>
          <p:cNvSpPr>
            <a:spLocks noGrp="1"/>
          </p:cNvSpPr>
          <p:nvPr>
            <p:ph type="title"/>
          </p:nvPr>
        </p:nvSpPr>
        <p:spPr>
          <a:xfrm>
            <a:off x="831850" y="1709738"/>
            <a:ext cx="10515600" cy="2852737"/>
          </a:xfrm>
        </p:spPr>
        <p:txBody>
          <a:bodyPr/>
          <a:lstStyle/>
          <a:p>
            <a:pPr marL="0" lvl="0" indent="0">
              <a:buNone/>
            </a:pPr>
            <a:r>
              <a:t>Estimation</a:t>
            </a:r>
          </a:p>
        </p:txBody>
      </p:sp>
      <p:sp>
        <p:nvSpPr>
          <p:cNvPr id="6" name="Slide Number Placeholder 5">
            <a:extLst>
              <a:ext uri="{FF2B5EF4-FFF2-40B4-BE49-F238E27FC236}">
                <a16:creationId xmlns:a16="http://schemas.microsoft.com/office/drawing/2014/main" id="{910AAC92-EEED-4232-ACDE-84003A6476BB}"/>
              </a:ext>
            </a:extLst>
          </p:cNvPr>
          <p:cNvSpPr>
            <a:spLocks noGrp="1"/>
          </p:cNvSpPr>
          <p:nvPr>
            <p:ph type="sldNum" sz="quarter" idx="12"/>
          </p:nvPr>
        </p:nvSpPr>
        <p:spPr/>
        <p:txBody>
          <a:bodyPr/>
          <a:lstStyle/>
          <a:p>
            <a:fld id="{E1C5CB42-CF14-4293-8971-6DCD1AAE8BE7}" type="slidenum">
              <a:rPr lang="en-GB" smtClean="0"/>
              <a:t>7</a:t>
            </a:fld>
            <a:endParaRPr lang="en-GB"/>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marL="0" lvl="0" indent="0">
              <a:buNone/>
            </a:pPr>
            <a:r>
              <a:t>Exercise</a:t>
            </a:r>
          </a:p>
        </p:txBody>
      </p:sp>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p:txBody>
          <a:bodyPr/>
          <a:lstStyle/>
          <a:p>
            <a:pPr marL="0" lvl="0" indent="0">
              <a:buNone/>
            </a:pPr>
            <a14:m xmlns:a14="http://schemas.microsoft.com/office/drawing/2010/main">
              <m:oMathPara xmlns:m="http://schemas.openxmlformats.org/officeDocument/2006/math">
                <m:oMathParaPr>
                  <m:jc m:val="center"/>
                </m:oMathParaPr>
                <m:oMath xmlns:m="http://schemas.openxmlformats.org/officeDocument/2006/math">
                  <m:r>
                    <a:rPr>
                      <a:latin typeface="Cambria Math" panose="02040503050406030204" pitchFamily="18" charset="0"/>
                    </a:rPr>
                    <m:t> </m:t>
                  </m:r>
                </m:oMath>
              </m:oMathPara>
            </a14:m>
            <a:endParaRPr/>
          </a:p>
          <a:p>
            <a:pPr marL="0" lvl="0" indent="0">
              <a:buNone/>
            </a:pPr>
            <a:r>
              <a:t>Think about a population parameter that you might be interested in knowing.</a:t>
            </a:r>
          </a:p>
          <a:p>
            <a:pPr marL="0" lvl="0" indent="0">
              <a:buNone/>
            </a:pPr>
            <a14:m xmlns:a14="http://schemas.microsoft.com/office/drawing/2010/main">
              <m:oMathPara xmlns:m="http://schemas.openxmlformats.org/officeDocument/2006/math">
                <m:oMathParaPr>
                  <m:jc m:val="center"/>
                </m:oMathParaPr>
                <m:oMath xmlns:m="http://schemas.openxmlformats.org/officeDocument/2006/math">
                  <m:r>
                    <a:rPr>
                      <a:latin typeface="Cambria Math" panose="02040503050406030204" pitchFamily="18" charset="0"/>
                    </a:rPr>
                    <m:t> </m:t>
                  </m:r>
                </m:oMath>
              </m:oMathPara>
            </a14:m>
            <a:endParaRPr/>
          </a:p>
          <a:p>
            <a:pPr marL="0" lvl="0" indent="0">
              <a:buNone/>
            </a:pPr>
            <a:r>
              <a:t>How could you imagine that you would go about estimating this parameter?</a:t>
            </a:r>
          </a:p>
        </p:txBody>
      </p:sp>
      <p:sp>
        <p:nvSpPr>
          <p:cNvPr id="6" name="Slide Number Placeholder 5">
            <a:extLst>
              <a:ext uri="{FF2B5EF4-FFF2-40B4-BE49-F238E27FC236}">
                <a16:creationId xmlns:a16="http://schemas.microsoft.com/office/drawing/2014/main" id="{C03F998A-2A5E-471F-9FEB-2559B0A7F93D}"/>
              </a:ext>
            </a:extLst>
          </p:cNvPr>
          <p:cNvSpPr>
            <a:spLocks noGrp="1"/>
          </p:cNvSpPr>
          <p:nvPr>
            <p:ph type="sldNum" sz="quarter" idx="12"/>
          </p:nvPr>
        </p:nvSpPr>
        <p:spPr/>
        <p:txBody>
          <a:bodyPr/>
          <a:lstStyle/>
          <a:p>
            <a:fld id="{E1C5CB42-CF14-4293-8971-6DCD1AAE8BE7}" type="slidenum">
              <a:rPr lang="en-GB" smtClean="0"/>
              <a:t>8</a:t>
            </a:fld>
            <a:endParaRPr lang="en-GB"/>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marL="0" lvl="0" indent="0">
              <a:buNone/>
            </a:pPr>
            <a:r>
              <a:t>General principles</a:t>
            </a:r>
          </a:p>
        </p:txBody>
      </p:sp>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p:txBody>
          <a:bodyPr/>
          <a:lstStyle/>
          <a:p>
            <a:pPr marL="0" lvl="0" indent="0">
              <a:buNone/>
            </a:pPr>
            <a:r>
              <a:t>We are typically interested in studying populations, for example:</a:t>
            </a:r>
          </a:p>
          <a:p>
            <a:pPr marL="457200" lvl="0" indent="-457200">
              <a:buAutoNum type="arabicPeriod"/>
            </a:pPr>
            <a:r>
              <a:t>Children born to mothers living with HIV in Blantyre, Malawi</a:t>
            </a:r>
          </a:p>
          <a:p>
            <a:pPr marL="457200" lvl="0" indent="-457200">
              <a:buAutoNum type="arabicPeriod"/>
            </a:pPr>
            <a:r>
              <a:t>Patients admitted with febrile illness in Chikhwawa District Hospital</a:t>
            </a:r>
          </a:p>
          <a:p>
            <a:pPr marL="457200" lvl="0" indent="-457200">
              <a:buAutoNum type="arabicPeriod"/>
            </a:pPr>
            <a:r>
              <a:t>Households with at least 2 children under the age of 5 in Ndirande Township</a:t>
            </a:r>
          </a:p>
          <a:p>
            <a:pPr marL="0" lvl="0" indent="0">
              <a:buNone/>
            </a:pPr>
            <a14:m xmlns:a14="http://schemas.microsoft.com/office/drawing/2010/main">
              <m:oMathPara xmlns:m="http://schemas.openxmlformats.org/officeDocument/2006/math">
                <m:oMathParaPr>
                  <m:jc m:val="center"/>
                </m:oMathParaPr>
                <m:oMath xmlns:m="http://schemas.openxmlformats.org/officeDocument/2006/math">
                  <m:r>
                    <a:rPr>
                      <a:latin typeface="Cambria Math" panose="02040503050406030204" pitchFamily="18" charset="0"/>
                    </a:rPr>
                    <m:t> </m:t>
                  </m:r>
                </m:oMath>
              </m:oMathPara>
            </a14:m>
            <a:endParaRPr/>
          </a:p>
          <a:p>
            <a:pPr marL="0" lvl="0" indent="0">
              <a:buNone/>
            </a:pPr>
            <a:r>
              <a:t>And, typically, we are interested in particular characteristics of those populations:</a:t>
            </a:r>
          </a:p>
          <a:p>
            <a:pPr marL="457200" lvl="0" indent="-457200">
              <a:buAutoNum type="arabicPeriod"/>
            </a:pPr>
            <a:r>
              <a:t>Proportion of HIV-exposed but uninfected children.</a:t>
            </a:r>
          </a:p>
          <a:p>
            <a:pPr marL="457200" lvl="0" indent="-457200">
              <a:buAutoNum type="arabicPeriod"/>
            </a:pPr>
            <a:r>
              <a:t>Prevalence of non-malaria illness.</a:t>
            </a:r>
          </a:p>
          <a:p>
            <a:pPr marL="457200" lvl="0" indent="-457200">
              <a:buAutoNum type="arabicPeriod"/>
            </a:pPr>
            <a:r>
              <a:t>Household income.</a:t>
            </a:r>
          </a:p>
        </p:txBody>
      </p:sp>
      <p:sp>
        <p:nvSpPr>
          <p:cNvPr id="6" name="Slide Number Placeholder 5">
            <a:extLst>
              <a:ext uri="{FF2B5EF4-FFF2-40B4-BE49-F238E27FC236}">
                <a16:creationId xmlns:a16="http://schemas.microsoft.com/office/drawing/2014/main" id="{C03F998A-2A5E-471F-9FEB-2559B0A7F93D}"/>
              </a:ext>
            </a:extLst>
          </p:cNvPr>
          <p:cNvSpPr>
            <a:spLocks noGrp="1"/>
          </p:cNvSpPr>
          <p:nvPr>
            <p:ph type="sldNum" sz="quarter" idx="12"/>
          </p:nvPr>
        </p:nvSpPr>
        <p:spPr/>
        <p:txBody>
          <a:bodyPr/>
          <a:lstStyle/>
          <a:p>
            <a:fld id="{E1C5CB42-CF14-4293-8971-6DCD1AAE8BE7}" type="slidenum">
              <a:rPr lang="en-GB" smtClean="0"/>
              <a:t>9</a:t>
            </a:fld>
            <a:endParaRPr lang="en-GB"/>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marL="0" lvl="0" indent="0">
              <a:buNone/>
            </a:pPr>
            <a:r>
              <a:t>General principles</a:t>
            </a:r>
          </a:p>
        </p:txBody>
      </p:sp>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p:txBody>
          <a:bodyPr/>
          <a:lstStyle/>
          <a:p>
            <a:pPr marL="0" lvl="0" indent="0">
              <a:buNone/>
            </a:pPr>
            <a:r>
              <a:t>If we could assess the entire population, then we can directly measure these characteristics.</a:t>
            </a:r>
          </a:p>
          <a:p>
            <a:pPr marL="0" lvl="0" indent="0">
              <a:buNone/>
            </a:pPr>
            <a:r>
              <a:t>But usually we cannot and so we need to </a:t>
            </a:r>
            <a:r>
              <a:rPr b="1"/>
              <a:t>sample</a:t>
            </a:r>
            <a:r>
              <a:t> these populations and then </a:t>
            </a:r>
            <a:r>
              <a:rPr b="1"/>
              <a:t>estimate</a:t>
            </a:r>
            <a:r>
              <a:t> the quantities of interest.</a:t>
            </a:r>
          </a:p>
          <a:p>
            <a:pPr marL="0" lvl="0" indent="0">
              <a:buNone/>
            </a:pPr>
            <a:r>
              <a:t>If we take a </a:t>
            </a:r>
            <a:r>
              <a:rPr b="1"/>
              <a:t>random</a:t>
            </a:r>
            <a:r>
              <a:t> sample (or more generally a </a:t>
            </a:r>
            <a:r>
              <a:rPr i="1"/>
              <a:t>probability sample</a:t>
            </a:r>
            <a:r>
              <a:t>), we can then do formal </a:t>
            </a:r>
            <a:r>
              <a:rPr b="1"/>
              <a:t>statistical inference</a:t>
            </a:r>
            <a:r>
              <a:t> on these estimates.</a:t>
            </a:r>
          </a:p>
          <a:p>
            <a:pPr marL="0" lvl="0" indent="0">
              <a:buNone/>
            </a:pPr>
            <a14:m xmlns:a14="http://schemas.microsoft.com/office/drawing/2010/main">
              <m:oMathPara xmlns:m="http://schemas.openxmlformats.org/officeDocument/2006/math">
                <m:oMathParaPr>
                  <m:jc m:val="center"/>
                </m:oMathParaPr>
                <m:oMath xmlns:m="http://schemas.openxmlformats.org/officeDocument/2006/math">
                  <m:r>
                    <a:rPr>
                      <a:latin typeface="Cambria Math" panose="02040503050406030204" pitchFamily="18" charset="0"/>
                    </a:rPr>
                    <m:t> </m:t>
                  </m:r>
                </m:oMath>
              </m:oMathPara>
            </a14:m>
            <a:endParaRPr/>
          </a:p>
          <a:p>
            <a:pPr marL="0" lvl="0" indent="0">
              <a:buNone/>
            </a:pPr>
            <a:r>
              <a:t>In this lecture, we will cover 2 basic concepts of statistical inference:</a:t>
            </a:r>
          </a:p>
          <a:p>
            <a:pPr marL="457200" lvl="0" indent="-457200">
              <a:buAutoNum type="arabicPeriod"/>
            </a:pPr>
            <a:r>
              <a:t>Parameter estimation.</a:t>
            </a:r>
          </a:p>
          <a:p>
            <a:pPr marL="457200" lvl="0" indent="-457200">
              <a:buAutoNum type="arabicPeriod"/>
            </a:pPr>
            <a:r>
              <a:t>Testing a hypothesis.</a:t>
            </a:r>
          </a:p>
          <a:p>
            <a:pPr marL="0" lvl="0" indent="0">
              <a:buNone/>
            </a:pPr>
            <a:r>
              <a:t>Further, we will look at one aspect of planning a study to either estimate a parameter or test a hypothesis: we will see how to calculate how large a sample we need to take to be able to do </a:t>
            </a:r>
            <a:r>
              <a:rPr i="1"/>
              <a:t>meaningful</a:t>
            </a:r>
            <a:r>
              <a:t> inference.</a:t>
            </a:r>
          </a:p>
        </p:txBody>
      </p:sp>
      <p:sp>
        <p:nvSpPr>
          <p:cNvPr id="6" name="Slide Number Placeholder 5">
            <a:extLst>
              <a:ext uri="{FF2B5EF4-FFF2-40B4-BE49-F238E27FC236}">
                <a16:creationId xmlns:a16="http://schemas.microsoft.com/office/drawing/2014/main" id="{C03F998A-2A5E-471F-9FEB-2559B0A7F93D}"/>
              </a:ext>
            </a:extLst>
          </p:cNvPr>
          <p:cNvSpPr>
            <a:spLocks noGrp="1"/>
          </p:cNvSpPr>
          <p:nvPr>
            <p:ph type="sldNum" sz="quarter" idx="12"/>
          </p:nvPr>
        </p:nvSpPr>
        <p:spPr/>
        <p:txBody>
          <a:bodyPr/>
          <a:lstStyle/>
          <a:p>
            <a:fld id="{E1C5CB42-CF14-4293-8971-6DCD1AAE8BE7}" type="slidenum">
              <a:rPr lang="en-GB" smtClean="0"/>
              <a:t>10</a:t>
            </a:fld>
            <a:endParaRPr lang="en-GB"/>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marL="0" lvl="0" indent="0">
              <a:buNone/>
            </a:pPr>
            <a:r>
              <a:t>Estimating a proportion</a:t>
            </a:r>
          </a:p>
        </p:txBody>
      </p:sp>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p:txBody>
          <a:bodyPr/>
          <a:lstStyle/>
          <a:p>
            <a:pPr marL="0" lvl="0" indent="0">
              <a:buNone/>
            </a:pPr>
            <a:r>
              <a:t>In the entire population, of size </a:t>
            </a:r>
            <a14:m xmlns:a14="http://schemas.microsoft.com/office/drawing/2010/main">
              <m:oMath xmlns:m="http://schemas.openxmlformats.org/officeDocument/2006/math">
                <m:r>
                  <a:rPr>
                    <a:latin typeface="Cambria Math" panose="02040503050406030204" pitchFamily="18" charset="0"/>
                  </a:rPr>
                  <m:t>𝑁</m:t>
                </m:r>
              </m:oMath>
            </a14:m>
            <a:r>
              <a:t>, there will be </a:t>
            </a:r>
            <a14:m xmlns:a14="http://schemas.microsoft.com/office/drawing/2010/main">
              <m:oMath xmlns:m="http://schemas.openxmlformats.org/officeDocument/2006/math">
                <m:r>
                  <a:rPr>
                    <a:latin typeface="Cambria Math" panose="02040503050406030204" pitchFamily="18" charset="0"/>
                  </a:rPr>
                  <m:t>𝐾</m:t>
                </m:r>
              </m:oMath>
            </a14:m>
            <a:r>
              <a:t> individuals who have a condition of interest. The exact proportion of people with the condition is </a:t>
            </a:r>
            <a14:m xmlns:a14="http://schemas.microsoft.com/office/drawing/2010/main">
              <m:oMath xmlns:m="http://schemas.openxmlformats.org/officeDocument/2006/math">
                <m:r>
                  <a:rPr>
                    <a:latin typeface="Cambria Math" panose="02040503050406030204" pitchFamily="18" charset="0"/>
                  </a:rPr>
                  <m:t>𝜋</m:t>
                </m:r>
                <m:r>
                  <a:rPr>
                    <a:latin typeface="Cambria Math" panose="02040503050406030204" pitchFamily="18" charset="0"/>
                  </a:rPr>
                  <m:t>=</m:t>
                </m:r>
                <m:r>
                  <a:rPr>
                    <a:latin typeface="Cambria Math" panose="02040503050406030204" pitchFamily="18" charset="0"/>
                  </a:rPr>
                  <m:t>𝐾</m:t>
                </m:r>
                <m:r>
                  <a:rPr>
                    <a:latin typeface="Cambria Math" panose="02040503050406030204" pitchFamily="18" charset="0"/>
                  </a:rPr>
                  <m:t>/</m:t>
                </m:r>
                <m:r>
                  <a:rPr>
                    <a:latin typeface="Cambria Math" panose="02040503050406030204" pitchFamily="18" charset="0"/>
                  </a:rPr>
                  <m:t>𝑁</m:t>
                </m:r>
              </m:oMath>
            </a14:m>
            <a:r>
              <a:t>. There is no need for a measure of uncertainty / confidence interval here, as this is for the </a:t>
            </a:r>
            <a:r>
              <a:rPr i="1"/>
              <a:t>entire</a:t>
            </a:r>
            <a:r>
              <a:t> population.</a:t>
            </a:r>
          </a:p>
          <a:p>
            <a:pPr marL="0" lvl="0" indent="0">
              <a:buNone/>
            </a:pPr>
            <a:r>
              <a:t>If we only sample a subset, of size </a:t>
            </a:r>
            <a14:m xmlns:a14="http://schemas.microsoft.com/office/drawing/2010/main">
              <m:oMath xmlns:m="http://schemas.openxmlformats.org/officeDocument/2006/math">
                <m:r>
                  <a:rPr>
                    <a:latin typeface="Cambria Math" panose="02040503050406030204" pitchFamily="18" charset="0"/>
                  </a:rPr>
                  <m:t>𝑛</m:t>
                </m:r>
              </m:oMath>
            </a14:m>
            <a:r>
              <a:t>, of the total population, then we need to estimate the proportion.</a:t>
            </a:r>
          </a:p>
          <a:p>
            <a:pPr marL="0" lvl="0" indent="0">
              <a:buNone/>
            </a:pPr>
            <a:r>
              <a:t>We can define a random variable </a:t>
            </a:r>
            <a14:m xmlns:a14="http://schemas.microsoft.com/office/drawing/2010/main">
              <m:oMath xmlns:m="http://schemas.openxmlformats.org/officeDocument/2006/math">
                <m:r>
                  <a:rPr>
                    <a:latin typeface="Cambria Math" panose="02040503050406030204" pitchFamily="18" charset="0"/>
                  </a:rPr>
                  <m:t>𝑋</m:t>
                </m:r>
              </m:oMath>
            </a14:m>
            <a:r>
              <a:t> to record whether or not a study participant experienced an outcome of interest. The </a:t>
            </a:r>
            <a14:m xmlns:a14="http://schemas.microsoft.com/office/drawing/2010/main">
              <m:oMath xmlns:m="http://schemas.openxmlformats.org/officeDocument/2006/math">
                <m:sSup>
                  <m:sSupPr>
                    <m:ctrlPr>
                      <a:rPr>
                        <a:latin typeface="Cambria Math" panose="02040503050406030204" pitchFamily="18" charset="0"/>
                      </a:rPr>
                    </m:ctrlPr>
                  </m:sSupPr>
                  <m:e>
                    <m:r>
                      <a:rPr>
                        <a:latin typeface="Cambria Math" panose="02040503050406030204" pitchFamily="18" charset="0"/>
                      </a:rPr>
                      <m:t>𝑖</m:t>
                    </m:r>
                  </m:e>
                  <m:sup>
                    <m:r>
                      <a:rPr>
                        <a:latin typeface="Cambria Math" panose="02040503050406030204" pitchFamily="18" charset="0"/>
                      </a:rPr>
                      <m:t>𝑡h</m:t>
                    </m:r>
                  </m:sup>
                </m:sSup>
              </m:oMath>
            </a14:m>
            <a:r>
              <a:t> participant either experiences the event (</a:t>
            </a:r>
            <a14:m xmlns:a14="http://schemas.microsoft.com/office/drawing/2010/main">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𝑋</m:t>
                    </m:r>
                  </m:e>
                  <m:sub>
                    <m:r>
                      <a:rPr>
                        <a:latin typeface="Cambria Math" panose="02040503050406030204" pitchFamily="18" charset="0"/>
                      </a:rPr>
                      <m:t>𝑖</m:t>
                    </m:r>
                  </m:sub>
                </m:sSub>
                <m:r>
                  <a:rPr>
                    <a:latin typeface="Cambria Math" panose="02040503050406030204" pitchFamily="18" charset="0"/>
                  </a:rPr>
                  <m:t>=1</m:t>
                </m:r>
              </m:oMath>
            </a14:m>
            <a:r>
              <a:t>) or not (</a:t>
            </a:r>
            <a14:m xmlns:a14="http://schemas.microsoft.com/office/drawing/2010/main">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𝑋</m:t>
                    </m:r>
                  </m:e>
                  <m:sub>
                    <m:r>
                      <a:rPr>
                        <a:latin typeface="Cambria Math" panose="02040503050406030204" pitchFamily="18" charset="0"/>
                      </a:rPr>
                      <m:t>𝑖</m:t>
                    </m:r>
                  </m:sub>
                </m:sSub>
                <m:r>
                  <a:rPr>
                    <a:latin typeface="Cambria Math" panose="02040503050406030204" pitchFamily="18" charset="0"/>
                  </a:rPr>
                  <m:t>=0</m:t>
                </m:r>
              </m:oMath>
            </a14:m>
            <a:r>
              <a:t>). We know that </a:t>
            </a:r>
            <a14:m xmlns:a14="http://schemas.microsoft.com/office/drawing/2010/main">
              <m:oMath xmlns:m="http://schemas.openxmlformats.org/officeDocument/2006/math">
                <m:r>
                  <a:rPr>
                    <a:latin typeface="Cambria Math" panose="02040503050406030204" pitchFamily="18" charset="0"/>
                  </a:rPr>
                  <m:t>𝑋</m:t>
                </m:r>
                <m:r>
                  <a:rPr>
                    <a:latin typeface="Cambria Math" panose="02040503050406030204" pitchFamily="18" charset="0"/>
                  </a:rPr>
                  <m:t>∼</m:t>
                </m:r>
                <m:r>
                  <m:rPr>
                    <m:nor/>
                  </m:rPr>
                  <a:rPr/>
                  <m:t>Bernoulli</m:t>
                </m:r>
                <m:d>
                  <m:dPr>
                    <m:ctrlPr>
                      <a:rPr i="1">
                        <a:latin typeface="Cambria Math" panose="02040503050406030204" pitchFamily="18" charset="0"/>
                      </a:rPr>
                    </m:ctrlPr>
                  </m:dPr>
                  <m:e>
                    <m:r>
                      <a:rPr>
                        <a:latin typeface="Cambria Math" panose="02040503050406030204" pitchFamily="18" charset="0"/>
                      </a:rPr>
                      <m:t>𝜋</m:t>
                    </m:r>
                  </m:e>
                </m:d>
              </m:oMath>
            </a14:m>
            <a:r>
              <a:t>.</a:t>
            </a:r>
          </a:p>
          <a:p>
            <a:pPr marL="0" lvl="0" indent="0">
              <a:buNone/>
            </a:pPr>
            <a:r>
              <a:t>The </a:t>
            </a:r>
            <a:r>
              <a:rPr b="1"/>
              <a:t>estimator</a:t>
            </a:r>
            <a:r>
              <a:t> for the sample estimate of the proportion </a:t>
            </a:r>
            <a14:m xmlns:a14="http://schemas.microsoft.com/office/drawing/2010/main">
              <m:oMath xmlns:m="http://schemas.openxmlformats.org/officeDocument/2006/math">
                <m:r>
                  <a:rPr>
                    <a:latin typeface="Cambria Math" panose="02040503050406030204" pitchFamily="18" charset="0"/>
                  </a:rPr>
                  <m:t>𝜋</m:t>
                </m:r>
              </m:oMath>
            </a14:m>
            <a:r>
              <a:t>, which we denote by </a:t>
            </a:r>
            <a14:m xmlns:a14="http://schemas.microsoft.com/office/drawing/2010/main">
              <m:oMath xmlns:m="http://schemas.openxmlformats.org/officeDocument/2006/math">
                <m:acc>
                  <m:accPr>
                    <m:chr m:val="̂"/>
                    <m:ctrlPr>
                      <a:rPr>
                        <a:latin typeface="Cambria Math" panose="02040503050406030204" pitchFamily="18" charset="0"/>
                      </a:rPr>
                    </m:ctrlPr>
                  </m:accPr>
                  <m:e>
                    <m:r>
                      <a:rPr>
                        <a:latin typeface="Cambria Math" panose="02040503050406030204" pitchFamily="18" charset="0"/>
                      </a:rPr>
                      <m:t>𝜋</m:t>
                    </m:r>
                  </m:e>
                </m:acc>
              </m:oMath>
            </a14:m>
            <a:r>
              <a:t>, is then:</a:t>
            </a:r>
          </a:p>
          <a:p>
            <a:pPr marL="0" lvl="0" indent="0">
              <a:buNone/>
            </a:pPr>
            <a14:m xmlns:a14="http://schemas.microsoft.com/office/drawing/2010/main">
              <m:oMathPara xmlns:m="http://schemas.openxmlformats.org/officeDocument/2006/math">
                <m:oMathParaPr>
                  <m:jc m:val="center"/>
                </m:oMathParaPr>
                <m:oMath xmlns:m="http://schemas.openxmlformats.org/officeDocument/2006/math">
                  <m:r>
                    <a:rPr>
                      <a:latin typeface="Cambria Math" panose="02040503050406030204" pitchFamily="18" charset="0"/>
                    </a:rPr>
                    <m:t> </m:t>
                  </m:r>
                </m:oMath>
              </m:oMathPara>
            </a14:m>
            <a:endParaRPr/>
          </a:p>
          <a:p>
            <a:pPr marL="0" lvl="0" indent="0">
              <a:buNone/>
            </a:pPr>
            <a14:m xmlns:a14="http://schemas.microsoft.com/office/drawing/2010/main">
              <m:oMathPara xmlns:m="http://schemas.openxmlformats.org/officeDocument/2006/math">
                <m:oMathParaPr>
                  <m:jc m:val="center"/>
                </m:oMathParaPr>
                <m:oMath xmlns:m="http://schemas.openxmlformats.org/officeDocument/2006/math">
                  <m:acc>
                    <m:accPr>
                      <m:chr m:val="̂"/>
                      <m:ctrlPr>
                        <a:rPr>
                          <a:latin typeface="Cambria Math" panose="02040503050406030204" pitchFamily="18" charset="0"/>
                        </a:rPr>
                      </m:ctrlPr>
                    </m:accPr>
                    <m:e>
                      <m:r>
                        <a:rPr>
                          <a:latin typeface="Cambria Math" panose="02040503050406030204" pitchFamily="18" charset="0"/>
                        </a:rPr>
                        <m:t>𝜋</m:t>
                      </m:r>
                    </m:e>
                  </m:acc>
                  <m:r>
                    <a:rPr>
                      <a:latin typeface="Cambria Math" panose="02040503050406030204" pitchFamily="18" charset="0"/>
                    </a:rPr>
                    <m:t>=</m:t>
                  </m:r>
                  <m:f>
                    <m:fPr>
                      <m:ctrlPr>
                        <a:rPr i="1">
                          <a:latin typeface="Cambria Math" panose="02040503050406030204" pitchFamily="18" charset="0"/>
                        </a:rPr>
                      </m:ctrlPr>
                    </m:fPr>
                    <m:num>
                      <m:nary>
                        <m:naryPr>
                          <m:chr m:val="∑"/>
                          <m:limLoc m:val="undOvr"/>
                          <m:ctrlPr>
                            <a:rPr i="1">
                              <a:latin typeface="Cambria Math" panose="02040503050406030204" pitchFamily="18" charset="0"/>
                            </a:rPr>
                          </m:ctrlPr>
                        </m:naryPr>
                        <m:sub>
                          <m:r>
                            <a:rPr>
                              <a:latin typeface="Cambria Math" panose="02040503050406030204" pitchFamily="18" charset="0"/>
                            </a:rPr>
                            <m:t>𝑖</m:t>
                          </m:r>
                          <m:r>
                            <a:rPr>
                              <a:latin typeface="Cambria Math" panose="02040503050406030204" pitchFamily="18" charset="0"/>
                            </a:rPr>
                            <m:t>=1</m:t>
                          </m:r>
                        </m:sub>
                        <m:sup>
                          <m:r>
                            <a:rPr>
                              <a:latin typeface="Cambria Math" panose="02040503050406030204" pitchFamily="18" charset="0"/>
                            </a:rPr>
                            <m:t>𝑛</m:t>
                          </m:r>
                        </m:sup>
                        <m:e>
                          <m:sSub>
                            <m:sSubPr>
                              <m:ctrlPr>
                                <a:rPr i="1">
                                  <a:latin typeface="Cambria Math" panose="02040503050406030204" pitchFamily="18" charset="0"/>
                                </a:rPr>
                              </m:ctrlPr>
                            </m:sSubPr>
                            <m:e>
                              <m:r>
                                <a:rPr>
                                  <a:latin typeface="Cambria Math" panose="02040503050406030204" pitchFamily="18" charset="0"/>
                                </a:rPr>
                                <m:t>𝑋</m:t>
                              </m:r>
                            </m:e>
                            <m:sub>
                              <m:r>
                                <a:rPr>
                                  <a:latin typeface="Cambria Math" panose="02040503050406030204" pitchFamily="18" charset="0"/>
                                </a:rPr>
                                <m:t>𝑖</m:t>
                              </m:r>
                            </m:sub>
                          </m:sSub>
                        </m:e>
                      </m:nary>
                    </m:num>
                    <m:den>
                      <m:r>
                        <a:rPr>
                          <a:latin typeface="Cambria Math" panose="02040503050406030204" pitchFamily="18" charset="0"/>
                        </a:rPr>
                        <m:t>𝑛</m:t>
                      </m:r>
                    </m:den>
                  </m:f>
                </m:oMath>
              </m:oMathPara>
            </a14:m>
            <a:endParaRPr/>
          </a:p>
        </p:txBody>
      </p:sp>
      <p:sp>
        <p:nvSpPr>
          <p:cNvPr id="6" name="Slide Number Placeholder 5">
            <a:extLst>
              <a:ext uri="{FF2B5EF4-FFF2-40B4-BE49-F238E27FC236}">
                <a16:creationId xmlns:a16="http://schemas.microsoft.com/office/drawing/2014/main" id="{C03F998A-2A5E-471F-9FEB-2559B0A7F93D}"/>
              </a:ext>
            </a:extLst>
          </p:cNvPr>
          <p:cNvSpPr>
            <a:spLocks noGrp="1"/>
          </p:cNvSpPr>
          <p:nvPr>
            <p:ph type="sldNum" sz="quarter" idx="12"/>
          </p:nvPr>
        </p:nvSpPr>
        <p:spPr/>
        <p:txBody>
          <a:bodyPr/>
          <a:lstStyle/>
          <a:p>
            <a:fld id="{E1C5CB42-CF14-4293-8971-6DCD1AAE8BE7}" type="slidenum">
              <a:rPr lang="en-GB" smtClean="0"/>
              <a:t>11</a:t>
            </a:fld>
            <a:endParaRPr lang="en-GB"/>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marL="0" lvl="0" indent="0">
              <a:buNone/>
            </a:pPr>
            <a:r>
              <a:t>Estimating a proportion</a:t>
            </a:r>
          </a:p>
        </p:txBody>
      </p:sp>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p:txBody>
          <a:bodyPr/>
          <a:lstStyle/>
          <a:p>
            <a:pPr marL="0" lvl="0" indent="0">
              <a:buNone/>
            </a:pPr>
            <a:r>
              <a:t>If </a:t>
            </a:r>
            <a14:m xmlns:a14="http://schemas.microsoft.com/office/drawing/2010/main">
              <m:oMath xmlns:m="http://schemas.openxmlformats.org/officeDocument/2006/math">
                <m:r>
                  <a:rPr>
                    <a:latin typeface="Cambria Math" panose="02040503050406030204" pitchFamily="18" charset="0"/>
                  </a:rPr>
                  <m:t>𝑛</m:t>
                </m:r>
              </m:oMath>
            </a14:m>
            <a:r>
              <a:t> is large enough, then as a result of the </a:t>
            </a:r>
            <a:r>
              <a:rPr i="1"/>
              <a:t>Central Limit Theorem</a:t>
            </a:r>
            <a:r>
              <a:t>, </a:t>
            </a:r>
            <a14:m xmlns:a14="http://schemas.microsoft.com/office/drawing/2010/main">
              <m:oMath xmlns:m="http://schemas.openxmlformats.org/officeDocument/2006/math">
                <m:acc>
                  <m:accPr>
                    <m:chr m:val="̂"/>
                    <m:ctrlPr>
                      <a:rPr>
                        <a:latin typeface="Cambria Math" panose="02040503050406030204" pitchFamily="18" charset="0"/>
                      </a:rPr>
                    </m:ctrlPr>
                  </m:accPr>
                  <m:e>
                    <m:r>
                      <a:rPr>
                        <a:latin typeface="Cambria Math" panose="02040503050406030204" pitchFamily="18" charset="0"/>
                      </a:rPr>
                      <m:t>𝜋</m:t>
                    </m:r>
                  </m:e>
                </m:acc>
              </m:oMath>
            </a14:m>
            <a:r>
              <a:t> will have an approximate normal distribution with variance </a:t>
            </a:r>
            <a14:m xmlns:a14="http://schemas.microsoft.com/office/drawing/2010/main">
              <m:oMath xmlns:m="http://schemas.openxmlformats.org/officeDocument/2006/math">
                <m:sSup>
                  <m:sSupPr>
                    <m:ctrlPr>
                      <a:rPr>
                        <a:latin typeface="Cambria Math" panose="02040503050406030204" pitchFamily="18" charset="0"/>
                      </a:rPr>
                    </m:ctrlPr>
                  </m:sSupPr>
                  <m:e>
                    <m:r>
                      <a:rPr>
                        <a:latin typeface="Cambria Math" panose="02040503050406030204" pitchFamily="18" charset="0"/>
                      </a:rPr>
                      <m:t>𝜎</m:t>
                    </m:r>
                  </m:e>
                  <m:sup>
                    <m:r>
                      <a:rPr>
                        <a:latin typeface="Cambria Math" panose="02040503050406030204" pitchFamily="18" charset="0"/>
                      </a:rPr>
                      <m:t>2</m:t>
                    </m:r>
                  </m:sup>
                </m:sSup>
                <m:r>
                  <a:rPr>
                    <a:latin typeface="Cambria Math" panose="02040503050406030204" pitchFamily="18" charset="0"/>
                  </a:rPr>
                  <m:t>=</m:t>
                </m:r>
                <m:acc>
                  <m:accPr>
                    <m:chr m:val="̂"/>
                    <m:ctrlPr>
                      <a:rPr i="1">
                        <a:latin typeface="Cambria Math" panose="02040503050406030204" pitchFamily="18" charset="0"/>
                      </a:rPr>
                    </m:ctrlPr>
                  </m:accPr>
                  <m:e>
                    <m:r>
                      <a:rPr>
                        <a:latin typeface="Cambria Math" panose="02040503050406030204" pitchFamily="18" charset="0"/>
                      </a:rPr>
                      <m:t>𝜋</m:t>
                    </m:r>
                  </m:e>
                </m:acc>
                <m:r>
                  <a:rPr>
                    <a:latin typeface="Cambria Math" panose="02040503050406030204" pitchFamily="18" charset="0"/>
                  </a:rPr>
                  <m:t>⋅</m:t>
                </m:r>
                <m:d>
                  <m:dPr>
                    <m:ctrlPr>
                      <a:rPr i="1">
                        <a:latin typeface="Cambria Math" panose="02040503050406030204" pitchFamily="18" charset="0"/>
                      </a:rPr>
                    </m:ctrlPr>
                  </m:dPr>
                  <m:e>
                    <m:r>
                      <a:rPr>
                        <a:latin typeface="Cambria Math" panose="02040503050406030204" pitchFamily="18" charset="0"/>
                      </a:rPr>
                      <m:t>1−</m:t>
                    </m:r>
                    <m:acc>
                      <m:accPr>
                        <m:chr m:val="̂"/>
                        <m:ctrlPr>
                          <a:rPr i="1">
                            <a:latin typeface="Cambria Math" panose="02040503050406030204" pitchFamily="18" charset="0"/>
                          </a:rPr>
                        </m:ctrlPr>
                      </m:accPr>
                      <m:e>
                        <m:r>
                          <a:rPr>
                            <a:latin typeface="Cambria Math" panose="02040503050406030204" pitchFamily="18" charset="0"/>
                          </a:rPr>
                          <m:t>𝜋</m:t>
                        </m:r>
                      </m:e>
                    </m:acc>
                  </m:e>
                </m:d>
                <m:r>
                  <a:rPr>
                    <a:latin typeface="Cambria Math" panose="02040503050406030204" pitchFamily="18" charset="0"/>
                  </a:rPr>
                  <m:t>/</m:t>
                </m:r>
                <m:r>
                  <a:rPr>
                    <a:latin typeface="Cambria Math" panose="02040503050406030204" pitchFamily="18" charset="0"/>
                  </a:rPr>
                  <m:t>𝑛</m:t>
                </m:r>
              </m:oMath>
            </a14:m>
            <a:r>
              <a:t>.</a:t>
            </a:r>
          </a:p>
          <a:p>
            <a:pPr marL="0" lvl="0" indent="0">
              <a:buNone/>
            </a:pPr>
            <a:r>
              <a:t>A </a:t>
            </a:r>
            <a:r>
              <a:rPr b="1"/>
              <a:t>95% confidence interval</a:t>
            </a:r>
            <a:r>
              <a:t> is given by:</a:t>
            </a:r>
          </a:p>
          <a:p>
            <a:pPr marL="0" lvl="0" indent="0">
              <a:buNone/>
            </a:pPr>
            <a14:m xmlns:a14="http://schemas.microsoft.com/office/drawing/2010/main">
              <m:oMathPara xmlns:m="http://schemas.openxmlformats.org/officeDocument/2006/math">
                <m:oMathParaPr>
                  <m:jc m:val="center"/>
                </m:oMathParaPr>
                <m:oMath xmlns:m="http://schemas.openxmlformats.org/officeDocument/2006/math">
                  <m:acc>
                    <m:accPr>
                      <m:chr m:val="̂"/>
                      <m:ctrlPr>
                        <a:rPr>
                          <a:latin typeface="Cambria Math" panose="02040503050406030204" pitchFamily="18" charset="0"/>
                        </a:rPr>
                      </m:ctrlPr>
                    </m:accPr>
                    <m:e>
                      <m:r>
                        <a:rPr>
                          <a:latin typeface="Cambria Math" panose="02040503050406030204" pitchFamily="18" charset="0"/>
                        </a:rPr>
                        <m:t>𝜋</m:t>
                      </m:r>
                    </m:e>
                  </m:acc>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𝑧</m:t>
                      </m:r>
                    </m:e>
                    <m:sub>
                      <m:r>
                        <a:rPr>
                          <a:latin typeface="Cambria Math" panose="02040503050406030204" pitchFamily="18" charset="0"/>
                        </a:rPr>
                        <m:t>1−</m:t>
                      </m:r>
                      <m:r>
                        <a:rPr>
                          <a:latin typeface="Cambria Math" panose="02040503050406030204" pitchFamily="18" charset="0"/>
                        </a:rPr>
                        <m:t>𝛼</m:t>
                      </m:r>
                      <m:r>
                        <a:rPr>
                          <a:latin typeface="Cambria Math" panose="02040503050406030204" pitchFamily="18" charset="0"/>
                        </a:rPr>
                        <m:t>/2</m:t>
                      </m:r>
                    </m:sub>
                  </m:sSub>
                  <m:r>
                    <a:rPr>
                      <a:latin typeface="Cambria Math" panose="02040503050406030204" pitchFamily="18" charset="0"/>
                    </a:rPr>
                    <m:t>⋅</m:t>
                  </m:r>
                  <m:r>
                    <a:rPr>
                      <a:latin typeface="Cambria Math" panose="02040503050406030204" pitchFamily="18" charset="0"/>
                    </a:rPr>
                    <m:t>𝜎</m:t>
                  </m:r>
                  <m:r>
                    <a:rPr>
                      <a:latin typeface="Cambria Math" panose="02040503050406030204" pitchFamily="18" charset="0"/>
                    </a:rPr>
                    <m:t>=</m:t>
                  </m:r>
                  <m:acc>
                    <m:accPr>
                      <m:chr m:val="̂"/>
                      <m:ctrlPr>
                        <a:rPr i="1">
                          <a:latin typeface="Cambria Math" panose="02040503050406030204" pitchFamily="18" charset="0"/>
                        </a:rPr>
                      </m:ctrlPr>
                    </m:accPr>
                    <m:e>
                      <m:r>
                        <a:rPr>
                          <a:latin typeface="Cambria Math" panose="02040503050406030204" pitchFamily="18" charset="0"/>
                        </a:rPr>
                        <m:t>𝜋</m:t>
                      </m:r>
                    </m:e>
                  </m:acc>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𝑧</m:t>
                      </m:r>
                    </m:e>
                    <m:sub>
                      <m:r>
                        <a:rPr>
                          <a:latin typeface="Cambria Math" panose="02040503050406030204" pitchFamily="18" charset="0"/>
                        </a:rPr>
                        <m:t>1−</m:t>
                      </m:r>
                      <m:r>
                        <a:rPr>
                          <a:latin typeface="Cambria Math" panose="02040503050406030204" pitchFamily="18" charset="0"/>
                        </a:rPr>
                        <m:t>𝛼</m:t>
                      </m:r>
                      <m:r>
                        <a:rPr>
                          <a:latin typeface="Cambria Math" panose="02040503050406030204" pitchFamily="18" charset="0"/>
                        </a:rPr>
                        <m:t>/2</m:t>
                      </m:r>
                    </m:sub>
                  </m:sSub>
                  <m:r>
                    <a:rPr>
                      <a:latin typeface="Cambria Math" panose="02040503050406030204" pitchFamily="18" charset="0"/>
                    </a:rPr>
                    <m:t>⋅</m:t>
                  </m:r>
                  <m:rad>
                    <m:radPr>
                      <m:degHide m:val="on"/>
                      <m:ctrlPr>
                        <a:rPr i="1">
                          <a:latin typeface="Cambria Math" panose="02040503050406030204" pitchFamily="18" charset="0"/>
                        </a:rPr>
                      </m:ctrlPr>
                    </m:radPr>
                    <m:deg/>
                    <m:e>
                      <m:f>
                        <m:fPr>
                          <m:ctrlPr>
                            <a:rPr i="1">
                              <a:latin typeface="Cambria Math" panose="02040503050406030204" pitchFamily="18" charset="0"/>
                            </a:rPr>
                          </m:ctrlPr>
                        </m:fPr>
                        <m:num>
                          <m:acc>
                            <m:accPr>
                              <m:chr m:val="̂"/>
                              <m:ctrlPr>
                                <a:rPr i="1">
                                  <a:latin typeface="Cambria Math" panose="02040503050406030204" pitchFamily="18" charset="0"/>
                                </a:rPr>
                              </m:ctrlPr>
                            </m:accPr>
                            <m:e>
                              <m:r>
                                <a:rPr>
                                  <a:latin typeface="Cambria Math" panose="02040503050406030204" pitchFamily="18" charset="0"/>
                                </a:rPr>
                                <m:t>𝜋</m:t>
                              </m:r>
                            </m:e>
                          </m:acc>
                          <m:r>
                            <a:rPr>
                              <a:latin typeface="Cambria Math" panose="02040503050406030204" pitchFamily="18" charset="0"/>
                            </a:rPr>
                            <m:t>⋅</m:t>
                          </m:r>
                          <m:d>
                            <m:dPr>
                              <m:ctrlPr>
                                <a:rPr i="1">
                                  <a:latin typeface="Cambria Math" panose="02040503050406030204" pitchFamily="18" charset="0"/>
                                </a:rPr>
                              </m:ctrlPr>
                            </m:dPr>
                            <m:e>
                              <m:r>
                                <a:rPr>
                                  <a:latin typeface="Cambria Math" panose="02040503050406030204" pitchFamily="18" charset="0"/>
                                </a:rPr>
                                <m:t>1−</m:t>
                              </m:r>
                              <m:acc>
                                <m:accPr>
                                  <m:chr m:val="̂"/>
                                  <m:ctrlPr>
                                    <a:rPr i="1">
                                      <a:latin typeface="Cambria Math" panose="02040503050406030204" pitchFamily="18" charset="0"/>
                                    </a:rPr>
                                  </m:ctrlPr>
                                </m:accPr>
                                <m:e>
                                  <m:r>
                                    <a:rPr>
                                      <a:latin typeface="Cambria Math" panose="02040503050406030204" pitchFamily="18" charset="0"/>
                                    </a:rPr>
                                    <m:t>𝜋</m:t>
                                  </m:r>
                                </m:e>
                              </m:acc>
                            </m:e>
                          </m:d>
                        </m:num>
                        <m:den>
                          <m:r>
                            <a:rPr>
                              <a:latin typeface="Cambria Math" panose="02040503050406030204" pitchFamily="18" charset="0"/>
                            </a:rPr>
                            <m:t>𝑛</m:t>
                          </m:r>
                        </m:den>
                      </m:f>
                    </m:e>
                  </m:rad>
                </m:oMath>
              </m:oMathPara>
            </a14:m>
            <a:endParaRPr/>
          </a:p>
          <a:p>
            <a:pPr marL="0" lvl="0" indent="0">
              <a:buNone/>
            </a:pPr>
            <a:r>
              <a:t>where </a:t>
            </a:r>
            <a14:m xmlns:a14="http://schemas.microsoft.com/office/drawing/2010/main">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𝑧</m:t>
                    </m:r>
                  </m:e>
                  <m:sub>
                    <m:r>
                      <a:rPr>
                        <a:latin typeface="Cambria Math" panose="02040503050406030204" pitchFamily="18" charset="0"/>
                      </a:rPr>
                      <m:t>1−</m:t>
                    </m:r>
                    <m:r>
                      <a:rPr>
                        <a:latin typeface="Cambria Math" panose="02040503050406030204" pitchFamily="18" charset="0"/>
                      </a:rPr>
                      <m:t>𝛼</m:t>
                    </m:r>
                    <m:r>
                      <a:rPr>
                        <a:latin typeface="Cambria Math" panose="02040503050406030204" pitchFamily="18" charset="0"/>
                      </a:rPr>
                      <m:t>/2</m:t>
                    </m:r>
                  </m:sub>
                </m:sSub>
              </m:oMath>
            </a14:m>
            <a:r>
              <a:t> is a quantile from the standard normal distribution. For a 95% confidence interval, </a:t>
            </a:r>
            <a14:m xmlns:a14="http://schemas.microsoft.com/office/drawing/2010/main">
              <m:oMath xmlns:m="http://schemas.openxmlformats.org/officeDocument/2006/math">
                <m:r>
                  <a:rPr>
                    <a:latin typeface="Cambria Math" panose="02040503050406030204" pitchFamily="18" charset="0"/>
                  </a:rPr>
                  <m:t>𝛼</m:t>
                </m:r>
                <m:r>
                  <a:rPr>
                    <a:latin typeface="Cambria Math" panose="02040503050406030204" pitchFamily="18" charset="0"/>
                  </a:rPr>
                  <m:t>=0.05</m:t>
                </m:r>
              </m:oMath>
            </a14:m>
            <a:r>
              <a:t> and </a:t>
            </a:r>
            <a14:m xmlns:a14="http://schemas.microsoft.com/office/drawing/2010/main">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𝑧</m:t>
                    </m:r>
                  </m:e>
                  <m:sub>
                    <m:r>
                      <a:rPr>
                        <a:latin typeface="Cambria Math" panose="02040503050406030204" pitchFamily="18" charset="0"/>
                      </a:rPr>
                      <m:t>1−</m:t>
                    </m:r>
                    <m:r>
                      <a:rPr>
                        <a:latin typeface="Cambria Math" panose="02040503050406030204" pitchFamily="18" charset="0"/>
                      </a:rPr>
                      <m:t>𝛼</m:t>
                    </m:r>
                    <m:r>
                      <a:rPr>
                        <a:latin typeface="Cambria Math" panose="02040503050406030204" pitchFamily="18" charset="0"/>
                      </a:rPr>
                      <m:t>/2</m:t>
                    </m:r>
                  </m:sub>
                </m:sSub>
                <m:r>
                  <a:rPr>
                    <a:latin typeface="Cambria Math" panose="02040503050406030204" pitchFamily="18" charset="0"/>
                  </a:rPr>
                  <m:t>≃1.96</m:t>
                </m:r>
              </m:oMath>
            </a14:m>
            <a:r>
              <a:t>.</a:t>
            </a:r>
          </a:p>
          <a:p>
            <a:pPr marL="0" lvl="0" indent="0">
              <a:buNone/>
            </a:pPr>
            <a:r>
              <a:t>This confidence interval is only </a:t>
            </a:r>
            <a:r>
              <a:rPr i="1"/>
              <a:t>approximate</a:t>
            </a:r>
            <a:r>
              <a:t> (as it uses a normal approximation to the binomial distribution) and is called the </a:t>
            </a:r>
            <a:r>
              <a:rPr i="1"/>
              <a:t>Wald interval</a:t>
            </a:r>
            <a:r>
              <a:t>.</a:t>
            </a:r>
          </a:p>
          <a:p>
            <a:pPr marL="0" lvl="0" indent="0">
              <a:buNone/>
            </a:pPr>
            <a:r>
              <a:t>A better, exact approach is to compute exact binomial intervals (for which the equations are much more complicated). In R we would use the function </a:t>
            </a:r>
            <a:r>
              <a:rPr>
                <a:latin typeface="Courier"/>
              </a:rPr>
              <a:t>binom.test()</a:t>
            </a:r>
            <a:r>
              <a:t> to compute these exact intervals.</a:t>
            </a:r>
          </a:p>
        </p:txBody>
      </p:sp>
      <p:sp>
        <p:nvSpPr>
          <p:cNvPr id="6" name="Slide Number Placeholder 5">
            <a:extLst>
              <a:ext uri="{FF2B5EF4-FFF2-40B4-BE49-F238E27FC236}">
                <a16:creationId xmlns:a16="http://schemas.microsoft.com/office/drawing/2014/main" id="{C03F998A-2A5E-471F-9FEB-2559B0A7F93D}"/>
              </a:ext>
            </a:extLst>
          </p:cNvPr>
          <p:cNvSpPr>
            <a:spLocks noGrp="1"/>
          </p:cNvSpPr>
          <p:nvPr>
            <p:ph type="sldNum" sz="quarter" idx="12"/>
          </p:nvPr>
        </p:nvSpPr>
        <p:spPr/>
        <p:txBody>
          <a:bodyPr/>
          <a:lstStyle/>
          <a:p>
            <a:fld id="{E1C5CB42-CF14-4293-8971-6DCD1AAE8BE7}" type="slidenum">
              <a:rPr lang="en-GB" smtClean="0"/>
              <a:t>12</a:t>
            </a:fld>
            <a:endParaRPr lang="en-GB"/>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marL="0" lvl="0" indent="0">
              <a:buNone/>
            </a:pPr>
            <a:r>
              <a:t>Estimating a proportion</a:t>
            </a:r>
          </a:p>
        </p:txBody>
      </p:sp>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p:txBody>
          <a:bodyPr/>
          <a:lstStyle/>
          <a:p>
            <a:pPr marL="0" lvl="0" indent="0">
              <a:buNone/>
            </a:pPr>
            <a:r>
              <a:rPr b="1"/>
              <a:t>Exercise</a:t>
            </a:r>
          </a:p>
          <a:p>
            <a:pPr marL="0" lvl="0" indent="0">
              <a:buNone/>
            </a:pPr>
            <a:r>
              <a:t>You recruited </a:t>
            </a:r>
            <a14:m xmlns:a14="http://schemas.microsoft.com/office/drawing/2010/main">
              <m:oMath xmlns:m="http://schemas.openxmlformats.org/officeDocument/2006/math">
                <m:r>
                  <a:rPr>
                    <a:latin typeface="Cambria Math" panose="02040503050406030204" pitchFamily="18" charset="0"/>
                  </a:rPr>
                  <m:t>𝑛</m:t>
                </m:r>
                <m:r>
                  <a:rPr>
                    <a:latin typeface="Cambria Math" panose="02040503050406030204" pitchFamily="18" charset="0"/>
                  </a:rPr>
                  <m:t>=422</m:t>
                </m:r>
              </m:oMath>
            </a14:m>
            <a:r>
              <a:t> participants to a study investigating the prevalence of HIV among young adults aged 18-30 in Blantyre, Malawi. </a:t>
            </a:r>
            <a14:m xmlns:a14="http://schemas.microsoft.com/office/drawing/2010/main">
              <m:oMath xmlns:m="http://schemas.openxmlformats.org/officeDocument/2006/math">
                <m:r>
                  <a:rPr>
                    <a:latin typeface="Cambria Math" panose="02040503050406030204" pitchFamily="18" charset="0"/>
                  </a:rPr>
                  <m:t>𝑘</m:t>
                </m:r>
                <m:r>
                  <a:rPr>
                    <a:latin typeface="Cambria Math" panose="02040503050406030204" pitchFamily="18" charset="0"/>
                  </a:rPr>
                  <m:t>=38</m:t>
                </m:r>
              </m:oMath>
            </a14:m>
            <a:r>
              <a:t> of your recruited participants had a positive rapid diagnostic test.</a:t>
            </a:r>
          </a:p>
          <a:p>
            <a:pPr marL="0" lvl="0" indent="0">
              <a:buNone/>
            </a:pPr>
            <a14:m xmlns:a14="http://schemas.microsoft.com/office/drawing/2010/main">
              <m:oMathPara xmlns:m="http://schemas.openxmlformats.org/officeDocument/2006/math">
                <m:oMathParaPr>
                  <m:jc m:val="center"/>
                </m:oMathParaPr>
                <m:oMath xmlns:m="http://schemas.openxmlformats.org/officeDocument/2006/math">
                  <m:r>
                    <a:rPr>
                      <a:latin typeface="Cambria Math" panose="02040503050406030204" pitchFamily="18" charset="0"/>
                    </a:rPr>
                    <m:t> </m:t>
                  </m:r>
                </m:oMath>
              </m:oMathPara>
            </a14:m>
            <a:endParaRPr/>
          </a:p>
          <a:p>
            <a:pPr marL="0" lvl="0" indent="0">
              <a:buNone/>
            </a:pPr>
            <a:r>
              <a:t>Compute an estimate of the prevalence of HIV in this population and give a 95% confidence interval.</a:t>
            </a:r>
          </a:p>
        </p:txBody>
      </p:sp>
      <p:sp>
        <p:nvSpPr>
          <p:cNvPr id="6" name="Slide Number Placeholder 5">
            <a:extLst>
              <a:ext uri="{FF2B5EF4-FFF2-40B4-BE49-F238E27FC236}">
                <a16:creationId xmlns:a16="http://schemas.microsoft.com/office/drawing/2014/main" id="{C03F998A-2A5E-471F-9FEB-2559B0A7F93D}"/>
              </a:ext>
            </a:extLst>
          </p:cNvPr>
          <p:cNvSpPr>
            <a:spLocks noGrp="1"/>
          </p:cNvSpPr>
          <p:nvPr>
            <p:ph type="sldNum" sz="quarter" idx="12"/>
          </p:nvPr>
        </p:nvSpPr>
        <p:spPr/>
        <p:txBody>
          <a:bodyPr/>
          <a:lstStyle/>
          <a:p>
            <a:fld id="{E1C5CB42-CF14-4293-8971-6DCD1AAE8BE7}" type="slidenum">
              <a:rPr lang="en-GB" smtClean="0"/>
              <a:t>13</a:t>
            </a:fld>
            <a:endParaRPr lang="en-GB"/>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marL="0" lvl="0" indent="0">
              <a:buNone/>
            </a:pPr>
            <a:r>
              <a:t>Estimating a proportion</a:t>
            </a:r>
          </a:p>
        </p:txBody>
      </p:sp>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a:xfrm>
            <a:off x="858476" y="1690688"/>
            <a:ext cx="10515600" cy="4667250"/>
          </a:xfrm>
        </p:spPr>
        <p:txBody>
          <a:bodyPr>
            <a:normAutofit fontScale="77500" lnSpcReduction="20000"/>
          </a:bodyPr>
          <a:lstStyle/>
          <a:p>
            <a:pPr marL="0" lvl="0" indent="0">
              <a:buNone/>
            </a:pPr>
            <a:r>
              <a:rPr b="1" dirty="0"/>
              <a:t>Solution</a:t>
            </a:r>
          </a:p>
          <a:p>
            <a:pPr lvl="0" indent="0">
              <a:buNone/>
            </a:pPr>
            <a:r>
              <a:rPr i="1" dirty="0">
                <a:solidFill>
                  <a:srgbClr val="60A0B0"/>
                </a:solidFill>
                <a:latin typeface="Courier"/>
              </a:rPr>
              <a:t># Proportion</a:t>
            </a:r>
            <a:br>
              <a:rPr dirty="0"/>
            </a:br>
            <a:r>
              <a:rPr dirty="0">
                <a:latin typeface="Courier"/>
              </a:rPr>
              <a:t>k</a:t>
            </a:r>
            <a:r>
              <a:rPr dirty="0">
                <a:solidFill>
                  <a:srgbClr val="007020"/>
                </a:solidFill>
                <a:latin typeface="Courier"/>
              </a:rPr>
              <a:t>&lt;-</a:t>
            </a:r>
            <a:r>
              <a:rPr dirty="0">
                <a:solidFill>
                  <a:srgbClr val="40A070"/>
                </a:solidFill>
                <a:latin typeface="Courier"/>
              </a:rPr>
              <a:t>38</a:t>
            </a:r>
            <a:br>
              <a:rPr dirty="0"/>
            </a:br>
            <a:r>
              <a:rPr dirty="0">
                <a:latin typeface="Courier"/>
              </a:rPr>
              <a:t>n</a:t>
            </a:r>
            <a:r>
              <a:rPr dirty="0">
                <a:solidFill>
                  <a:srgbClr val="007020"/>
                </a:solidFill>
                <a:latin typeface="Courier"/>
              </a:rPr>
              <a:t>&lt;-</a:t>
            </a:r>
            <a:r>
              <a:rPr dirty="0">
                <a:solidFill>
                  <a:srgbClr val="40A070"/>
                </a:solidFill>
                <a:latin typeface="Courier"/>
              </a:rPr>
              <a:t>422</a:t>
            </a:r>
            <a:br>
              <a:rPr dirty="0"/>
            </a:br>
            <a:br>
              <a:rPr dirty="0"/>
            </a:br>
            <a:r>
              <a:rPr dirty="0">
                <a:latin typeface="Courier"/>
              </a:rPr>
              <a:t>p</a:t>
            </a:r>
            <a:r>
              <a:rPr dirty="0">
                <a:solidFill>
                  <a:srgbClr val="007020"/>
                </a:solidFill>
                <a:latin typeface="Courier"/>
              </a:rPr>
              <a:t>&lt;-</a:t>
            </a:r>
            <a:r>
              <a:rPr dirty="0">
                <a:latin typeface="Courier"/>
              </a:rPr>
              <a:t>k</a:t>
            </a:r>
            <a:r>
              <a:rPr dirty="0">
                <a:solidFill>
                  <a:srgbClr val="4070A0"/>
                </a:solidFill>
                <a:latin typeface="Courier"/>
              </a:rPr>
              <a:t>/</a:t>
            </a:r>
            <a:r>
              <a:rPr dirty="0">
                <a:latin typeface="Courier"/>
              </a:rPr>
              <a:t>n</a:t>
            </a:r>
            <a:br>
              <a:rPr dirty="0"/>
            </a:br>
            <a:r>
              <a:rPr dirty="0">
                <a:solidFill>
                  <a:srgbClr val="06287E"/>
                </a:solidFill>
                <a:latin typeface="Courier"/>
              </a:rPr>
              <a:t>print</a:t>
            </a:r>
            <a:r>
              <a:rPr dirty="0">
                <a:latin typeface="Courier"/>
              </a:rPr>
              <a:t>(p)</a:t>
            </a:r>
            <a:br>
              <a:rPr dirty="0"/>
            </a:br>
            <a:r>
              <a:rPr i="1" dirty="0">
                <a:solidFill>
                  <a:srgbClr val="BA2121"/>
                </a:solidFill>
                <a:latin typeface="Courier"/>
              </a:rPr>
              <a:t>## [1] 0.09004739</a:t>
            </a:r>
            <a:br>
              <a:rPr dirty="0"/>
            </a:br>
            <a:br>
              <a:rPr dirty="0"/>
            </a:br>
            <a:r>
              <a:rPr i="1" dirty="0">
                <a:solidFill>
                  <a:srgbClr val="60A0B0"/>
                </a:solidFill>
                <a:latin typeface="Courier"/>
              </a:rPr>
              <a:t># Wald interval</a:t>
            </a:r>
            <a:br>
              <a:rPr dirty="0"/>
            </a:br>
            <a:r>
              <a:rPr dirty="0">
                <a:latin typeface="Courier"/>
              </a:rPr>
              <a:t>sigma</a:t>
            </a:r>
            <a:r>
              <a:rPr dirty="0">
                <a:solidFill>
                  <a:srgbClr val="007020"/>
                </a:solidFill>
                <a:latin typeface="Courier"/>
              </a:rPr>
              <a:t>&lt;-</a:t>
            </a:r>
            <a:r>
              <a:rPr dirty="0">
                <a:solidFill>
                  <a:srgbClr val="06287E"/>
                </a:solidFill>
                <a:latin typeface="Courier"/>
              </a:rPr>
              <a:t>sqrt</a:t>
            </a:r>
            <a:r>
              <a:rPr dirty="0">
                <a:latin typeface="Courier"/>
              </a:rPr>
              <a:t>(p</a:t>
            </a:r>
            <a:r>
              <a:rPr dirty="0">
                <a:solidFill>
                  <a:srgbClr val="4070A0"/>
                </a:solidFill>
                <a:latin typeface="Courier"/>
              </a:rPr>
              <a:t>*</a:t>
            </a:r>
            <a:r>
              <a:rPr dirty="0">
                <a:latin typeface="Courier"/>
              </a:rPr>
              <a:t>(</a:t>
            </a:r>
            <a:r>
              <a:rPr dirty="0">
                <a:solidFill>
                  <a:srgbClr val="40A070"/>
                </a:solidFill>
                <a:latin typeface="Courier"/>
              </a:rPr>
              <a:t>1</a:t>
            </a:r>
            <a:r>
              <a:rPr dirty="0">
                <a:solidFill>
                  <a:srgbClr val="4070A0"/>
                </a:solidFill>
                <a:latin typeface="Courier"/>
              </a:rPr>
              <a:t>-</a:t>
            </a:r>
            <a:r>
              <a:rPr dirty="0">
                <a:latin typeface="Courier"/>
              </a:rPr>
              <a:t>p)</a:t>
            </a:r>
            <a:r>
              <a:rPr dirty="0">
                <a:solidFill>
                  <a:srgbClr val="4070A0"/>
                </a:solidFill>
                <a:latin typeface="Courier"/>
              </a:rPr>
              <a:t>/</a:t>
            </a:r>
            <a:r>
              <a:rPr dirty="0">
                <a:latin typeface="Courier"/>
              </a:rPr>
              <a:t>n)</a:t>
            </a:r>
            <a:br>
              <a:rPr dirty="0"/>
            </a:br>
            <a:r>
              <a:rPr dirty="0" err="1">
                <a:latin typeface="Courier"/>
              </a:rPr>
              <a:t>pLow</a:t>
            </a:r>
            <a:r>
              <a:rPr dirty="0">
                <a:solidFill>
                  <a:srgbClr val="007020"/>
                </a:solidFill>
                <a:latin typeface="Courier"/>
              </a:rPr>
              <a:t>&lt;-</a:t>
            </a:r>
            <a:r>
              <a:rPr dirty="0">
                <a:latin typeface="Courier"/>
              </a:rPr>
              <a:t>p</a:t>
            </a:r>
            <a:r>
              <a:rPr dirty="0">
                <a:solidFill>
                  <a:srgbClr val="4070A0"/>
                </a:solidFill>
                <a:latin typeface="Courier"/>
              </a:rPr>
              <a:t>-</a:t>
            </a:r>
            <a:r>
              <a:rPr dirty="0" err="1">
                <a:solidFill>
                  <a:srgbClr val="06287E"/>
                </a:solidFill>
                <a:latin typeface="Courier"/>
              </a:rPr>
              <a:t>qnorm</a:t>
            </a:r>
            <a:r>
              <a:rPr dirty="0">
                <a:latin typeface="Courier"/>
              </a:rPr>
              <a:t>(</a:t>
            </a:r>
            <a:r>
              <a:rPr dirty="0">
                <a:solidFill>
                  <a:srgbClr val="40A070"/>
                </a:solidFill>
                <a:latin typeface="Courier"/>
              </a:rPr>
              <a:t>1-0.05</a:t>
            </a:r>
            <a:r>
              <a:rPr dirty="0">
                <a:solidFill>
                  <a:srgbClr val="4070A0"/>
                </a:solidFill>
                <a:latin typeface="Courier"/>
              </a:rPr>
              <a:t>/</a:t>
            </a:r>
            <a:r>
              <a:rPr dirty="0">
                <a:solidFill>
                  <a:srgbClr val="40A070"/>
                </a:solidFill>
                <a:latin typeface="Courier"/>
              </a:rPr>
              <a:t>2</a:t>
            </a:r>
            <a:r>
              <a:rPr dirty="0">
                <a:latin typeface="Courier"/>
              </a:rPr>
              <a:t>)</a:t>
            </a:r>
            <a:r>
              <a:rPr dirty="0">
                <a:solidFill>
                  <a:srgbClr val="4070A0"/>
                </a:solidFill>
                <a:latin typeface="Courier"/>
              </a:rPr>
              <a:t>*</a:t>
            </a:r>
            <a:r>
              <a:rPr dirty="0">
                <a:latin typeface="Courier"/>
              </a:rPr>
              <a:t>sigma</a:t>
            </a:r>
            <a:br>
              <a:rPr dirty="0"/>
            </a:br>
            <a:r>
              <a:rPr dirty="0" err="1">
                <a:latin typeface="Courier"/>
              </a:rPr>
              <a:t>pUpp</a:t>
            </a:r>
            <a:r>
              <a:rPr dirty="0">
                <a:solidFill>
                  <a:srgbClr val="007020"/>
                </a:solidFill>
                <a:latin typeface="Courier"/>
              </a:rPr>
              <a:t>&lt;-</a:t>
            </a:r>
            <a:r>
              <a:rPr dirty="0" err="1">
                <a:latin typeface="Courier"/>
              </a:rPr>
              <a:t>p</a:t>
            </a:r>
            <a:r>
              <a:rPr dirty="0" err="1">
                <a:solidFill>
                  <a:srgbClr val="4070A0"/>
                </a:solidFill>
                <a:latin typeface="Courier"/>
              </a:rPr>
              <a:t>+</a:t>
            </a:r>
            <a:r>
              <a:rPr dirty="0" err="1">
                <a:solidFill>
                  <a:srgbClr val="06287E"/>
                </a:solidFill>
                <a:latin typeface="Courier"/>
              </a:rPr>
              <a:t>qnorm</a:t>
            </a:r>
            <a:r>
              <a:rPr dirty="0">
                <a:latin typeface="Courier"/>
              </a:rPr>
              <a:t>(</a:t>
            </a:r>
            <a:r>
              <a:rPr dirty="0">
                <a:solidFill>
                  <a:srgbClr val="40A070"/>
                </a:solidFill>
                <a:latin typeface="Courier"/>
              </a:rPr>
              <a:t>1-0.05</a:t>
            </a:r>
            <a:r>
              <a:rPr dirty="0">
                <a:solidFill>
                  <a:srgbClr val="4070A0"/>
                </a:solidFill>
                <a:latin typeface="Courier"/>
              </a:rPr>
              <a:t>/</a:t>
            </a:r>
            <a:r>
              <a:rPr dirty="0">
                <a:solidFill>
                  <a:srgbClr val="40A070"/>
                </a:solidFill>
                <a:latin typeface="Courier"/>
              </a:rPr>
              <a:t>2</a:t>
            </a:r>
            <a:r>
              <a:rPr dirty="0">
                <a:latin typeface="Courier"/>
              </a:rPr>
              <a:t>)</a:t>
            </a:r>
            <a:r>
              <a:rPr dirty="0">
                <a:solidFill>
                  <a:srgbClr val="4070A0"/>
                </a:solidFill>
                <a:latin typeface="Courier"/>
              </a:rPr>
              <a:t>*</a:t>
            </a:r>
            <a:r>
              <a:rPr dirty="0">
                <a:latin typeface="Courier"/>
              </a:rPr>
              <a:t>sigma</a:t>
            </a:r>
            <a:br>
              <a:rPr dirty="0"/>
            </a:br>
            <a:r>
              <a:rPr dirty="0">
                <a:latin typeface="Courier"/>
              </a:rPr>
              <a:t>CI</a:t>
            </a:r>
            <a:r>
              <a:rPr dirty="0">
                <a:solidFill>
                  <a:srgbClr val="007020"/>
                </a:solidFill>
                <a:latin typeface="Courier"/>
              </a:rPr>
              <a:t>&lt;-</a:t>
            </a:r>
            <a:r>
              <a:rPr dirty="0">
                <a:solidFill>
                  <a:srgbClr val="06287E"/>
                </a:solidFill>
                <a:latin typeface="Courier"/>
              </a:rPr>
              <a:t>c</a:t>
            </a:r>
            <a:r>
              <a:rPr dirty="0">
                <a:latin typeface="Courier"/>
              </a:rPr>
              <a:t>(</a:t>
            </a:r>
            <a:r>
              <a:rPr dirty="0" err="1">
                <a:latin typeface="Courier"/>
              </a:rPr>
              <a:t>pLow,pUpp</a:t>
            </a:r>
            <a:r>
              <a:rPr dirty="0">
                <a:latin typeface="Courier"/>
              </a:rPr>
              <a:t>)</a:t>
            </a:r>
            <a:br>
              <a:rPr dirty="0"/>
            </a:br>
            <a:r>
              <a:rPr dirty="0">
                <a:solidFill>
                  <a:srgbClr val="06287E"/>
                </a:solidFill>
                <a:latin typeface="Courier"/>
              </a:rPr>
              <a:t>print</a:t>
            </a:r>
            <a:r>
              <a:rPr dirty="0">
                <a:latin typeface="Courier"/>
              </a:rPr>
              <a:t>(CI)</a:t>
            </a:r>
            <a:br>
              <a:rPr dirty="0"/>
            </a:br>
            <a:r>
              <a:rPr i="1" dirty="0">
                <a:solidFill>
                  <a:srgbClr val="BA2121"/>
                </a:solidFill>
                <a:latin typeface="Courier"/>
              </a:rPr>
              <a:t>## [1] 0.06273644 0.11735834</a:t>
            </a:r>
            <a:br>
              <a:rPr dirty="0"/>
            </a:br>
            <a:br>
              <a:rPr dirty="0"/>
            </a:br>
            <a:r>
              <a:rPr i="1" dirty="0">
                <a:solidFill>
                  <a:srgbClr val="60A0B0"/>
                </a:solidFill>
                <a:latin typeface="Courier"/>
              </a:rPr>
              <a:t># Exact binomial CI</a:t>
            </a:r>
            <a:br>
              <a:rPr dirty="0"/>
            </a:br>
            <a:r>
              <a:rPr dirty="0" err="1">
                <a:solidFill>
                  <a:srgbClr val="06287E"/>
                </a:solidFill>
                <a:latin typeface="Courier"/>
              </a:rPr>
              <a:t>binom.test</a:t>
            </a:r>
            <a:r>
              <a:rPr dirty="0">
                <a:latin typeface="Courier"/>
              </a:rPr>
              <a:t>(</a:t>
            </a:r>
            <a:r>
              <a:rPr dirty="0">
                <a:solidFill>
                  <a:srgbClr val="7D9029"/>
                </a:solidFill>
                <a:latin typeface="Courier"/>
              </a:rPr>
              <a:t>x=</a:t>
            </a:r>
            <a:r>
              <a:rPr dirty="0" err="1">
                <a:latin typeface="Courier"/>
              </a:rPr>
              <a:t>k,</a:t>
            </a:r>
            <a:r>
              <a:rPr dirty="0" err="1">
                <a:solidFill>
                  <a:srgbClr val="7D9029"/>
                </a:solidFill>
                <a:latin typeface="Courier"/>
              </a:rPr>
              <a:t>n</a:t>
            </a:r>
            <a:r>
              <a:rPr dirty="0">
                <a:solidFill>
                  <a:srgbClr val="7D9029"/>
                </a:solidFill>
                <a:latin typeface="Courier"/>
              </a:rPr>
              <a:t>=</a:t>
            </a:r>
            <a:r>
              <a:rPr dirty="0">
                <a:latin typeface="Courier"/>
              </a:rPr>
              <a:t>n)</a:t>
            </a:r>
            <a:r>
              <a:rPr dirty="0">
                <a:solidFill>
                  <a:srgbClr val="4070A0"/>
                </a:solidFill>
                <a:latin typeface="Courier"/>
              </a:rPr>
              <a:t>$</a:t>
            </a:r>
            <a:r>
              <a:rPr dirty="0">
                <a:latin typeface="Courier"/>
              </a:rPr>
              <a:t>conf.int</a:t>
            </a:r>
            <a:br>
              <a:rPr dirty="0"/>
            </a:br>
            <a:r>
              <a:rPr i="1" dirty="0">
                <a:solidFill>
                  <a:srgbClr val="BA2121"/>
                </a:solidFill>
                <a:latin typeface="Courier"/>
              </a:rPr>
              <a:t>## [1] 0.06451124 0.12150117</a:t>
            </a:r>
            <a:br>
              <a:rPr dirty="0"/>
            </a:br>
            <a:r>
              <a:rPr i="1" dirty="0">
                <a:solidFill>
                  <a:srgbClr val="BA2121"/>
                </a:solidFill>
                <a:latin typeface="Courier"/>
              </a:rPr>
              <a:t>## </a:t>
            </a:r>
            <a:r>
              <a:rPr i="1" dirty="0" err="1">
                <a:solidFill>
                  <a:srgbClr val="BA2121"/>
                </a:solidFill>
                <a:latin typeface="Courier"/>
              </a:rPr>
              <a:t>attr</a:t>
            </a:r>
            <a:r>
              <a:rPr i="1" dirty="0">
                <a:solidFill>
                  <a:srgbClr val="BA2121"/>
                </a:solidFill>
                <a:latin typeface="Courier"/>
              </a:rPr>
              <a:t>(,"</a:t>
            </a:r>
            <a:r>
              <a:rPr i="1" dirty="0" err="1">
                <a:solidFill>
                  <a:srgbClr val="BA2121"/>
                </a:solidFill>
                <a:latin typeface="Courier"/>
              </a:rPr>
              <a:t>conf.level</a:t>
            </a:r>
            <a:r>
              <a:rPr i="1" dirty="0">
                <a:solidFill>
                  <a:srgbClr val="BA2121"/>
                </a:solidFill>
                <a:latin typeface="Courier"/>
              </a:rPr>
              <a:t>")</a:t>
            </a:r>
            <a:br>
              <a:rPr dirty="0"/>
            </a:br>
            <a:r>
              <a:rPr i="1" dirty="0">
                <a:solidFill>
                  <a:srgbClr val="BA2121"/>
                </a:solidFill>
                <a:latin typeface="Courier"/>
              </a:rPr>
              <a:t>## [1] 0.95</a:t>
            </a:r>
          </a:p>
        </p:txBody>
      </p:sp>
      <p:sp>
        <p:nvSpPr>
          <p:cNvPr id="6" name="Slide Number Placeholder 5">
            <a:extLst>
              <a:ext uri="{FF2B5EF4-FFF2-40B4-BE49-F238E27FC236}">
                <a16:creationId xmlns:a16="http://schemas.microsoft.com/office/drawing/2014/main" id="{C03F998A-2A5E-471F-9FEB-2559B0A7F93D}"/>
              </a:ext>
            </a:extLst>
          </p:cNvPr>
          <p:cNvSpPr>
            <a:spLocks noGrp="1"/>
          </p:cNvSpPr>
          <p:nvPr>
            <p:ph type="sldNum" sz="quarter" idx="12"/>
          </p:nvPr>
        </p:nvSpPr>
        <p:spPr/>
        <p:txBody>
          <a:bodyPr/>
          <a:lstStyle/>
          <a:p>
            <a:fld id="{E1C5CB42-CF14-4293-8971-6DCD1AAE8BE7}" type="slidenum">
              <a:rPr lang="en-GB" smtClean="0"/>
              <a:t>14</a:t>
            </a:fld>
            <a:endParaRPr lang="en-GB"/>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marL="0" lvl="0" indent="0">
              <a:buNone/>
            </a:pPr>
            <a:r>
              <a:t>Estimating a sample mean</a:t>
            </a:r>
          </a:p>
        </p:txBody>
      </p:sp>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p:txBody>
          <a:bodyPr/>
          <a:lstStyle/>
          <a:p>
            <a:pPr marL="0" lvl="0" indent="0">
              <a:buNone/>
            </a:pPr>
            <a:r>
              <a:t>Let us now suppose you want to estimate the population mean </a:t>
            </a:r>
            <a14:m xmlns:a14="http://schemas.microsoft.com/office/drawing/2010/main">
              <m:oMath xmlns:m="http://schemas.openxmlformats.org/officeDocument/2006/math">
                <m:r>
                  <a:rPr>
                    <a:latin typeface="Cambria Math" panose="02040503050406030204" pitchFamily="18" charset="0"/>
                  </a:rPr>
                  <m:t>𝜇</m:t>
                </m:r>
              </m:oMath>
            </a14:m>
            <a:r>
              <a:t> of a certain quantity of interest. You recruit </a:t>
            </a:r>
            <a14:m xmlns:a14="http://schemas.microsoft.com/office/drawing/2010/main">
              <m:oMath xmlns:m="http://schemas.openxmlformats.org/officeDocument/2006/math">
                <m:r>
                  <a:rPr>
                    <a:latin typeface="Cambria Math" panose="02040503050406030204" pitchFamily="18" charset="0"/>
                  </a:rPr>
                  <m:t>𝑛</m:t>
                </m:r>
              </m:oMath>
            </a14:m>
            <a:r>
              <a:t> individuals from your population of interest and measure the quantity for each of them. Let us denote this again by a random variable </a:t>
            </a:r>
            <a14:m xmlns:a14="http://schemas.microsoft.com/office/drawing/2010/main">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𝑋</m:t>
                    </m:r>
                  </m:e>
                  <m:sub>
                    <m:r>
                      <a:rPr>
                        <a:latin typeface="Cambria Math" panose="02040503050406030204" pitchFamily="18" charset="0"/>
                      </a:rPr>
                      <m:t>𝑖</m:t>
                    </m:r>
                  </m:sub>
                </m:sSub>
              </m:oMath>
            </a14:m>
            <a:r>
              <a:t> for the </a:t>
            </a:r>
            <a14:m xmlns:a14="http://schemas.microsoft.com/office/drawing/2010/main">
              <m:oMath xmlns:m="http://schemas.openxmlformats.org/officeDocument/2006/math">
                <m:sSup>
                  <m:sSupPr>
                    <m:ctrlPr>
                      <a:rPr>
                        <a:latin typeface="Cambria Math" panose="02040503050406030204" pitchFamily="18" charset="0"/>
                      </a:rPr>
                    </m:ctrlPr>
                  </m:sSupPr>
                  <m:e>
                    <m:r>
                      <a:rPr>
                        <a:latin typeface="Cambria Math" panose="02040503050406030204" pitchFamily="18" charset="0"/>
                      </a:rPr>
                      <m:t>𝑖</m:t>
                    </m:r>
                  </m:e>
                  <m:sup>
                    <m:r>
                      <a:rPr>
                        <a:latin typeface="Cambria Math" panose="02040503050406030204" pitchFamily="18" charset="0"/>
                      </a:rPr>
                      <m:t>𝑡</m:t>
                    </m:r>
                  </m:sup>
                </m:sSup>
                <m:r>
                  <a:rPr>
                    <a:latin typeface="Cambria Math" panose="02040503050406030204" pitchFamily="18" charset="0"/>
                  </a:rPr>
                  <m:t>h</m:t>
                </m:r>
              </m:oMath>
            </a14:m>
            <a:r>
              <a:t> individual.</a:t>
            </a:r>
          </a:p>
          <a:p>
            <a:pPr marL="0" lvl="0" indent="0">
              <a:buNone/>
            </a:pPr>
            <a:r>
              <a:t>The </a:t>
            </a:r>
            <a14:m xmlns:a14="http://schemas.microsoft.com/office/drawing/2010/main">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𝑋</m:t>
                    </m:r>
                  </m:e>
                  <m:sub>
                    <m:r>
                      <a:rPr>
                        <a:latin typeface="Cambria Math" panose="02040503050406030204" pitchFamily="18" charset="0"/>
                      </a:rPr>
                      <m:t>𝑖</m:t>
                    </m:r>
                  </m:sub>
                </m:sSub>
              </m:oMath>
            </a14:m>
            <a:r>
              <a:t> random variables will be distributed according to some continuous distribution with mean </a:t>
            </a:r>
            <a14:m xmlns:a14="http://schemas.microsoft.com/office/drawing/2010/main">
              <m:oMath xmlns:m="http://schemas.openxmlformats.org/officeDocument/2006/math">
                <m:r>
                  <a:rPr>
                    <a:latin typeface="Cambria Math" panose="02040503050406030204" pitchFamily="18" charset="0"/>
                  </a:rPr>
                  <m:t>𝜇</m:t>
                </m:r>
              </m:oMath>
            </a14:m>
            <a:r>
              <a:t> and variance </a:t>
            </a:r>
            <a14:m xmlns:a14="http://schemas.microsoft.com/office/drawing/2010/main">
              <m:oMath xmlns:m="http://schemas.openxmlformats.org/officeDocument/2006/math">
                <m:sSup>
                  <m:sSupPr>
                    <m:ctrlPr>
                      <a:rPr>
                        <a:latin typeface="Cambria Math" panose="02040503050406030204" pitchFamily="18" charset="0"/>
                      </a:rPr>
                    </m:ctrlPr>
                  </m:sSupPr>
                  <m:e>
                    <m:r>
                      <a:rPr>
                        <a:latin typeface="Cambria Math" panose="02040503050406030204" pitchFamily="18" charset="0"/>
                      </a:rPr>
                      <m:t>𝜎</m:t>
                    </m:r>
                  </m:e>
                  <m:sup>
                    <m:r>
                      <a:rPr>
                        <a:latin typeface="Cambria Math" panose="02040503050406030204" pitchFamily="18" charset="0"/>
                      </a:rPr>
                      <m:t>2</m:t>
                    </m:r>
                  </m:sup>
                </m:sSup>
              </m:oMath>
            </a14:m>
            <a:r>
              <a:t>: </a:t>
            </a:r>
            <a14:m xmlns:a14="http://schemas.microsoft.com/office/drawing/2010/main">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𝑋</m:t>
                    </m:r>
                  </m:e>
                  <m:sub>
                    <m:r>
                      <a:rPr>
                        <a:latin typeface="Cambria Math" panose="02040503050406030204" pitchFamily="18" charset="0"/>
                      </a:rPr>
                      <m:t>𝑖</m:t>
                    </m:r>
                  </m:sub>
                </m:sSub>
                <m:r>
                  <a:rPr>
                    <a:latin typeface="Cambria Math" panose="02040503050406030204" pitchFamily="18" charset="0"/>
                  </a:rPr>
                  <m:t>∼</m:t>
                </m:r>
                <m:r>
                  <a:rPr>
                    <a:latin typeface="Cambria Math" panose="02040503050406030204" pitchFamily="18" charset="0"/>
                  </a:rPr>
                  <m:t>𝐹</m:t>
                </m:r>
              </m:oMath>
            </a14:m>
            <a:r>
              <a:t>, </a:t>
            </a:r>
            <a14:m xmlns:a14="http://schemas.microsoft.com/office/drawing/2010/main">
              <m:oMath xmlns:m="http://schemas.openxmlformats.org/officeDocument/2006/math">
                <m:r>
                  <a:rPr>
                    <a:latin typeface="Cambria Math" panose="02040503050406030204" pitchFamily="18" charset="0"/>
                  </a:rPr>
                  <m:t>𝐸</m:t>
                </m:r>
                <m:d>
                  <m:dPr>
                    <m:ctrlPr>
                      <a:rPr i="1">
                        <a:latin typeface="Cambria Math" panose="02040503050406030204" pitchFamily="18" charset="0"/>
                      </a:rPr>
                    </m:ctrlPr>
                  </m:dPr>
                  <m:e>
                    <m:sSub>
                      <m:sSubPr>
                        <m:ctrlPr>
                          <a:rPr i="1">
                            <a:latin typeface="Cambria Math" panose="02040503050406030204" pitchFamily="18" charset="0"/>
                          </a:rPr>
                        </m:ctrlPr>
                      </m:sSubPr>
                      <m:e>
                        <m:r>
                          <a:rPr>
                            <a:latin typeface="Cambria Math" panose="02040503050406030204" pitchFamily="18" charset="0"/>
                          </a:rPr>
                          <m:t>𝑋</m:t>
                        </m:r>
                      </m:e>
                      <m:sub>
                        <m:r>
                          <a:rPr>
                            <a:latin typeface="Cambria Math" panose="02040503050406030204" pitchFamily="18" charset="0"/>
                          </a:rPr>
                          <m:t>𝑖</m:t>
                        </m:r>
                      </m:sub>
                    </m:sSub>
                  </m:e>
                </m:d>
                <m:r>
                  <a:rPr>
                    <a:latin typeface="Cambria Math" panose="02040503050406030204" pitchFamily="18" charset="0"/>
                  </a:rPr>
                  <m:t>=</m:t>
                </m:r>
                <m:r>
                  <a:rPr>
                    <a:latin typeface="Cambria Math" panose="02040503050406030204" pitchFamily="18" charset="0"/>
                  </a:rPr>
                  <m:t>𝜇</m:t>
                </m:r>
              </m:oMath>
            </a14:m>
            <a:r>
              <a:t>, Var</a:t>
            </a:r>
            <a14:m xmlns:a14="http://schemas.microsoft.com/office/drawing/2010/main">
              <m:oMath xmlns:m="http://schemas.openxmlformats.org/officeDocument/2006/math">
                <m:d>
                  <m:dPr>
                    <m:ctrlPr>
                      <a:rPr>
                        <a:latin typeface="Cambria Math" panose="02040503050406030204" pitchFamily="18" charset="0"/>
                      </a:rPr>
                    </m:ctrlPr>
                  </m:dPr>
                  <m:e>
                    <m:r>
                      <a:rPr>
                        <a:latin typeface="Cambria Math" panose="02040503050406030204" pitchFamily="18" charset="0"/>
                      </a:rPr>
                      <m:t>𝑋</m:t>
                    </m:r>
                  </m:e>
                </m:d>
                <m:r>
                  <a:rPr>
                    <a:latin typeface="Cambria Math" panose="02040503050406030204" pitchFamily="18" charset="0"/>
                  </a:rPr>
                  <m:t>=</m:t>
                </m:r>
                <m:sSup>
                  <m:sSupPr>
                    <m:ctrlPr>
                      <a:rPr i="1">
                        <a:latin typeface="Cambria Math" panose="02040503050406030204" pitchFamily="18" charset="0"/>
                      </a:rPr>
                    </m:ctrlPr>
                  </m:sSupPr>
                  <m:e>
                    <m:r>
                      <a:rPr>
                        <a:latin typeface="Cambria Math" panose="02040503050406030204" pitchFamily="18" charset="0"/>
                      </a:rPr>
                      <m:t>𝜎</m:t>
                    </m:r>
                  </m:e>
                  <m:sup>
                    <m:r>
                      <a:rPr>
                        <a:latin typeface="Cambria Math" panose="02040503050406030204" pitchFamily="18" charset="0"/>
                      </a:rPr>
                      <m:t>2</m:t>
                    </m:r>
                  </m:sup>
                </m:sSup>
              </m:oMath>
            </a14:m>
            <a:r>
              <a:t>.</a:t>
            </a:r>
          </a:p>
          <a:p>
            <a:pPr marL="0" lvl="0" indent="0">
              <a:buNone/>
            </a:pPr>
            <a:r>
              <a:t>An estimator for </a:t>
            </a:r>
            <a14:m xmlns:a14="http://schemas.microsoft.com/office/drawing/2010/main">
              <m:oMath xmlns:m="http://schemas.openxmlformats.org/officeDocument/2006/math">
                <m:r>
                  <a:rPr>
                    <a:latin typeface="Cambria Math" panose="02040503050406030204" pitchFamily="18" charset="0"/>
                  </a:rPr>
                  <m:t>𝜇</m:t>
                </m:r>
              </m:oMath>
            </a14:m>
            <a:r>
              <a:t> will be the sample mean </a:t>
            </a:r>
            <a14:m xmlns:a14="http://schemas.microsoft.com/office/drawing/2010/main">
              <m:oMath xmlns:m="http://schemas.openxmlformats.org/officeDocument/2006/math">
                <m:acc>
                  <m:accPr>
                    <m:chr m:val="‾"/>
                    <m:ctrlPr>
                      <a:rPr>
                        <a:latin typeface="Cambria Math" panose="02040503050406030204" pitchFamily="18" charset="0"/>
                      </a:rPr>
                    </m:ctrlPr>
                  </m:accPr>
                  <m:e>
                    <m:r>
                      <a:rPr>
                        <a:latin typeface="Cambria Math" panose="02040503050406030204" pitchFamily="18" charset="0"/>
                      </a:rPr>
                      <m:t>𝑋</m:t>
                    </m:r>
                  </m:e>
                </m:acc>
              </m:oMath>
            </a14:m>
            <a:r>
              <a:t>:</a:t>
            </a:r>
          </a:p>
          <a:p>
            <a:pPr marL="0" lvl="0" indent="0">
              <a:buNone/>
            </a:pPr>
            <a14:m xmlns:a14="http://schemas.microsoft.com/office/drawing/2010/main">
              <m:oMathPara xmlns:m="http://schemas.openxmlformats.org/officeDocument/2006/math">
                <m:oMathParaPr>
                  <m:jc m:val="center"/>
                </m:oMathParaPr>
                <m:oMath xmlns:m="http://schemas.openxmlformats.org/officeDocument/2006/math">
                  <m:r>
                    <a:rPr>
                      <a:latin typeface="Cambria Math" panose="02040503050406030204" pitchFamily="18" charset="0"/>
                    </a:rPr>
                    <m:t> </m:t>
                  </m:r>
                </m:oMath>
              </m:oMathPara>
            </a14:m>
            <a:endParaRPr/>
          </a:p>
          <a:p>
            <a:pPr marL="0" lvl="0" indent="0">
              <a:buNone/>
            </a:pPr>
            <a14:m xmlns:a14="http://schemas.microsoft.com/office/drawing/2010/main">
              <m:oMathPara xmlns:m="http://schemas.openxmlformats.org/officeDocument/2006/math">
                <m:oMathParaPr>
                  <m:jc m:val="center"/>
                </m:oMathParaPr>
                <m:oMath xmlns:m="http://schemas.openxmlformats.org/officeDocument/2006/math">
                  <m:acc>
                    <m:accPr>
                      <m:chr m:val="̂"/>
                      <m:ctrlPr>
                        <a:rPr>
                          <a:latin typeface="Cambria Math" panose="02040503050406030204" pitchFamily="18" charset="0"/>
                        </a:rPr>
                      </m:ctrlPr>
                    </m:accPr>
                    <m:e>
                      <m:r>
                        <a:rPr>
                          <a:latin typeface="Cambria Math" panose="02040503050406030204" pitchFamily="18" charset="0"/>
                        </a:rPr>
                        <m:t>𝜇</m:t>
                      </m:r>
                    </m:e>
                  </m:acc>
                  <m:r>
                    <a:rPr>
                      <a:latin typeface="Cambria Math" panose="02040503050406030204" pitchFamily="18" charset="0"/>
                    </a:rPr>
                    <m:t>=</m:t>
                  </m:r>
                  <m:f>
                    <m:fPr>
                      <m:ctrlPr>
                        <a:rPr i="1">
                          <a:latin typeface="Cambria Math" panose="02040503050406030204" pitchFamily="18" charset="0"/>
                        </a:rPr>
                      </m:ctrlPr>
                    </m:fPr>
                    <m:num>
                      <m:nary>
                        <m:naryPr>
                          <m:chr m:val="∑"/>
                          <m:limLoc m:val="undOvr"/>
                          <m:ctrlPr>
                            <a:rPr i="1">
                              <a:latin typeface="Cambria Math" panose="02040503050406030204" pitchFamily="18" charset="0"/>
                            </a:rPr>
                          </m:ctrlPr>
                        </m:naryPr>
                        <m:sub>
                          <m:r>
                            <a:rPr>
                              <a:latin typeface="Cambria Math" panose="02040503050406030204" pitchFamily="18" charset="0"/>
                            </a:rPr>
                            <m:t>𝑖</m:t>
                          </m:r>
                          <m:r>
                            <a:rPr>
                              <a:latin typeface="Cambria Math" panose="02040503050406030204" pitchFamily="18" charset="0"/>
                            </a:rPr>
                            <m:t>=1</m:t>
                          </m:r>
                        </m:sub>
                        <m:sup>
                          <m:r>
                            <a:rPr>
                              <a:latin typeface="Cambria Math" panose="02040503050406030204" pitchFamily="18" charset="0"/>
                            </a:rPr>
                            <m:t>𝑛</m:t>
                          </m:r>
                        </m:sup>
                        <m:e>
                          <m:sSub>
                            <m:sSubPr>
                              <m:ctrlPr>
                                <a:rPr i="1">
                                  <a:latin typeface="Cambria Math" panose="02040503050406030204" pitchFamily="18" charset="0"/>
                                </a:rPr>
                              </m:ctrlPr>
                            </m:sSubPr>
                            <m:e>
                              <m:r>
                                <a:rPr>
                                  <a:latin typeface="Cambria Math" panose="02040503050406030204" pitchFamily="18" charset="0"/>
                                </a:rPr>
                                <m:t>𝑋</m:t>
                              </m:r>
                            </m:e>
                            <m:sub>
                              <m:r>
                                <a:rPr>
                                  <a:latin typeface="Cambria Math" panose="02040503050406030204" pitchFamily="18" charset="0"/>
                                </a:rPr>
                                <m:t>𝑖</m:t>
                              </m:r>
                            </m:sub>
                          </m:sSub>
                        </m:e>
                      </m:nary>
                    </m:num>
                    <m:den>
                      <m:r>
                        <a:rPr>
                          <a:latin typeface="Cambria Math" panose="02040503050406030204" pitchFamily="18" charset="0"/>
                        </a:rPr>
                        <m:t>𝑛</m:t>
                      </m:r>
                    </m:den>
                  </m:f>
                </m:oMath>
              </m:oMathPara>
            </a14:m>
            <a:endParaRPr/>
          </a:p>
        </p:txBody>
      </p:sp>
      <p:sp>
        <p:nvSpPr>
          <p:cNvPr id="6" name="Slide Number Placeholder 5">
            <a:extLst>
              <a:ext uri="{FF2B5EF4-FFF2-40B4-BE49-F238E27FC236}">
                <a16:creationId xmlns:a16="http://schemas.microsoft.com/office/drawing/2014/main" id="{C03F998A-2A5E-471F-9FEB-2559B0A7F93D}"/>
              </a:ext>
            </a:extLst>
          </p:cNvPr>
          <p:cNvSpPr>
            <a:spLocks noGrp="1"/>
          </p:cNvSpPr>
          <p:nvPr>
            <p:ph type="sldNum" sz="quarter" idx="12"/>
          </p:nvPr>
        </p:nvSpPr>
        <p:spPr/>
        <p:txBody>
          <a:bodyPr/>
          <a:lstStyle/>
          <a:p>
            <a:fld id="{E1C5CB42-CF14-4293-8971-6DCD1AAE8BE7}" type="slidenum">
              <a:rPr lang="en-GB" smtClean="0"/>
              <a:t>15</a:t>
            </a:fld>
            <a:endParaRPr lang="en-GB"/>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marL="0" lvl="0" indent="0">
              <a:buNone/>
            </a:pPr>
            <a:r>
              <a:t>Estimating a sample mean</a:t>
            </a:r>
          </a:p>
        </p:txBody>
      </p:sp>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p:txBody>
          <a:bodyPr/>
          <a:lstStyle/>
          <a:p>
            <a:pPr marL="0" lvl="0" indent="0">
              <a:buNone/>
            </a:pPr>
            <a:r>
              <a:t>Similar to the case of the sample proportion, </a:t>
            </a:r>
            <a14:m xmlns:a14="http://schemas.microsoft.com/office/drawing/2010/main">
              <m:oMath xmlns:m="http://schemas.openxmlformats.org/officeDocument/2006/math">
                <m:acc>
                  <m:accPr>
                    <m:chr m:val="‾"/>
                    <m:ctrlPr>
                      <a:rPr>
                        <a:latin typeface="Cambria Math" panose="02040503050406030204" pitchFamily="18" charset="0"/>
                      </a:rPr>
                    </m:ctrlPr>
                  </m:accPr>
                  <m:e>
                    <m:r>
                      <a:rPr>
                        <a:latin typeface="Cambria Math" panose="02040503050406030204" pitchFamily="18" charset="0"/>
                      </a:rPr>
                      <m:t>𝑋</m:t>
                    </m:r>
                  </m:e>
                </m:acc>
              </m:oMath>
            </a14:m>
            <a:r>
              <a:t> will be approximately normally distributed thanks to the CLT: </a:t>
            </a:r>
            <a14:m xmlns:a14="http://schemas.microsoft.com/office/drawing/2010/main">
              <m:oMath xmlns:m="http://schemas.openxmlformats.org/officeDocument/2006/math">
                <m:acc>
                  <m:accPr>
                    <m:chr m:val="‾"/>
                    <m:ctrlPr>
                      <a:rPr>
                        <a:latin typeface="Cambria Math" panose="02040503050406030204" pitchFamily="18" charset="0"/>
                      </a:rPr>
                    </m:ctrlPr>
                  </m:accPr>
                  <m:e>
                    <m:r>
                      <a:rPr>
                        <a:latin typeface="Cambria Math" panose="02040503050406030204" pitchFamily="18" charset="0"/>
                      </a:rPr>
                      <m:t>𝑋</m:t>
                    </m:r>
                  </m:e>
                </m:acc>
                <m:r>
                  <a:rPr>
                    <a:latin typeface="Cambria Math" panose="02040503050406030204" pitchFamily="18" charset="0"/>
                  </a:rPr>
                  <m:t>∼</m:t>
                </m:r>
                <m:r>
                  <a:rPr>
                    <a:latin typeface="Cambria Math" panose="02040503050406030204" pitchFamily="18" charset="0"/>
                  </a:rPr>
                  <m:t>𝒩</m:t>
                </m:r>
                <m:d>
                  <m:dPr>
                    <m:ctrlPr>
                      <a:rPr i="1">
                        <a:latin typeface="Cambria Math" panose="02040503050406030204" pitchFamily="18" charset="0"/>
                      </a:rPr>
                    </m:ctrlPr>
                  </m:dPr>
                  <m:e>
                    <m:r>
                      <a:rPr>
                        <a:latin typeface="Cambria Math" panose="02040503050406030204" pitchFamily="18" charset="0"/>
                      </a:rPr>
                      <m:t>𝜇</m:t>
                    </m:r>
                    <m:r>
                      <a:rPr>
                        <a:latin typeface="Cambria Math" panose="02040503050406030204" pitchFamily="18" charset="0"/>
                      </a:rPr>
                      <m:t>,</m:t>
                    </m:r>
                    <m:sSup>
                      <m:sSupPr>
                        <m:ctrlPr>
                          <a:rPr i="1">
                            <a:latin typeface="Cambria Math" panose="02040503050406030204" pitchFamily="18" charset="0"/>
                          </a:rPr>
                        </m:ctrlPr>
                      </m:sSupPr>
                      <m:e>
                        <m:r>
                          <a:rPr>
                            <a:latin typeface="Cambria Math" panose="02040503050406030204" pitchFamily="18" charset="0"/>
                          </a:rPr>
                          <m:t>𝜎</m:t>
                        </m:r>
                      </m:e>
                      <m:sup>
                        <m:r>
                          <a:rPr>
                            <a:latin typeface="Cambria Math" panose="02040503050406030204" pitchFamily="18" charset="0"/>
                          </a:rPr>
                          <m:t>2</m:t>
                        </m:r>
                      </m:sup>
                    </m:sSup>
                    <m:r>
                      <a:rPr>
                        <a:latin typeface="Cambria Math" panose="02040503050406030204" pitchFamily="18" charset="0"/>
                      </a:rPr>
                      <m:t>/</m:t>
                    </m:r>
                    <m:r>
                      <a:rPr>
                        <a:latin typeface="Cambria Math" panose="02040503050406030204" pitchFamily="18" charset="0"/>
                      </a:rPr>
                      <m:t>𝑛</m:t>
                    </m:r>
                  </m:e>
                </m:d>
              </m:oMath>
            </a14:m>
            <a:r>
              <a:t>.</a:t>
            </a:r>
          </a:p>
          <a:p>
            <a:pPr marL="0" lvl="0" indent="0">
              <a:buNone/>
            </a:pPr>
            <a:r>
              <a:t>As we usually do not know </a:t>
            </a:r>
            <a14:m xmlns:a14="http://schemas.microsoft.com/office/drawing/2010/main">
              <m:oMath xmlns:m="http://schemas.openxmlformats.org/officeDocument/2006/math">
                <m:r>
                  <a:rPr>
                    <a:latin typeface="Cambria Math" panose="02040503050406030204" pitchFamily="18" charset="0"/>
                  </a:rPr>
                  <m:t>𝜇</m:t>
                </m:r>
                <m:r>
                  <a:rPr>
                    <a:latin typeface="Cambria Math" panose="02040503050406030204" pitchFamily="18" charset="0"/>
                  </a:rPr>
                  <m:t>,</m:t>
                </m:r>
                <m:sSup>
                  <m:sSupPr>
                    <m:ctrlPr>
                      <a:rPr i="1">
                        <a:latin typeface="Cambria Math" panose="02040503050406030204" pitchFamily="18" charset="0"/>
                      </a:rPr>
                    </m:ctrlPr>
                  </m:sSupPr>
                  <m:e>
                    <m:r>
                      <a:rPr>
                        <a:latin typeface="Cambria Math" panose="02040503050406030204" pitchFamily="18" charset="0"/>
                      </a:rPr>
                      <m:t>𝜎</m:t>
                    </m:r>
                  </m:e>
                  <m:sup>
                    <m:r>
                      <a:rPr>
                        <a:latin typeface="Cambria Math" panose="02040503050406030204" pitchFamily="18" charset="0"/>
                      </a:rPr>
                      <m:t>2</m:t>
                    </m:r>
                  </m:sup>
                </m:sSup>
              </m:oMath>
            </a14:m>
            <a:r>
              <a:t>, we estimate these quantities: </a:t>
            </a:r>
            <a14:m xmlns:a14="http://schemas.microsoft.com/office/drawing/2010/main">
              <m:oMath xmlns:m="http://schemas.openxmlformats.org/officeDocument/2006/math">
                <m:r>
                  <a:rPr>
                    <a:latin typeface="Cambria Math" panose="02040503050406030204" pitchFamily="18" charset="0"/>
                  </a:rPr>
                  <m:t>𝜇</m:t>
                </m:r>
              </m:oMath>
            </a14:m>
            <a:r>
              <a:t> through </a:t>
            </a:r>
            <a14:m xmlns:a14="http://schemas.microsoft.com/office/drawing/2010/main">
              <m:oMath xmlns:m="http://schemas.openxmlformats.org/officeDocument/2006/math">
                <m:acc>
                  <m:accPr>
                    <m:chr m:val="‾"/>
                    <m:ctrlPr>
                      <a:rPr>
                        <a:latin typeface="Cambria Math" panose="02040503050406030204" pitchFamily="18" charset="0"/>
                      </a:rPr>
                    </m:ctrlPr>
                  </m:accPr>
                  <m:e>
                    <m:r>
                      <a:rPr>
                        <a:latin typeface="Cambria Math" panose="02040503050406030204" pitchFamily="18" charset="0"/>
                      </a:rPr>
                      <m:t>𝑋</m:t>
                    </m:r>
                  </m:e>
                </m:acc>
              </m:oMath>
            </a14:m>
            <a:r>
              <a:t> and </a:t>
            </a:r>
            <a14:m xmlns:a14="http://schemas.microsoft.com/office/drawing/2010/main">
              <m:oMath xmlns:m="http://schemas.openxmlformats.org/officeDocument/2006/math">
                <m:sSup>
                  <m:sSupPr>
                    <m:ctrlPr>
                      <a:rPr>
                        <a:latin typeface="Cambria Math" panose="02040503050406030204" pitchFamily="18" charset="0"/>
                      </a:rPr>
                    </m:ctrlPr>
                  </m:sSupPr>
                  <m:e>
                    <m:r>
                      <a:rPr>
                        <a:latin typeface="Cambria Math" panose="02040503050406030204" pitchFamily="18" charset="0"/>
                      </a:rPr>
                      <m:t>𝜎</m:t>
                    </m:r>
                  </m:e>
                  <m:sup>
                    <m:r>
                      <a:rPr>
                        <a:latin typeface="Cambria Math" panose="02040503050406030204" pitchFamily="18" charset="0"/>
                      </a:rPr>
                      <m:t>2</m:t>
                    </m:r>
                  </m:sup>
                </m:sSup>
              </m:oMath>
            </a14:m>
            <a:r>
              <a:t> by the sample variance: </a:t>
            </a:r>
            <a14:m xmlns:a14="http://schemas.microsoft.com/office/drawing/2010/main">
              <m:oMath xmlns:m="http://schemas.openxmlformats.org/officeDocument/2006/math">
                <m:sSup>
                  <m:sSupPr>
                    <m:ctrlPr>
                      <a:rPr>
                        <a:latin typeface="Cambria Math" panose="02040503050406030204" pitchFamily="18" charset="0"/>
                      </a:rPr>
                    </m:ctrlPr>
                  </m:sSupPr>
                  <m:e>
                    <m:r>
                      <a:rPr>
                        <a:latin typeface="Cambria Math" panose="02040503050406030204" pitchFamily="18" charset="0"/>
                      </a:rPr>
                      <m:t>𝑠</m:t>
                    </m:r>
                  </m:e>
                  <m:sup>
                    <m:r>
                      <a:rPr>
                        <a:latin typeface="Cambria Math" panose="02040503050406030204" pitchFamily="18" charset="0"/>
                      </a:rPr>
                      <m:t>2</m:t>
                    </m:r>
                  </m:sup>
                </m:sSup>
                <m:r>
                  <a:rPr>
                    <a:latin typeface="Cambria Math" panose="02040503050406030204" pitchFamily="18" charset="0"/>
                  </a:rPr>
                  <m:t>=</m:t>
                </m:r>
                <m:f>
                  <m:fPr>
                    <m:ctrlPr>
                      <a:rPr i="1">
                        <a:latin typeface="Cambria Math" panose="02040503050406030204" pitchFamily="18" charset="0"/>
                      </a:rPr>
                    </m:ctrlPr>
                  </m:fPr>
                  <m:num>
                    <m:r>
                      <a:rPr>
                        <a:latin typeface="Cambria Math" panose="02040503050406030204" pitchFamily="18" charset="0"/>
                      </a:rPr>
                      <m:t>1</m:t>
                    </m:r>
                  </m:num>
                  <m:den>
                    <m:r>
                      <a:rPr>
                        <a:latin typeface="Cambria Math" panose="02040503050406030204" pitchFamily="18" charset="0"/>
                      </a:rPr>
                      <m:t>𝑛</m:t>
                    </m:r>
                    <m:r>
                      <a:rPr>
                        <a:latin typeface="Cambria Math" panose="02040503050406030204" pitchFamily="18" charset="0"/>
                      </a:rPr>
                      <m:t>−1</m:t>
                    </m:r>
                  </m:den>
                </m:f>
                <m:nary>
                  <m:naryPr>
                    <m:chr m:val="∑"/>
                    <m:limLoc m:val="undOvr"/>
                    <m:ctrlPr>
                      <a:rPr i="1">
                        <a:latin typeface="Cambria Math" panose="02040503050406030204" pitchFamily="18" charset="0"/>
                      </a:rPr>
                    </m:ctrlPr>
                  </m:naryPr>
                  <m:sub>
                    <m:r>
                      <a:rPr>
                        <a:latin typeface="Cambria Math" panose="02040503050406030204" pitchFamily="18" charset="0"/>
                      </a:rPr>
                      <m:t>𝑖</m:t>
                    </m:r>
                    <m:r>
                      <a:rPr>
                        <a:latin typeface="Cambria Math" panose="02040503050406030204" pitchFamily="18" charset="0"/>
                      </a:rPr>
                      <m:t>=1</m:t>
                    </m:r>
                  </m:sub>
                  <m:sup>
                    <m:r>
                      <a:rPr>
                        <a:latin typeface="Cambria Math" panose="02040503050406030204" pitchFamily="18" charset="0"/>
                      </a:rPr>
                      <m:t>𝑛</m:t>
                    </m:r>
                  </m:sup>
                  <m:e>
                    <m:sSup>
                      <m:sSupPr>
                        <m:ctrlPr>
                          <a:rPr i="1">
                            <a:latin typeface="Cambria Math" panose="02040503050406030204" pitchFamily="18" charset="0"/>
                          </a:rPr>
                        </m:ctrlPr>
                      </m:sSupPr>
                      <m:e>
                        <m:d>
                          <m:dPr>
                            <m:ctrlPr>
                              <a:rPr i="1">
                                <a:latin typeface="Cambria Math" panose="02040503050406030204" pitchFamily="18" charset="0"/>
                              </a:rPr>
                            </m:ctrlPr>
                          </m:dPr>
                          <m:e>
                            <m:sSub>
                              <m:sSubPr>
                                <m:ctrlPr>
                                  <a:rPr i="1">
                                    <a:latin typeface="Cambria Math" panose="02040503050406030204" pitchFamily="18" charset="0"/>
                                  </a:rPr>
                                </m:ctrlPr>
                              </m:sSubPr>
                              <m:e>
                                <m:r>
                                  <a:rPr>
                                    <a:latin typeface="Cambria Math" panose="02040503050406030204" pitchFamily="18" charset="0"/>
                                  </a:rPr>
                                  <m:t>𝑋</m:t>
                                </m:r>
                              </m:e>
                              <m:sub>
                                <m:r>
                                  <a:rPr>
                                    <a:latin typeface="Cambria Math" panose="02040503050406030204" pitchFamily="18" charset="0"/>
                                  </a:rPr>
                                  <m:t>𝑖</m:t>
                                </m:r>
                              </m:sub>
                            </m:sSub>
                            <m:r>
                              <a:rPr>
                                <a:latin typeface="Cambria Math" panose="02040503050406030204" pitchFamily="18" charset="0"/>
                              </a:rPr>
                              <m:t>−</m:t>
                            </m:r>
                            <m:acc>
                              <m:accPr>
                                <m:chr m:val="‾"/>
                                <m:ctrlPr>
                                  <a:rPr i="1">
                                    <a:latin typeface="Cambria Math" panose="02040503050406030204" pitchFamily="18" charset="0"/>
                                  </a:rPr>
                                </m:ctrlPr>
                              </m:accPr>
                              <m:e>
                                <m:r>
                                  <a:rPr>
                                    <a:latin typeface="Cambria Math" panose="02040503050406030204" pitchFamily="18" charset="0"/>
                                  </a:rPr>
                                  <m:t>𝑋</m:t>
                                </m:r>
                              </m:e>
                            </m:acc>
                          </m:e>
                        </m:d>
                      </m:e>
                      <m:sup>
                        <m:r>
                          <a:rPr>
                            <a:latin typeface="Cambria Math" panose="02040503050406030204" pitchFamily="18" charset="0"/>
                          </a:rPr>
                          <m:t>2</m:t>
                        </m:r>
                      </m:sup>
                    </m:sSup>
                  </m:e>
                </m:nary>
              </m:oMath>
            </a14:m>
            <a:r>
              <a:t>.</a:t>
            </a:r>
          </a:p>
          <a:p>
            <a:pPr marL="0" lvl="0" indent="0">
              <a:buNone/>
            </a:pPr>
            <a:r>
              <a:t>In this case, since </a:t>
            </a:r>
            <a14:m xmlns:a14="http://schemas.microsoft.com/office/drawing/2010/main">
              <m:oMath xmlns:m="http://schemas.openxmlformats.org/officeDocument/2006/math">
                <m:sSup>
                  <m:sSupPr>
                    <m:ctrlPr>
                      <a:rPr>
                        <a:latin typeface="Cambria Math" panose="02040503050406030204" pitchFamily="18" charset="0"/>
                      </a:rPr>
                    </m:ctrlPr>
                  </m:sSupPr>
                  <m:e>
                    <m:r>
                      <a:rPr>
                        <a:latin typeface="Cambria Math" panose="02040503050406030204" pitchFamily="18" charset="0"/>
                      </a:rPr>
                      <m:t>𝑠</m:t>
                    </m:r>
                  </m:e>
                  <m:sup>
                    <m:r>
                      <a:rPr>
                        <a:latin typeface="Cambria Math" panose="02040503050406030204" pitchFamily="18" charset="0"/>
                      </a:rPr>
                      <m:t>2</m:t>
                    </m:r>
                  </m:sup>
                </m:sSup>
              </m:oMath>
            </a14:m>
            <a:r>
              <a:t> is random itself, the distribution will not be normal but a Student’s t distribution with </a:t>
            </a:r>
            <a14:m xmlns:a14="http://schemas.microsoft.com/office/drawing/2010/main">
              <m:oMath xmlns:m="http://schemas.openxmlformats.org/officeDocument/2006/math">
                <m:r>
                  <a:rPr>
                    <a:latin typeface="Cambria Math" panose="02040503050406030204" pitchFamily="18" charset="0"/>
                  </a:rPr>
                  <m:t>𝑛</m:t>
                </m:r>
                <m:r>
                  <a:rPr>
                    <a:latin typeface="Cambria Math" panose="02040503050406030204" pitchFamily="18" charset="0"/>
                  </a:rPr>
                  <m:t>−1</m:t>
                </m:r>
              </m:oMath>
            </a14:m>
            <a:r>
              <a:t> degrees of freedom.</a:t>
            </a:r>
          </a:p>
          <a:p>
            <a:pPr marL="0" lvl="0" indent="0">
              <a:buNone/>
            </a:pPr>
            <a:r>
              <a:t>We can get a 95% confidence interval for </a:t>
            </a:r>
            <a14:m xmlns:a14="http://schemas.microsoft.com/office/drawing/2010/main">
              <m:oMath xmlns:m="http://schemas.openxmlformats.org/officeDocument/2006/math">
                <m:acc>
                  <m:accPr>
                    <m:chr m:val="‾"/>
                    <m:ctrlPr>
                      <a:rPr>
                        <a:latin typeface="Cambria Math" panose="02040503050406030204" pitchFamily="18" charset="0"/>
                      </a:rPr>
                    </m:ctrlPr>
                  </m:accPr>
                  <m:e>
                    <m:r>
                      <a:rPr>
                        <a:latin typeface="Cambria Math" panose="02040503050406030204" pitchFamily="18" charset="0"/>
                      </a:rPr>
                      <m:t>𝑋</m:t>
                    </m:r>
                  </m:e>
                </m:acc>
              </m:oMath>
            </a14:m>
            <a:r>
              <a:t> by computing:</a:t>
            </a:r>
          </a:p>
          <a:p>
            <a:pPr marL="0" lvl="0" indent="0">
              <a:buNone/>
            </a:pPr>
            <a14:m xmlns:a14="http://schemas.microsoft.com/office/drawing/2010/main">
              <m:oMathPara xmlns:m="http://schemas.openxmlformats.org/officeDocument/2006/math">
                <m:oMathParaPr>
                  <m:jc m:val="center"/>
                </m:oMathParaPr>
                <m:oMath xmlns:m="http://schemas.openxmlformats.org/officeDocument/2006/math">
                  <m:r>
                    <a:rPr>
                      <a:latin typeface="Cambria Math" panose="02040503050406030204" pitchFamily="18" charset="0"/>
                    </a:rPr>
                    <m:t> </m:t>
                  </m:r>
                </m:oMath>
              </m:oMathPara>
            </a14:m>
            <a:endParaRPr/>
          </a:p>
          <a:p>
            <a:pPr marL="0" lvl="0" indent="0">
              <a:buNone/>
            </a:pPr>
            <a14:m xmlns:a14="http://schemas.microsoft.com/office/drawing/2010/main">
              <m:oMathPara xmlns:m="http://schemas.openxmlformats.org/officeDocument/2006/math">
                <m:oMathParaPr>
                  <m:jc m:val="center"/>
                </m:oMathParaPr>
                <m:oMath xmlns:m="http://schemas.openxmlformats.org/officeDocument/2006/math">
                  <m:acc>
                    <m:accPr>
                      <m:chr m:val="‾"/>
                      <m:ctrlPr>
                        <a:rPr>
                          <a:latin typeface="Cambria Math" panose="02040503050406030204" pitchFamily="18" charset="0"/>
                        </a:rPr>
                      </m:ctrlPr>
                    </m:accPr>
                    <m:e>
                      <m:r>
                        <a:rPr>
                          <a:latin typeface="Cambria Math" panose="02040503050406030204" pitchFamily="18" charset="0"/>
                        </a:rPr>
                        <m:t>𝑋</m:t>
                      </m:r>
                    </m:e>
                  </m:acc>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𝑡</m:t>
                      </m:r>
                    </m:e>
                    <m:sub>
                      <m:r>
                        <a:rPr>
                          <a:latin typeface="Cambria Math" panose="02040503050406030204" pitchFamily="18" charset="0"/>
                        </a:rPr>
                        <m:t>1−</m:t>
                      </m:r>
                      <m:r>
                        <a:rPr>
                          <a:latin typeface="Cambria Math" panose="02040503050406030204" pitchFamily="18" charset="0"/>
                        </a:rPr>
                        <m:t>𝛼</m:t>
                      </m:r>
                      <m:r>
                        <a:rPr>
                          <a:latin typeface="Cambria Math" panose="02040503050406030204" pitchFamily="18" charset="0"/>
                        </a:rPr>
                        <m:t>/2,</m:t>
                      </m:r>
                      <m:r>
                        <a:rPr>
                          <a:latin typeface="Cambria Math" panose="02040503050406030204" pitchFamily="18" charset="0"/>
                        </a:rPr>
                        <m:t>𝑛</m:t>
                      </m:r>
                      <m:r>
                        <a:rPr>
                          <a:latin typeface="Cambria Math" panose="02040503050406030204" pitchFamily="18" charset="0"/>
                        </a:rPr>
                        <m:t>−1</m:t>
                      </m:r>
                    </m:sub>
                  </m:sSub>
                  <m:r>
                    <a:rPr>
                      <a:latin typeface="Cambria Math" panose="02040503050406030204" pitchFamily="18" charset="0"/>
                    </a:rPr>
                    <m:t>⋅</m:t>
                  </m:r>
                  <m:rad>
                    <m:radPr>
                      <m:degHide m:val="on"/>
                      <m:ctrlPr>
                        <a:rPr i="1">
                          <a:latin typeface="Cambria Math" panose="02040503050406030204" pitchFamily="18" charset="0"/>
                        </a:rPr>
                      </m:ctrlPr>
                    </m:radPr>
                    <m:deg/>
                    <m:e>
                      <m:f>
                        <m:fPr>
                          <m:ctrlPr>
                            <a:rPr i="1">
                              <a:latin typeface="Cambria Math" panose="02040503050406030204" pitchFamily="18" charset="0"/>
                            </a:rPr>
                          </m:ctrlPr>
                        </m:fPr>
                        <m:num>
                          <m:sSup>
                            <m:sSupPr>
                              <m:ctrlPr>
                                <a:rPr i="1">
                                  <a:latin typeface="Cambria Math" panose="02040503050406030204" pitchFamily="18" charset="0"/>
                                </a:rPr>
                              </m:ctrlPr>
                            </m:sSupPr>
                            <m:e>
                              <m:r>
                                <a:rPr>
                                  <a:latin typeface="Cambria Math" panose="02040503050406030204" pitchFamily="18" charset="0"/>
                                </a:rPr>
                                <m:t>𝑠</m:t>
                              </m:r>
                            </m:e>
                            <m:sup>
                              <m:r>
                                <a:rPr>
                                  <a:latin typeface="Cambria Math" panose="02040503050406030204" pitchFamily="18" charset="0"/>
                                </a:rPr>
                                <m:t>2</m:t>
                              </m:r>
                            </m:sup>
                          </m:sSup>
                        </m:num>
                        <m:den>
                          <m:r>
                            <a:rPr>
                              <a:latin typeface="Cambria Math" panose="02040503050406030204" pitchFamily="18" charset="0"/>
                            </a:rPr>
                            <m:t>𝑛</m:t>
                          </m:r>
                        </m:den>
                      </m:f>
                    </m:e>
                  </m:rad>
                </m:oMath>
              </m:oMathPara>
            </a14:m>
            <a:endParaRPr/>
          </a:p>
          <a:p>
            <a:pPr marL="0" lvl="0" indent="0">
              <a:buNone/>
            </a:pPr>
            <a:r>
              <a:t>where </a:t>
            </a:r>
            <a14:m xmlns:a14="http://schemas.microsoft.com/office/drawing/2010/main">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𝑡</m:t>
                    </m:r>
                  </m:e>
                  <m:sub>
                    <m:r>
                      <a:rPr>
                        <a:latin typeface="Cambria Math" panose="02040503050406030204" pitchFamily="18" charset="0"/>
                      </a:rPr>
                      <m:t>1−</m:t>
                    </m:r>
                    <m:r>
                      <a:rPr>
                        <a:latin typeface="Cambria Math" panose="02040503050406030204" pitchFamily="18" charset="0"/>
                      </a:rPr>
                      <m:t>𝛼</m:t>
                    </m:r>
                    <m:r>
                      <a:rPr>
                        <a:latin typeface="Cambria Math" panose="02040503050406030204" pitchFamily="18" charset="0"/>
                      </a:rPr>
                      <m:t>/2,</m:t>
                    </m:r>
                    <m:r>
                      <a:rPr>
                        <a:latin typeface="Cambria Math" panose="02040503050406030204" pitchFamily="18" charset="0"/>
                      </a:rPr>
                      <m:t>𝑛</m:t>
                    </m:r>
                    <m:r>
                      <a:rPr>
                        <a:latin typeface="Cambria Math" panose="02040503050406030204" pitchFamily="18" charset="0"/>
                      </a:rPr>
                      <m:t>−1</m:t>
                    </m:r>
                  </m:sub>
                </m:sSub>
              </m:oMath>
            </a14:m>
            <a:r>
              <a:t> is the </a:t>
            </a:r>
            <a14:m xmlns:a14="http://schemas.microsoft.com/office/drawing/2010/main">
              <m:oMath xmlns:m="http://schemas.openxmlformats.org/officeDocument/2006/math">
                <m:sSup>
                  <m:sSupPr>
                    <m:ctrlPr>
                      <a:rPr>
                        <a:latin typeface="Cambria Math" panose="02040503050406030204" pitchFamily="18" charset="0"/>
                      </a:rPr>
                    </m:ctrlPr>
                  </m:sSupPr>
                  <m:e>
                    <m:r>
                      <a:rPr>
                        <a:latin typeface="Cambria Math" panose="02040503050406030204" pitchFamily="18" charset="0"/>
                      </a:rPr>
                      <m:t>95</m:t>
                    </m:r>
                  </m:e>
                  <m:sup>
                    <m:r>
                      <a:rPr>
                        <a:latin typeface="Cambria Math" panose="02040503050406030204" pitchFamily="18" charset="0"/>
                      </a:rPr>
                      <m:t>𝑡h</m:t>
                    </m:r>
                  </m:sup>
                </m:sSup>
              </m:oMath>
            </a14:m>
            <a:r>
              <a:t> percentile of a t distribution with </a:t>
            </a:r>
            <a14:m xmlns:a14="http://schemas.microsoft.com/office/drawing/2010/main">
              <m:oMath xmlns:m="http://schemas.openxmlformats.org/officeDocument/2006/math">
                <m:r>
                  <a:rPr>
                    <a:latin typeface="Cambria Math" panose="02040503050406030204" pitchFamily="18" charset="0"/>
                  </a:rPr>
                  <m:t>𝑛</m:t>
                </m:r>
                <m:r>
                  <a:rPr>
                    <a:latin typeface="Cambria Math" panose="02040503050406030204" pitchFamily="18" charset="0"/>
                  </a:rPr>
                  <m:t>−1</m:t>
                </m:r>
              </m:oMath>
            </a14:m>
            <a:r>
              <a:t> degrees of freedom.</a:t>
            </a:r>
          </a:p>
        </p:txBody>
      </p:sp>
      <p:sp>
        <p:nvSpPr>
          <p:cNvPr id="6" name="Slide Number Placeholder 5">
            <a:extLst>
              <a:ext uri="{FF2B5EF4-FFF2-40B4-BE49-F238E27FC236}">
                <a16:creationId xmlns:a16="http://schemas.microsoft.com/office/drawing/2014/main" id="{C03F998A-2A5E-471F-9FEB-2559B0A7F93D}"/>
              </a:ext>
            </a:extLst>
          </p:cNvPr>
          <p:cNvSpPr>
            <a:spLocks noGrp="1"/>
          </p:cNvSpPr>
          <p:nvPr>
            <p:ph type="sldNum" sz="quarter" idx="12"/>
          </p:nvPr>
        </p:nvSpPr>
        <p:spPr/>
        <p:txBody>
          <a:bodyPr/>
          <a:lstStyle/>
          <a:p>
            <a:fld id="{E1C5CB42-CF14-4293-8971-6DCD1AAE8BE7}" type="slidenum">
              <a:rPr lang="en-GB" smtClean="0"/>
              <a:t>16</a:t>
            </a:fld>
            <a:endParaRPr lang="en-GB"/>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marL="0" lvl="0" indent="0">
              <a:buNone/>
            </a:pPr>
            <a:r>
              <a:t>Estimating a mean</a:t>
            </a:r>
          </a:p>
        </p:txBody>
      </p:sp>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p:txBody>
          <a:bodyPr/>
          <a:lstStyle/>
          <a:p>
            <a:pPr marL="0" lvl="0" indent="0">
              <a:buNone/>
            </a:pPr>
            <a:r>
              <a:rPr b="1"/>
              <a:t>Exercise</a:t>
            </a:r>
          </a:p>
          <a:p>
            <a:pPr marL="0" lvl="0" indent="0">
              <a:buNone/>
            </a:pPr>
            <a14:m xmlns:a14="http://schemas.microsoft.com/office/drawing/2010/main">
              <m:oMathPara xmlns:m="http://schemas.openxmlformats.org/officeDocument/2006/math">
                <m:oMathParaPr>
                  <m:jc m:val="center"/>
                </m:oMathParaPr>
                <m:oMath xmlns:m="http://schemas.openxmlformats.org/officeDocument/2006/math">
                  <m:r>
                    <a:rPr>
                      <a:latin typeface="Cambria Math" panose="02040503050406030204" pitchFamily="18" charset="0"/>
                    </a:rPr>
                    <m:t> </m:t>
                  </m:r>
                </m:oMath>
              </m:oMathPara>
            </a14:m>
            <a:endParaRPr b="1"/>
          </a:p>
          <a:p>
            <a:pPr marL="0" lvl="0" indent="0">
              <a:buNone/>
            </a:pPr>
            <a:r>
              <a:t>You have conducted a study to estimate the average height of 12 year old boys in Blantyre, recruiting </a:t>
            </a:r>
            <a14:m xmlns:a14="http://schemas.microsoft.com/office/drawing/2010/main">
              <m:oMath xmlns:m="http://schemas.openxmlformats.org/officeDocument/2006/math">
                <m:r>
                  <a:rPr>
                    <a:latin typeface="Cambria Math" panose="02040503050406030204" pitchFamily="18" charset="0"/>
                  </a:rPr>
                  <m:t>𝑛</m:t>
                </m:r>
                <m:r>
                  <a:rPr>
                    <a:latin typeface="Cambria Math" panose="02040503050406030204" pitchFamily="18" charset="0"/>
                  </a:rPr>
                  <m:t>=12</m:t>
                </m:r>
              </m:oMath>
            </a14:m>
            <a:r>
              <a:t> boys into your study. These are the recorded heights (in cm):</a:t>
            </a:r>
          </a:p>
          <a:p>
            <a:pPr marL="0" lvl="0" indent="0">
              <a:buNone/>
            </a:pPr>
            <a:r>
              <a:rPr>
                <a:latin typeface="Courier"/>
              </a:rPr>
              <a:t>156 147 155 145 148 144 150 148 152 149 145 143</a:t>
            </a:r>
          </a:p>
          <a:p>
            <a:pPr marL="0" lvl="0" indent="0">
              <a:buNone/>
            </a:pPr>
            <a:r>
              <a:t>Compute the sample mean and a 95% confidence interval.</a:t>
            </a:r>
          </a:p>
        </p:txBody>
      </p:sp>
      <p:sp>
        <p:nvSpPr>
          <p:cNvPr id="6" name="Slide Number Placeholder 5">
            <a:extLst>
              <a:ext uri="{FF2B5EF4-FFF2-40B4-BE49-F238E27FC236}">
                <a16:creationId xmlns:a16="http://schemas.microsoft.com/office/drawing/2014/main" id="{C03F998A-2A5E-471F-9FEB-2559B0A7F93D}"/>
              </a:ext>
            </a:extLst>
          </p:cNvPr>
          <p:cNvSpPr>
            <a:spLocks noGrp="1"/>
          </p:cNvSpPr>
          <p:nvPr>
            <p:ph type="sldNum" sz="quarter" idx="12"/>
          </p:nvPr>
        </p:nvSpPr>
        <p:spPr/>
        <p:txBody>
          <a:bodyPr/>
          <a:lstStyle/>
          <a:p>
            <a:fld id="{E1C5CB42-CF14-4293-8971-6DCD1AAE8BE7}" type="slidenum">
              <a:rPr lang="en-GB" smtClean="0"/>
              <a:t>17</a:t>
            </a:fld>
            <a:endParaRPr lang="en-GB"/>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marL="0" lvl="0" indent="0">
              <a:buNone/>
            </a:pPr>
            <a:r>
              <a:t>Estimating a mean</a:t>
            </a:r>
          </a:p>
        </p:txBody>
      </p:sp>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a:xfrm>
            <a:off x="838200" y="1765417"/>
            <a:ext cx="10515600" cy="4667250"/>
          </a:xfrm>
        </p:spPr>
        <p:txBody>
          <a:bodyPr>
            <a:normAutofit fontScale="77500" lnSpcReduction="20000"/>
          </a:bodyPr>
          <a:lstStyle/>
          <a:p>
            <a:pPr marL="0" lvl="0" indent="0">
              <a:buNone/>
            </a:pPr>
            <a:r>
              <a:rPr b="1" dirty="0"/>
              <a:t>Solution</a:t>
            </a:r>
          </a:p>
          <a:p>
            <a:pPr lvl="0" indent="0">
              <a:buNone/>
            </a:pPr>
            <a:r>
              <a:rPr dirty="0">
                <a:latin typeface="Courier"/>
              </a:rPr>
              <a:t>x</a:t>
            </a:r>
            <a:r>
              <a:rPr dirty="0">
                <a:solidFill>
                  <a:srgbClr val="007020"/>
                </a:solidFill>
                <a:latin typeface="Courier"/>
              </a:rPr>
              <a:t>&lt;-</a:t>
            </a:r>
            <a:r>
              <a:rPr dirty="0">
                <a:solidFill>
                  <a:srgbClr val="06287E"/>
                </a:solidFill>
                <a:latin typeface="Courier"/>
              </a:rPr>
              <a:t>c</a:t>
            </a:r>
            <a:r>
              <a:rPr dirty="0">
                <a:latin typeface="Courier"/>
              </a:rPr>
              <a:t>(</a:t>
            </a:r>
            <a:r>
              <a:rPr dirty="0">
                <a:solidFill>
                  <a:srgbClr val="40A070"/>
                </a:solidFill>
                <a:latin typeface="Courier"/>
              </a:rPr>
              <a:t>156</a:t>
            </a:r>
            <a:r>
              <a:rPr dirty="0">
                <a:latin typeface="Courier"/>
              </a:rPr>
              <a:t>,</a:t>
            </a:r>
            <a:r>
              <a:rPr dirty="0">
                <a:solidFill>
                  <a:srgbClr val="40A070"/>
                </a:solidFill>
                <a:latin typeface="Courier"/>
              </a:rPr>
              <a:t>147</a:t>
            </a:r>
            <a:r>
              <a:rPr dirty="0">
                <a:latin typeface="Courier"/>
              </a:rPr>
              <a:t>,</a:t>
            </a:r>
            <a:r>
              <a:rPr dirty="0">
                <a:solidFill>
                  <a:srgbClr val="40A070"/>
                </a:solidFill>
                <a:latin typeface="Courier"/>
              </a:rPr>
              <a:t>155</a:t>
            </a:r>
            <a:r>
              <a:rPr dirty="0">
                <a:latin typeface="Courier"/>
              </a:rPr>
              <a:t>,</a:t>
            </a:r>
            <a:r>
              <a:rPr dirty="0">
                <a:solidFill>
                  <a:srgbClr val="40A070"/>
                </a:solidFill>
                <a:latin typeface="Courier"/>
              </a:rPr>
              <a:t>145</a:t>
            </a:r>
            <a:r>
              <a:rPr dirty="0">
                <a:latin typeface="Courier"/>
              </a:rPr>
              <a:t>,</a:t>
            </a:r>
            <a:r>
              <a:rPr dirty="0">
                <a:solidFill>
                  <a:srgbClr val="40A070"/>
                </a:solidFill>
                <a:latin typeface="Courier"/>
              </a:rPr>
              <a:t>148</a:t>
            </a:r>
            <a:r>
              <a:rPr dirty="0">
                <a:latin typeface="Courier"/>
              </a:rPr>
              <a:t>,</a:t>
            </a:r>
            <a:r>
              <a:rPr dirty="0">
                <a:solidFill>
                  <a:srgbClr val="40A070"/>
                </a:solidFill>
                <a:latin typeface="Courier"/>
              </a:rPr>
              <a:t>144</a:t>
            </a:r>
            <a:r>
              <a:rPr dirty="0">
                <a:latin typeface="Courier"/>
              </a:rPr>
              <a:t>,</a:t>
            </a:r>
            <a:r>
              <a:rPr dirty="0">
                <a:solidFill>
                  <a:srgbClr val="40A070"/>
                </a:solidFill>
                <a:latin typeface="Courier"/>
              </a:rPr>
              <a:t>150</a:t>
            </a:r>
            <a:r>
              <a:rPr dirty="0">
                <a:latin typeface="Courier"/>
              </a:rPr>
              <a:t>,</a:t>
            </a:r>
            <a:r>
              <a:rPr dirty="0">
                <a:solidFill>
                  <a:srgbClr val="40A070"/>
                </a:solidFill>
                <a:latin typeface="Courier"/>
              </a:rPr>
              <a:t>148</a:t>
            </a:r>
            <a:r>
              <a:rPr dirty="0">
                <a:latin typeface="Courier"/>
              </a:rPr>
              <a:t>,</a:t>
            </a:r>
            <a:r>
              <a:rPr dirty="0">
                <a:solidFill>
                  <a:srgbClr val="40A070"/>
                </a:solidFill>
                <a:latin typeface="Courier"/>
              </a:rPr>
              <a:t>152</a:t>
            </a:r>
            <a:r>
              <a:rPr dirty="0">
                <a:latin typeface="Courier"/>
              </a:rPr>
              <a:t>,</a:t>
            </a:r>
            <a:r>
              <a:rPr dirty="0">
                <a:solidFill>
                  <a:srgbClr val="40A070"/>
                </a:solidFill>
                <a:latin typeface="Courier"/>
              </a:rPr>
              <a:t>149</a:t>
            </a:r>
            <a:r>
              <a:rPr dirty="0">
                <a:latin typeface="Courier"/>
              </a:rPr>
              <a:t>,</a:t>
            </a:r>
            <a:r>
              <a:rPr dirty="0">
                <a:solidFill>
                  <a:srgbClr val="40A070"/>
                </a:solidFill>
                <a:latin typeface="Courier"/>
              </a:rPr>
              <a:t>145</a:t>
            </a:r>
            <a:r>
              <a:rPr dirty="0">
                <a:latin typeface="Courier"/>
              </a:rPr>
              <a:t>,</a:t>
            </a:r>
            <a:r>
              <a:rPr dirty="0">
                <a:solidFill>
                  <a:srgbClr val="40A070"/>
                </a:solidFill>
                <a:latin typeface="Courier"/>
              </a:rPr>
              <a:t>143</a:t>
            </a:r>
            <a:r>
              <a:rPr dirty="0">
                <a:latin typeface="Courier"/>
              </a:rPr>
              <a:t>)</a:t>
            </a:r>
            <a:br>
              <a:rPr dirty="0"/>
            </a:br>
            <a:br>
              <a:rPr dirty="0"/>
            </a:br>
            <a:r>
              <a:rPr i="1" dirty="0">
                <a:solidFill>
                  <a:srgbClr val="60A0B0"/>
                </a:solidFill>
                <a:latin typeface="Courier"/>
              </a:rPr>
              <a:t># sample mean</a:t>
            </a:r>
            <a:br>
              <a:rPr dirty="0"/>
            </a:br>
            <a:r>
              <a:rPr dirty="0" err="1">
                <a:latin typeface="Courier"/>
              </a:rPr>
              <a:t>xbar</a:t>
            </a:r>
            <a:r>
              <a:rPr dirty="0">
                <a:solidFill>
                  <a:srgbClr val="007020"/>
                </a:solidFill>
                <a:latin typeface="Courier"/>
              </a:rPr>
              <a:t>&lt;-</a:t>
            </a:r>
            <a:r>
              <a:rPr dirty="0">
                <a:solidFill>
                  <a:srgbClr val="06287E"/>
                </a:solidFill>
                <a:latin typeface="Courier"/>
              </a:rPr>
              <a:t>mean</a:t>
            </a:r>
            <a:r>
              <a:rPr dirty="0">
                <a:latin typeface="Courier"/>
              </a:rPr>
              <a:t>(x)</a:t>
            </a:r>
            <a:br>
              <a:rPr dirty="0"/>
            </a:br>
            <a:r>
              <a:rPr dirty="0">
                <a:solidFill>
                  <a:srgbClr val="06287E"/>
                </a:solidFill>
                <a:latin typeface="Courier"/>
              </a:rPr>
              <a:t>print</a:t>
            </a:r>
            <a:r>
              <a:rPr dirty="0">
                <a:latin typeface="Courier"/>
              </a:rPr>
              <a:t>(</a:t>
            </a:r>
            <a:r>
              <a:rPr dirty="0" err="1">
                <a:latin typeface="Courier"/>
              </a:rPr>
              <a:t>xbar</a:t>
            </a:r>
            <a:r>
              <a:rPr dirty="0">
                <a:latin typeface="Courier"/>
              </a:rPr>
              <a:t>)</a:t>
            </a:r>
            <a:br>
              <a:rPr dirty="0"/>
            </a:br>
            <a:r>
              <a:rPr i="1" dirty="0">
                <a:solidFill>
                  <a:srgbClr val="BA2121"/>
                </a:solidFill>
                <a:latin typeface="Courier"/>
              </a:rPr>
              <a:t>## [1] 148.5</a:t>
            </a:r>
            <a:br>
              <a:rPr dirty="0"/>
            </a:br>
            <a:br>
              <a:rPr dirty="0"/>
            </a:br>
            <a:r>
              <a:rPr i="1" dirty="0">
                <a:solidFill>
                  <a:srgbClr val="60A0B0"/>
                </a:solidFill>
                <a:latin typeface="Courier"/>
              </a:rPr>
              <a:t># 95% CI</a:t>
            </a:r>
            <a:br>
              <a:rPr dirty="0"/>
            </a:br>
            <a:r>
              <a:rPr dirty="0">
                <a:latin typeface="Courier"/>
              </a:rPr>
              <a:t>n</a:t>
            </a:r>
            <a:r>
              <a:rPr dirty="0">
                <a:solidFill>
                  <a:srgbClr val="007020"/>
                </a:solidFill>
                <a:latin typeface="Courier"/>
              </a:rPr>
              <a:t>&lt;-</a:t>
            </a:r>
            <a:r>
              <a:rPr dirty="0">
                <a:solidFill>
                  <a:srgbClr val="06287E"/>
                </a:solidFill>
                <a:latin typeface="Courier"/>
              </a:rPr>
              <a:t>length</a:t>
            </a:r>
            <a:r>
              <a:rPr dirty="0">
                <a:latin typeface="Courier"/>
              </a:rPr>
              <a:t>(x)</a:t>
            </a:r>
            <a:br>
              <a:rPr dirty="0"/>
            </a:br>
            <a:r>
              <a:rPr dirty="0">
                <a:latin typeface="Courier"/>
              </a:rPr>
              <a:t>s2</a:t>
            </a:r>
            <a:r>
              <a:rPr dirty="0">
                <a:solidFill>
                  <a:srgbClr val="007020"/>
                </a:solidFill>
                <a:latin typeface="Courier"/>
              </a:rPr>
              <a:t>&lt;-</a:t>
            </a:r>
            <a:r>
              <a:rPr dirty="0">
                <a:solidFill>
                  <a:srgbClr val="06287E"/>
                </a:solidFill>
                <a:latin typeface="Courier"/>
              </a:rPr>
              <a:t>var</a:t>
            </a:r>
            <a:r>
              <a:rPr dirty="0">
                <a:latin typeface="Courier"/>
              </a:rPr>
              <a:t>(x)</a:t>
            </a:r>
            <a:br>
              <a:rPr dirty="0"/>
            </a:br>
            <a:r>
              <a:rPr dirty="0" err="1">
                <a:latin typeface="Courier"/>
              </a:rPr>
              <a:t>xLow</a:t>
            </a:r>
            <a:r>
              <a:rPr dirty="0">
                <a:solidFill>
                  <a:srgbClr val="007020"/>
                </a:solidFill>
                <a:latin typeface="Courier"/>
              </a:rPr>
              <a:t>&lt;-</a:t>
            </a:r>
            <a:r>
              <a:rPr dirty="0" err="1">
                <a:latin typeface="Courier"/>
              </a:rPr>
              <a:t>xbar</a:t>
            </a:r>
            <a:r>
              <a:rPr dirty="0">
                <a:solidFill>
                  <a:srgbClr val="4070A0"/>
                </a:solidFill>
                <a:latin typeface="Courier"/>
              </a:rPr>
              <a:t>-</a:t>
            </a:r>
            <a:r>
              <a:rPr dirty="0">
                <a:solidFill>
                  <a:srgbClr val="06287E"/>
                </a:solidFill>
                <a:latin typeface="Courier"/>
              </a:rPr>
              <a:t>qt</a:t>
            </a:r>
            <a:r>
              <a:rPr dirty="0">
                <a:latin typeface="Courier"/>
              </a:rPr>
              <a:t>(</a:t>
            </a:r>
            <a:r>
              <a:rPr dirty="0">
                <a:solidFill>
                  <a:srgbClr val="40A070"/>
                </a:solidFill>
                <a:latin typeface="Courier"/>
              </a:rPr>
              <a:t>0.975</a:t>
            </a:r>
            <a:r>
              <a:rPr dirty="0">
                <a:latin typeface="Courier"/>
              </a:rPr>
              <a:t>,</a:t>
            </a:r>
            <a:r>
              <a:rPr dirty="0">
                <a:solidFill>
                  <a:srgbClr val="7D9029"/>
                </a:solidFill>
                <a:latin typeface="Courier"/>
              </a:rPr>
              <a:t>df=</a:t>
            </a:r>
            <a:r>
              <a:rPr dirty="0">
                <a:latin typeface="Courier"/>
              </a:rPr>
              <a:t>n</a:t>
            </a:r>
            <a:r>
              <a:rPr dirty="0">
                <a:solidFill>
                  <a:srgbClr val="40A070"/>
                </a:solidFill>
                <a:latin typeface="Courier"/>
              </a:rPr>
              <a:t>-1</a:t>
            </a:r>
            <a:r>
              <a:rPr dirty="0">
                <a:latin typeface="Courier"/>
              </a:rPr>
              <a:t>)</a:t>
            </a:r>
            <a:r>
              <a:rPr dirty="0">
                <a:solidFill>
                  <a:srgbClr val="4070A0"/>
                </a:solidFill>
                <a:latin typeface="Courier"/>
              </a:rPr>
              <a:t>*</a:t>
            </a:r>
            <a:r>
              <a:rPr dirty="0">
                <a:solidFill>
                  <a:srgbClr val="06287E"/>
                </a:solidFill>
                <a:latin typeface="Courier"/>
              </a:rPr>
              <a:t>sqrt</a:t>
            </a:r>
            <a:r>
              <a:rPr dirty="0">
                <a:latin typeface="Courier"/>
              </a:rPr>
              <a:t>(s2</a:t>
            </a:r>
            <a:r>
              <a:rPr dirty="0">
                <a:solidFill>
                  <a:srgbClr val="4070A0"/>
                </a:solidFill>
                <a:latin typeface="Courier"/>
              </a:rPr>
              <a:t>/</a:t>
            </a:r>
            <a:r>
              <a:rPr dirty="0">
                <a:latin typeface="Courier"/>
              </a:rPr>
              <a:t>n)</a:t>
            </a:r>
            <a:br>
              <a:rPr dirty="0"/>
            </a:br>
            <a:r>
              <a:rPr dirty="0" err="1">
                <a:latin typeface="Courier"/>
              </a:rPr>
              <a:t>xUpp</a:t>
            </a:r>
            <a:r>
              <a:rPr dirty="0">
                <a:solidFill>
                  <a:srgbClr val="007020"/>
                </a:solidFill>
                <a:latin typeface="Courier"/>
              </a:rPr>
              <a:t>&lt;-</a:t>
            </a:r>
            <a:r>
              <a:rPr dirty="0" err="1">
                <a:latin typeface="Courier"/>
              </a:rPr>
              <a:t>xbar</a:t>
            </a:r>
            <a:r>
              <a:rPr dirty="0" err="1">
                <a:solidFill>
                  <a:srgbClr val="4070A0"/>
                </a:solidFill>
                <a:latin typeface="Courier"/>
              </a:rPr>
              <a:t>+</a:t>
            </a:r>
            <a:r>
              <a:rPr dirty="0" err="1">
                <a:solidFill>
                  <a:srgbClr val="06287E"/>
                </a:solidFill>
                <a:latin typeface="Courier"/>
              </a:rPr>
              <a:t>qt</a:t>
            </a:r>
            <a:r>
              <a:rPr dirty="0">
                <a:latin typeface="Courier"/>
              </a:rPr>
              <a:t>(</a:t>
            </a:r>
            <a:r>
              <a:rPr dirty="0">
                <a:solidFill>
                  <a:srgbClr val="40A070"/>
                </a:solidFill>
                <a:latin typeface="Courier"/>
              </a:rPr>
              <a:t>0.975</a:t>
            </a:r>
            <a:r>
              <a:rPr dirty="0">
                <a:latin typeface="Courier"/>
              </a:rPr>
              <a:t>,</a:t>
            </a:r>
            <a:r>
              <a:rPr dirty="0">
                <a:solidFill>
                  <a:srgbClr val="7D9029"/>
                </a:solidFill>
                <a:latin typeface="Courier"/>
              </a:rPr>
              <a:t>df=</a:t>
            </a:r>
            <a:r>
              <a:rPr dirty="0">
                <a:latin typeface="Courier"/>
              </a:rPr>
              <a:t>n</a:t>
            </a:r>
            <a:r>
              <a:rPr dirty="0">
                <a:solidFill>
                  <a:srgbClr val="40A070"/>
                </a:solidFill>
                <a:latin typeface="Courier"/>
              </a:rPr>
              <a:t>-1</a:t>
            </a:r>
            <a:r>
              <a:rPr dirty="0">
                <a:latin typeface="Courier"/>
              </a:rPr>
              <a:t>)</a:t>
            </a:r>
            <a:r>
              <a:rPr dirty="0">
                <a:solidFill>
                  <a:srgbClr val="4070A0"/>
                </a:solidFill>
                <a:latin typeface="Courier"/>
              </a:rPr>
              <a:t>*</a:t>
            </a:r>
            <a:r>
              <a:rPr dirty="0">
                <a:solidFill>
                  <a:srgbClr val="06287E"/>
                </a:solidFill>
                <a:latin typeface="Courier"/>
              </a:rPr>
              <a:t>sqrt</a:t>
            </a:r>
            <a:r>
              <a:rPr dirty="0">
                <a:latin typeface="Courier"/>
              </a:rPr>
              <a:t>(s2</a:t>
            </a:r>
            <a:r>
              <a:rPr dirty="0">
                <a:solidFill>
                  <a:srgbClr val="4070A0"/>
                </a:solidFill>
                <a:latin typeface="Courier"/>
              </a:rPr>
              <a:t>/</a:t>
            </a:r>
            <a:r>
              <a:rPr dirty="0">
                <a:latin typeface="Courier"/>
              </a:rPr>
              <a:t>n)</a:t>
            </a:r>
            <a:br>
              <a:rPr dirty="0"/>
            </a:br>
            <a:r>
              <a:rPr dirty="0">
                <a:latin typeface="Courier"/>
              </a:rPr>
              <a:t>CI</a:t>
            </a:r>
            <a:r>
              <a:rPr dirty="0">
                <a:solidFill>
                  <a:srgbClr val="007020"/>
                </a:solidFill>
                <a:latin typeface="Courier"/>
              </a:rPr>
              <a:t>&lt;-</a:t>
            </a:r>
            <a:r>
              <a:rPr dirty="0">
                <a:solidFill>
                  <a:srgbClr val="06287E"/>
                </a:solidFill>
                <a:latin typeface="Courier"/>
              </a:rPr>
              <a:t>c</a:t>
            </a:r>
            <a:r>
              <a:rPr dirty="0">
                <a:latin typeface="Courier"/>
              </a:rPr>
              <a:t>(</a:t>
            </a:r>
            <a:r>
              <a:rPr dirty="0" err="1">
                <a:latin typeface="Courier"/>
              </a:rPr>
              <a:t>xLow,xUpp</a:t>
            </a:r>
            <a:r>
              <a:rPr dirty="0">
                <a:latin typeface="Courier"/>
              </a:rPr>
              <a:t>)</a:t>
            </a:r>
            <a:br>
              <a:rPr dirty="0"/>
            </a:br>
            <a:r>
              <a:rPr dirty="0">
                <a:solidFill>
                  <a:srgbClr val="06287E"/>
                </a:solidFill>
                <a:latin typeface="Courier"/>
              </a:rPr>
              <a:t>print</a:t>
            </a:r>
            <a:r>
              <a:rPr dirty="0">
                <a:latin typeface="Courier"/>
              </a:rPr>
              <a:t>(CI)</a:t>
            </a:r>
            <a:br>
              <a:rPr dirty="0"/>
            </a:br>
            <a:r>
              <a:rPr i="1" dirty="0">
                <a:solidFill>
                  <a:srgbClr val="BA2121"/>
                </a:solidFill>
                <a:latin typeface="Courier"/>
              </a:rPr>
              <a:t>## [1] 145.8524 151.1476</a:t>
            </a:r>
            <a:br>
              <a:rPr dirty="0"/>
            </a:br>
            <a:br>
              <a:rPr dirty="0"/>
            </a:br>
            <a:r>
              <a:rPr i="1" dirty="0">
                <a:solidFill>
                  <a:srgbClr val="60A0B0"/>
                </a:solidFill>
                <a:latin typeface="Courier"/>
              </a:rPr>
              <a:t># same as</a:t>
            </a:r>
            <a:br>
              <a:rPr dirty="0"/>
            </a:br>
            <a:r>
              <a:rPr dirty="0" err="1">
                <a:solidFill>
                  <a:srgbClr val="06287E"/>
                </a:solidFill>
                <a:latin typeface="Courier"/>
              </a:rPr>
              <a:t>t.test</a:t>
            </a:r>
            <a:r>
              <a:rPr dirty="0">
                <a:latin typeface="Courier"/>
              </a:rPr>
              <a:t>(</a:t>
            </a:r>
            <a:r>
              <a:rPr dirty="0" err="1">
                <a:latin typeface="Courier"/>
              </a:rPr>
              <a:t>x,</a:t>
            </a:r>
            <a:r>
              <a:rPr dirty="0" err="1">
                <a:solidFill>
                  <a:srgbClr val="7D9029"/>
                </a:solidFill>
                <a:latin typeface="Courier"/>
              </a:rPr>
              <a:t>conf.level</a:t>
            </a:r>
            <a:r>
              <a:rPr dirty="0">
                <a:solidFill>
                  <a:srgbClr val="7D9029"/>
                </a:solidFill>
                <a:latin typeface="Courier"/>
              </a:rPr>
              <a:t>=</a:t>
            </a:r>
            <a:r>
              <a:rPr dirty="0">
                <a:solidFill>
                  <a:srgbClr val="40A070"/>
                </a:solidFill>
                <a:latin typeface="Courier"/>
              </a:rPr>
              <a:t>0.95</a:t>
            </a:r>
            <a:r>
              <a:rPr dirty="0">
                <a:latin typeface="Courier"/>
              </a:rPr>
              <a:t>)</a:t>
            </a:r>
            <a:r>
              <a:rPr dirty="0">
                <a:solidFill>
                  <a:srgbClr val="4070A0"/>
                </a:solidFill>
                <a:latin typeface="Courier"/>
              </a:rPr>
              <a:t>$</a:t>
            </a:r>
            <a:r>
              <a:rPr dirty="0">
                <a:latin typeface="Courier"/>
              </a:rPr>
              <a:t>conf.int</a:t>
            </a:r>
            <a:br>
              <a:rPr dirty="0"/>
            </a:br>
            <a:r>
              <a:rPr i="1" dirty="0">
                <a:solidFill>
                  <a:srgbClr val="BA2121"/>
                </a:solidFill>
                <a:latin typeface="Courier"/>
              </a:rPr>
              <a:t>## [1] 145.8524 151.1476</a:t>
            </a:r>
            <a:br>
              <a:rPr dirty="0"/>
            </a:br>
            <a:r>
              <a:rPr i="1" dirty="0">
                <a:solidFill>
                  <a:srgbClr val="BA2121"/>
                </a:solidFill>
                <a:latin typeface="Courier"/>
              </a:rPr>
              <a:t>## </a:t>
            </a:r>
            <a:r>
              <a:rPr i="1" dirty="0" err="1">
                <a:solidFill>
                  <a:srgbClr val="BA2121"/>
                </a:solidFill>
                <a:latin typeface="Courier"/>
              </a:rPr>
              <a:t>attr</a:t>
            </a:r>
            <a:r>
              <a:rPr i="1" dirty="0">
                <a:solidFill>
                  <a:srgbClr val="BA2121"/>
                </a:solidFill>
                <a:latin typeface="Courier"/>
              </a:rPr>
              <a:t>(,"</a:t>
            </a:r>
            <a:r>
              <a:rPr i="1" dirty="0" err="1">
                <a:solidFill>
                  <a:srgbClr val="BA2121"/>
                </a:solidFill>
                <a:latin typeface="Courier"/>
              </a:rPr>
              <a:t>conf.level</a:t>
            </a:r>
            <a:r>
              <a:rPr i="1" dirty="0">
                <a:solidFill>
                  <a:srgbClr val="BA2121"/>
                </a:solidFill>
                <a:latin typeface="Courier"/>
              </a:rPr>
              <a:t>")</a:t>
            </a:r>
            <a:br>
              <a:rPr dirty="0"/>
            </a:br>
            <a:r>
              <a:rPr i="1" dirty="0">
                <a:solidFill>
                  <a:srgbClr val="BA2121"/>
                </a:solidFill>
                <a:latin typeface="Courier"/>
              </a:rPr>
              <a:t>## [1] 0.95</a:t>
            </a:r>
          </a:p>
        </p:txBody>
      </p:sp>
      <p:sp>
        <p:nvSpPr>
          <p:cNvPr id="6" name="Slide Number Placeholder 5">
            <a:extLst>
              <a:ext uri="{FF2B5EF4-FFF2-40B4-BE49-F238E27FC236}">
                <a16:creationId xmlns:a16="http://schemas.microsoft.com/office/drawing/2014/main" id="{C03F998A-2A5E-471F-9FEB-2559B0A7F93D}"/>
              </a:ext>
            </a:extLst>
          </p:cNvPr>
          <p:cNvSpPr>
            <a:spLocks noGrp="1"/>
          </p:cNvSpPr>
          <p:nvPr>
            <p:ph type="sldNum" sz="quarter" idx="12"/>
          </p:nvPr>
        </p:nvSpPr>
        <p:spPr/>
        <p:txBody>
          <a:bodyPr/>
          <a:lstStyle/>
          <a:p>
            <a:fld id="{E1C5CB42-CF14-4293-8971-6DCD1AAE8BE7}" type="slidenum">
              <a:rPr lang="en-GB" smtClean="0"/>
              <a:t>18</a:t>
            </a:fld>
            <a:endParaRPr lang="en-GB"/>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marL="0" lvl="0" indent="0">
              <a:buNone/>
            </a:pPr>
            <a:r>
              <a:t>Estimating a regression coefficient</a:t>
            </a:r>
          </a:p>
        </p:txBody>
      </p:sp>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p:txBody>
          <a:bodyPr/>
          <a:lstStyle/>
          <a:p>
            <a:pPr marL="0" lvl="0" indent="0">
              <a:buNone/>
            </a:pPr>
            <a14:m xmlns:a14="http://schemas.microsoft.com/office/drawing/2010/main">
              <m:oMathPara xmlns:m="http://schemas.openxmlformats.org/officeDocument/2006/math">
                <m:oMathParaPr>
                  <m:jc m:val="center"/>
                </m:oMathParaPr>
                <m:oMath xmlns:m="http://schemas.openxmlformats.org/officeDocument/2006/math">
                  <m:r>
                    <a:rPr>
                      <a:latin typeface="Cambria Math" panose="02040503050406030204" pitchFamily="18" charset="0"/>
                    </a:rPr>
                    <m:t> </m:t>
                  </m:r>
                </m:oMath>
              </m:oMathPara>
            </a14:m>
            <a:endParaRPr/>
          </a:p>
          <a:p>
            <a:pPr marL="0" lvl="0" indent="0">
              <a:buNone/>
            </a:pPr>
            <a:r>
              <a:t>We will cover this in Session 5 on Generalised Linear Models.</a:t>
            </a:r>
          </a:p>
        </p:txBody>
      </p:sp>
      <p:sp>
        <p:nvSpPr>
          <p:cNvPr id="6" name="Slide Number Placeholder 5">
            <a:extLst>
              <a:ext uri="{FF2B5EF4-FFF2-40B4-BE49-F238E27FC236}">
                <a16:creationId xmlns:a16="http://schemas.microsoft.com/office/drawing/2014/main" id="{C03F998A-2A5E-471F-9FEB-2559B0A7F93D}"/>
              </a:ext>
            </a:extLst>
          </p:cNvPr>
          <p:cNvSpPr>
            <a:spLocks noGrp="1"/>
          </p:cNvSpPr>
          <p:nvPr>
            <p:ph type="sldNum" sz="quarter" idx="12"/>
          </p:nvPr>
        </p:nvSpPr>
        <p:spPr/>
        <p:txBody>
          <a:bodyPr/>
          <a:lstStyle/>
          <a:p>
            <a:fld id="{E1C5CB42-CF14-4293-8971-6DCD1AAE8BE7}" type="slidenum">
              <a:rPr lang="en-GB" smtClean="0"/>
              <a:t>19</a:t>
            </a:fld>
            <a:endParaRPr lang="en-GB"/>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511042-BDFA-4708-84AB-F848A1D5D4A0}"/>
              </a:ext>
            </a:extLst>
          </p:cNvPr>
          <p:cNvSpPr>
            <a:spLocks noGrp="1"/>
          </p:cNvSpPr>
          <p:nvPr>
            <p:ph type="title"/>
          </p:nvPr>
        </p:nvSpPr>
        <p:spPr>
          <a:xfrm>
            <a:off x="831850" y="1709738"/>
            <a:ext cx="10515600" cy="2852737"/>
          </a:xfrm>
        </p:spPr>
        <p:txBody>
          <a:bodyPr/>
          <a:lstStyle/>
          <a:p>
            <a:pPr marL="0" lvl="0" indent="0">
              <a:buNone/>
            </a:pPr>
            <a:r>
              <a:t>Null hypothesis significance testing</a:t>
            </a:r>
          </a:p>
        </p:txBody>
      </p:sp>
      <p:sp>
        <p:nvSpPr>
          <p:cNvPr id="6" name="Slide Number Placeholder 5">
            <a:extLst>
              <a:ext uri="{FF2B5EF4-FFF2-40B4-BE49-F238E27FC236}">
                <a16:creationId xmlns:a16="http://schemas.microsoft.com/office/drawing/2014/main" id="{910AAC92-EEED-4232-ACDE-84003A6476BB}"/>
              </a:ext>
            </a:extLst>
          </p:cNvPr>
          <p:cNvSpPr>
            <a:spLocks noGrp="1"/>
          </p:cNvSpPr>
          <p:nvPr>
            <p:ph type="sldNum" sz="quarter" idx="12"/>
          </p:nvPr>
        </p:nvSpPr>
        <p:spPr/>
        <p:txBody>
          <a:bodyPr/>
          <a:lstStyle/>
          <a:p>
            <a:fld id="{E1C5CB42-CF14-4293-8971-6DCD1AAE8BE7}" type="slidenum">
              <a:rPr lang="en-GB" smtClean="0"/>
              <a:t>20</a:t>
            </a:fld>
            <a:endParaRPr lang="en-GB"/>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marL="0" lvl="0" indent="0">
              <a:buNone/>
            </a:pPr>
            <a:r>
              <a:t>Hypothesis</a:t>
            </a:r>
          </a:p>
        </p:txBody>
      </p:sp>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p:txBody>
          <a:bodyPr/>
          <a:lstStyle/>
          <a:p>
            <a:pPr marL="0" lvl="0" indent="0">
              <a:buNone/>
            </a:pPr>
            <a:r>
              <a:t>Definition:</a:t>
            </a:r>
          </a:p>
          <a:p>
            <a:pPr lvl="0"/>
            <a:r>
              <a:t>A supposition, arrived at from observation or reflection, that leads to refutable predictions.</a:t>
            </a:r>
          </a:p>
          <a:p>
            <a:pPr lvl="0"/>
            <a:r>
              <a:t>Any statement/claim/conjecture cast in a form that will allow it to be tested and refuted if necessary.</a:t>
            </a:r>
          </a:p>
          <a:p>
            <a:pPr marL="0" lvl="0" indent="0">
              <a:buNone/>
            </a:pPr>
            <a:r>
              <a:t>Example:</a:t>
            </a:r>
          </a:p>
          <a:p>
            <a:pPr marL="0" lvl="0" indent="0">
              <a:buNone/>
            </a:pPr>
            <a:r>
              <a:t>Suppose we believe that everybody who lives up to age 90 or more is a non-smoker.</a:t>
            </a:r>
          </a:p>
          <a:p>
            <a:pPr marL="0" lvl="0" indent="0">
              <a:buNone/>
            </a:pPr>
            <a:r>
              <a:t>We could investigate this in two ways:-</a:t>
            </a:r>
          </a:p>
          <a:p>
            <a:pPr lvl="0"/>
            <a:r>
              <a:t>Prove the hypothesis by finding every single person aged 90 or more and checking that they are all non-smokers.</a:t>
            </a:r>
          </a:p>
          <a:p>
            <a:pPr lvl="0"/>
            <a:r>
              <a:t>Disprove the hypothesis by finding just one person aged 90 or more who smokes.</a:t>
            </a:r>
          </a:p>
        </p:txBody>
      </p:sp>
      <p:sp>
        <p:nvSpPr>
          <p:cNvPr id="6" name="Slide Number Placeholder 5">
            <a:extLst>
              <a:ext uri="{FF2B5EF4-FFF2-40B4-BE49-F238E27FC236}">
                <a16:creationId xmlns:a16="http://schemas.microsoft.com/office/drawing/2014/main" id="{C03F998A-2A5E-471F-9FEB-2559B0A7F93D}"/>
              </a:ext>
            </a:extLst>
          </p:cNvPr>
          <p:cNvSpPr>
            <a:spLocks noGrp="1"/>
          </p:cNvSpPr>
          <p:nvPr>
            <p:ph type="sldNum" sz="quarter" idx="12"/>
          </p:nvPr>
        </p:nvSpPr>
        <p:spPr/>
        <p:txBody>
          <a:bodyPr/>
          <a:lstStyle/>
          <a:p>
            <a:fld id="{E1C5CB42-CF14-4293-8971-6DCD1AAE8BE7}" type="slidenum">
              <a:rPr lang="en-GB" smtClean="0"/>
              <a:t>21</a:t>
            </a:fld>
            <a:endParaRPr lang="en-GB"/>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marL="0" lvl="0" indent="0">
              <a:buNone/>
            </a:pPr>
            <a:r>
              <a:t>Null Hypothesis</a:t>
            </a:r>
          </a:p>
        </p:txBody>
      </p:sp>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p:txBody>
          <a:bodyPr/>
          <a:lstStyle/>
          <a:p>
            <a:pPr marL="0" lvl="0" indent="0">
              <a:buNone/>
            </a:pPr>
            <a:r>
              <a:t>For formal statistical testing, we usually need to frame a </a:t>
            </a:r>
            <a:r>
              <a:rPr i="1"/>
              <a:t>narrow</a:t>
            </a:r>
            <a:r>
              <a:t>, </a:t>
            </a:r>
            <a:r>
              <a:rPr i="1"/>
              <a:t>refutable</a:t>
            </a:r>
            <a:r>
              <a:t> hypothesis that we can then formally evaluate using probability theory tools. Often we are interested to investigate whether 2 groups are different, whether a certain drug has an effect, whether a relationship exists between variables, …</a:t>
            </a:r>
          </a:p>
          <a:p>
            <a:pPr marL="0" lvl="0" indent="0">
              <a:buNone/>
            </a:pPr>
            <a14:m xmlns:a14="http://schemas.microsoft.com/office/drawing/2010/main">
              <m:oMathPara xmlns:m="http://schemas.openxmlformats.org/officeDocument/2006/math">
                <m:oMathParaPr>
                  <m:jc m:val="center"/>
                </m:oMathParaPr>
                <m:oMath xmlns:m="http://schemas.openxmlformats.org/officeDocument/2006/math">
                  <m:r>
                    <a:rPr>
                      <a:latin typeface="Cambria Math" panose="02040503050406030204" pitchFamily="18" charset="0"/>
                    </a:rPr>
                    <m:t> </m:t>
                  </m:r>
                </m:oMath>
              </m:oMathPara>
            </a14:m>
            <a:endParaRPr/>
          </a:p>
          <a:p>
            <a:pPr marL="0" lvl="0" indent="0">
              <a:buNone/>
            </a:pPr>
            <a:r>
              <a:t>These are </a:t>
            </a:r>
            <a:r>
              <a:rPr i="1"/>
              <a:t>wide</a:t>
            </a:r>
            <a:r>
              <a:t> hypotheses in the sense that there are many ways in which 2 groups can differ, a drug can have positive or negative, a large or small effect, a relationship between variables can take many shapes, may be strong or weak, …</a:t>
            </a:r>
          </a:p>
          <a:p>
            <a:pPr marL="0" lvl="0" indent="0">
              <a:buNone/>
            </a:pPr>
            <a14:m xmlns:a14="http://schemas.microsoft.com/office/drawing/2010/main">
              <m:oMathPara xmlns:m="http://schemas.openxmlformats.org/officeDocument/2006/math">
                <m:oMathParaPr>
                  <m:jc m:val="center"/>
                </m:oMathParaPr>
                <m:oMath xmlns:m="http://schemas.openxmlformats.org/officeDocument/2006/math">
                  <m:r>
                    <a:rPr>
                      <a:latin typeface="Cambria Math" panose="02040503050406030204" pitchFamily="18" charset="0"/>
                    </a:rPr>
                    <m:t> </m:t>
                  </m:r>
                </m:oMath>
              </m:oMathPara>
            </a14:m>
            <a:endParaRPr/>
          </a:p>
          <a:p>
            <a:pPr marL="0" lvl="0" indent="0">
              <a:buNone/>
            </a:pPr>
            <a:r>
              <a:t>The complementary hypotheses, i.e. the </a:t>
            </a:r>
            <a:r>
              <a:rPr i="1"/>
              <a:t>absence</a:t>
            </a:r>
            <a:r>
              <a:t> of something or whether something is equal to a </a:t>
            </a:r>
            <a:r>
              <a:rPr i="1"/>
              <a:t>specific</a:t>
            </a:r>
            <a:r>
              <a:t> value are </a:t>
            </a:r>
            <a:r>
              <a:rPr i="1"/>
              <a:t>narrow</a:t>
            </a:r>
            <a:r>
              <a:t> and can easily be formally tested. These are example of a special type of hypothesis, the </a:t>
            </a:r>
            <a:r>
              <a:rPr b="1"/>
              <a:t>null hypothesis</a:t>
            </a:r>
            <a:r>
              <a:t>, often denoted </a:t>
            </a:r>
            <a14:m xmlns:a14="http://schemas.microsoft.com/office/drawing/2010/main">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𝐻</m:t>
                    </m:r>
                  </m:e>
                  <m:sub>
                    <m:r>
                      <a:rPr>
                        <a:latin typeface="Cambria Math" panose="02040503050406030204" pitchFamily="18" charset="0"/>
                      </a:rPr>
                      <m:t>0</m:t>
                    </m:r>
                  </m:sub>
                </m:sSub>
              </m:oMath>
            </a14:m>
            <a:r>
              <a:t>.</a:t>
            </a:r>
          </a:p>
        </p:txBody>
      </p:sp>
      <p:sp>
        <p:nvSpPr>
          <p:cNvPr id="6" name="Slide Number Placeholder 5">
            <a:extLst>
              <a:ext uri="{FF2B5EF4-FFF2-40B4-BE49-F238E27FC236}">
                <a16:creationId xmlns:a16="http://schemas.microsoft.com/office/drawing/2014/main" id="{C03F998A-2A5E-471F-9FEB-2559B0A7F93D}"/>
              </a:ext>
            </a:extLst>
          </p:cNvPr>
          <p:cNvSpPr>
            <a:spLocks noGrp="1"/>
          </p:cNvSpPr>
          <p:nvPr>
            <p:ph type="sldNum" sz="quarter" idx="12"/>
          </p:nvPr>
        </p:nvSpPr>
        <p:spPr/>
        <p:txBody>
          <a:bodyPr/>
          <a:lstStyle/>
          <a:p>
            <a:fld id="{E1C5CB42-CF14-4293-8971-6DCD1AAE8BE7}" type="slidenum">
              <a:rPr lang="en-GB" smtClean="0"/>
              <a:t>22</a:t>
            </a:fld>
            <a:endParaRPr lang="en-GB"/>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marL="0" lvl="0" indent="0">
              <a:buNone/>
            </a:pPr>
            <a:r>
              <a:t>Null Hypothesis</a:t>
            </a:r>
          </a:p>
        </p:txBody>
      </p:sp>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p:txBody>
          <a:bodyPr/>
          <a:lstStyle/>
          <a:p>
            <a:pPr marL="0" lvl="0" indent="0">
              <a:buNone/>
            </a:pPr>
            <a14:m xmlns:a14="http://schemas.microsoft.com/office/drawing/2010/main">
              <m:oMathPara xmlns:m="http://schemas.openxmlformats.org/officeDocument/2006/math">
                <m:oMathParaPr>
                  <m:jc m:val="center"/>
                </m:oMathParaPr>
                <m:oMath xmlns:m="http://schemas.openxmlformats.org/officeDocument/2006/math">
                  <m:r>
                    <a:rPr>
                      <a:latin typeface="Cambria Math" panose="02040503050406030204" pitchFamily="18" charset="0"/>
                    </a:rPr>
                    <m:t> </m:t>
                  </m:r>
                </m:oMath>
              </m:oMathPara>
            </a14:m>
            <a:endParaRPr/>
          </a:p>
          <a:p>
            <a:pPr marL="0" lvl="0" indent="0">
              <a:buNone/>
            </a:pPr>
            <a:r>
              <a:t>Examples:</a:t>
            </a:r>
          </a:p>
          <a:p>
            <a:pPr marL="0" lvl="0" indent="0">
              <a:buNone/>
            </a:pPr>
            <a14:m xmlns:a14="http://schemas.microsoft.com/office/drawing/2010/main">
              <m:oMathPara xmlns:m="http://schemas.openxmlformats.org/officeDocument/2006/math">
                <m:oMathParaPr>
                  <m:jc m:val="center"/>
                </m:oMathParaPr>
                <m:oMath xmlns:m="http://schemas.openxmlformats.org/officeDocument/2006/math">
                  <m:r>
                    <a:rPr>
                      <a:latin typeface="Cambria Math" panose="02040503050406030204" pitchFamily="18" charset="0"/>
                    </a:rPr>
                    <m:t> </m:t>
                  </m:r>
                </m:oMath>
              </m:oMathPara>
            </a14:m>
            <a:endParaRPr/>
          </a:p>
          <a:p>
            <a:pPr lvl="0"/>
            <a:r>
              <a:t>There is NO association between the risk factor and outcome in a population.</a:t>
            </a:r>
          </a:p>
          <a:p>
            <a:pPr lvl="0"/>
            <a:r>
              <a:t>A factor of interest is NOT associated with or different from another factor or a pre-specified value.</a:t>
            </a:r>
          </a:p>
          <a:p>
            <a:pPr lvl="0"/>
            <a:r>
              <a:t>There is NO difference in the efficacy of a new drug (drug A) for malaria prophylaxis in contrast to a currently approved drug (drug B).</a:t>
            </a:r>
          </a:p>
        </p:txBody>
      </p:sp>
      <p:sp>
        <p:nvSpPr>
          <p:cNvPr id="6" name="Slide Number Placeholder 5">
            <a:extLst>
              <a:ext uri="{FF2B5EF4-FFF2-40B4-BE49-F238E27FC236}">
                <a16:creationId xmlns:a16="http://schemas.microsoft.com/office/drawing/2014/main" id="{C03F998A-2A5E-471F-9FEB-2559B0A7F93D}"/>
              </a:ext>
            </a:extLst>
          </p:cNvPr>
          <p:cNvSpPr>
            <a:spLocks noGrp="1"/>
          </p:cNvSpPr>
          <p:nvPr>
            <p:ph type="sldNum" sz="quarter" idx="12"/>
          </p:nvPr>
        </p:nvSpPr>
        <p:spPr/>
        <p:txBody>
          <a:bodyPr/>
          <a:lstStyle/>
          <a:p>
            <a:fld id="{E1C5CB42-CF14-4293-8971-6DCD1AAE8BE7}" type="slidenum">
              <a:rPr lang="en-GB" smtClean="0"/>
              <a:t>23</a:t>
            </a:fld>
            <a:endParaRPr lang="en-GB"/>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marL="0" lvl="0" indent="0">
              <a:buNone/>
            </a:pPr>
            <a:r>
              <a:t>Null hypothesis</a:t>
            </a:r>
          </a:p>
        </p:txBody>
      </p:sp>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p:txBody>
          <a:bodyPr/>
          <a:lstStyle/>
          <a:p>
            <a:pPr marL="0" lvl="0" indent="0">
              <a:buNone/>
            </a:pPr>
            <a14:m xmlns:a14="http://schemas.microsoft.com/office/drawing/2010/main">
              <m:oMathPara xmlns:m="http://schemas.openxmlformats.org/officeDocument/2006/math">
                <m:oMathParaPr>
                  <m:jc m:val="center"/>
                </m:oMathParaPr>
                <m:oMath xmlns:m="http://schemas.openxmlformats.org/officeDocument/2006/math">
                  <m:r>
                    <a:rPr>
                      <a:latin typeface="Cambria Math" panose="02040503050406030204" pitchFamily="18" charset="0"/>
                    </a:rPr>
                    <m:t> </m:t>
                  </m:r>
                </m:oMath>
              </m:oMathPara>
            </a14:m>
            <a:endParaRPr/>
          </a:p>
          <a:p>
            <a:pPr marL="0" lvl="0" indent="0">
              <a:buNone/>
            </a:pPr>
            <a:r>
              <a:t>Null hypotheses</a:t>
            </a:r>
          </a:p>
          <a:p>
            <a:pPr marL="0" lvl="0" indent="0">
              <a:buNone/>
            </a:pPr>
            <a14:m xmlns:a14="http://schemas.microsoft.com/office/drawing/2010/main">
              <m:oMathPara xmlns:m="http://schemas.openxmlformats.org/officeDocument/2006/math">
                <m:oMathParaPr>
                  <m:jc m:val="center"/>
                </m:oMathParaPr>
                <m:oMath xmlns:m="http://schemas.openxmlformats.org/officeDocument/2006/math">
                  <m:r>
                    <a:rPr>
                      <a:latin typeface="Cambria Math" panose="02040503050406030204" pitchFamily="18" charset="0"/>
                    </a:rPr>
                    <m:t> </m:t>
                  </m:r>
                </m:oMath>
              </m:oMathPara>
            </a14:m>
            <a:endParaRPr/>
          </a:p>
          <a:p>
            <a:pPr lvl="0"/>
            <a:r>
              <a:t>Are the formal basis for testing statistical significance.</a:t>
            </a:r>
          </a:p>
          <a:p>
            <a:pPr lvl="0"/>
            <a:r>
              <a:t>Start with proposition that there is no difference / association / …</a:t>
            </a:r>
          </a:p>
          <a:p>
            <a:pPr lvl="0"/>
            <a:r>
              <a:t>Statistical tests can estimate the probability an observed association could be due to chance.</a:t>
            </a:r>
          </a:p>
          <a:p>
            <a:pPr lvl="0"/>
            <a:r>
              <a:t>The null hypothesis is always </a:t>
            </a:r>
            <a:r>
              <a:rPr i="1"/>
              <a:t>narrow</a:t>
            </a:r>
            <a:r>
              <a:t>.</a:t>
            </a:r>
          </a:p>
        </p:txBody>
      </p:sp>
      <p:sp>
        <p:nvSpPr>
          <p:cNvPr id="6" name="Slide Number Placeholder 5">
            <a:extLst>
              <a:ext uri="{FF2B5EF4-FFF2-40B4-BE49-F238E27FC236}">
                <a16:creationId xmlns:a16="http://schemas.microsoft.com/office/drawing/2014/main" id="{C03F998A-2A5E-471F-9FEB-2559B0A7F93D}"/>
              </a:ext>
            </a:extLst>
          </p:cNvPr>
          <p:cNvSpPr>
            <a:spLocks noGrp="1"/>
          </p:cNvSpPr>
          <p:nvPr>
            <p:ph type="sldNum" sz="quarter" idx="12"/>
          </p:nvPr>
        </p:nvSpPr>
        <p:spPr/>
        <p:txBody>
          <a:bodyPr/>
          <a:lstStyle/>
          <a:p>
            <a:fld id="{E1C5CB42-CF14-4293-8971-6DCD1AAE8BE7}" type="slidenum">
              <a:rPr lang="en-GB" smtClean="0"/>
              <a:t>24</a:t>
            </a:fld>
            <a:endParaRPr lang="en-GB"/>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marL="0" lvl="0" indent="0">
              <a:buNone/>
            </a:pPr>
            <a:r>
              <a:t>Alternative hypothesis</a:t>
            </a:r>
          </a:p>
        </p:txBody>
      </p:sp>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p:txBody>
          <a:bodyPr/>
          <a:lstStyle/>
          <a:p>
            <a:pPr marL="0" lvl="0" indent="0">
              <a:buNone/>
            </a:pPr>
            <a:r>
              <a:t>The opposite of a null hypothesis is called the </a:t>
            </a:r>
            <a:r>
              <a:rPr b="1"/>
              <a:t>alternative hypothesis</a:t>
            </a:r>
            <a:r>
              <a:t>, usually denoted </a:t>
            </a:r>
            <a14:m xmlns:a14="http://schemas.microsoft.com/office/drawing/2010/main">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𝐻</m:t>
                    </m:r>
                  </m:e>
                  <m:sub>
                    <m:r>
                      <a:rPr>
                        <a:latin typeface="Cambria Math" panose="02040503050406030204" pitchFamily="18" charset="0"/>
                      </a:rPr>
                      <m:t>1</m:t>
                    </m:r>
                  </m:sub>
                </m:sSub>
              </m:oMath>
            </a14:m>
            <a:r>
              <a:t>. These are the wide hypotheses we mentioned earlier.</a:t>
            </a:r>
          </a:p>
          <a:p>
            <a:pPr marL="0" lvl="0" indent="0">
              <a:buNone/>
            </a:pPr>
            <a:r>
              <a:t>Examples:</a:t>
            </a:r>
          </a:p>
          <a:p>
            <a:pPr lvl="0"/>
            <a:r>
              <a:t>There IS an association between the risk factor and outcome in the population.</a:t>
            </a:r>
          </a:p>
          <a:p>
            <a:pPr lvl="0"/>
            <a:r>
              <a:t>The distribution of outcomes is different for different levels of the risk factor under consideration.</a:t>
            </a:r>
          </a:p>
          <a:p>
            <a:pPr lvl="0"/>
            <a:r>
              <a:t>The new drug (drug A) for malaria prophylaxis has better efficacy in preventing malaria in contrast to a currently approved drug (drug B).</a:t>
            </a:r>
          </a:p>
          <a:p>
            <a:pPr marL="0" lvl="0" indent="0">
              <a:buNone/>
            </a:pPr>
            <a14:m xmlns:a14="http://schemas.microsoft.com/office/drawing/2010/main">
              <m:oMathPara xmlns:m="http://schemas.openxmlformats.org/officeDocument/2006/math">
                <m:oMathParaPr>
                  <m:jc m:val="center"/>
                </m:oMathParaPr>
                <m:oMath xmlns:m="http://schemas.openxmlformats.org/officeDocument/2006/math">
                  <m:r>
                    <a:rPr>
                      <a:latin typeface="Cambria Math" panose="02040503050406030204" pitchFamily="18" charset="0"/>
                    </a:rPr>
                    <m:t> </m:t>
                  </m:r>
                </m:oMath>
              </m:oMathPara>
            </a14:m>
            <a:endParaRPr/>
          </a:p>
          <a:p>
            <a:pPr marL="0" lvl="0" indent="0">
              <a:buNone/>
            </a:pPr>
            <a:r>
              <a:t>A key point is that due to their broadness, alternative hypotheses cannot usually be tested directly.</a:t>
            </a:r>
          </a:p>
          <a:p>
            <a:pPr marL="0" lvl="0" indent="0">
              <a:buNone/>
            </a:pPr>
            <a:r>
              <a:t>But we can reject the null hypothesis if the data suggests observing the data that were collected are extremely unlikely under the null hypothesis.</a:t>
            </a:r>
          </a:p>
        </p:txBody>
      </p:sp>
      <p:sp>
        <p:nvSpPr>
          <p:cNvPr id="6" name="Slide Number Placeholder 5">
            <a:extLst>
              <a:ext uri="{FF2B5EF4-FFF2-40B4-BE49-F238E27FC236}">
                <a16:creationId xmlns:a16="http://schemas.microsoft.com/office/drawing/2014/main" id="{C03F998A-2A5E-471F-9FEB-2559B0A7F93D}"/>
              </a:ext>
            </a:extLst>
          </p:cNvPr>
          <p:cNvSpPr>
            <a:spLocks noGrp="1"/>
          </p:cNvSpPr>
          <p:nvPr>
            <p:ph type="sldNum" sz="quarter" idx="12"/>
          </p:nvPr>
        </p:nvSpPr>
        <p:spPr/>
        <p:txBody>
          <a:bodyPr/>
          <a:lstStyle/>
          <a:p>
            <a:fld id="{E1C5CB42-CF14-4293-8971-6DCD1AAE8BE7}" type="slidenum">
              <a:rPr lang="en-GB" smtClean="0"/>
              <a:t>25</a:t>
            </a:fld>
            <a:endParaRPr lang="en-GB"/>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marL="0" lvl="0" indent="0">
              <a:buNone/>
            </a:pPr>
            <a:r>
              <a:t>Statistical hypothesis</a:t>
            </a:r>
          </a:p>
        </p:txBody>
      </p:sp>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p:txBody>
          <a:bodyPr/>
          <a:lstStyle/>
          <a:p>
            <a:pPr marL="0" lvl="0" indent="0">
              <a:buNone/>
            </a:pPr>
            <a:r>
              <a:t>Underlying statistical principles:</a:t>
            </a:r>
          </a:p>
          <a:p>
            <a:pPr marL="0" lvl="0" indent="0">
              <a:buNone/>
            </a:pPr>
            <a14:m xmlns:a14="http://schemas.microsoft.com/office/drawing/2010/main">
              <m:oMathPara xmlns:m="http://schemas.openxmlformats.org/officeDocument/2006/math">
                <m:oMathParaPr>
                  <m:jc m:val="center"/>
                </m:oMathParaPr>
                <m:oMath xmlns:m="http://schemas.openxmlformats.org/officeDocument/2006/math">
                  <m:r>
                    <a:rPr>
                      <a:latin typeface="Cambria Math" panose="02040503050406030204" pitchFamily="18" charset="0"/>
                    </a:rPr>
                    <m:t> </m:t>
                  </m:r>
                </m:oMath>
              </m:oMathPara>
            </a14:m>
            <a:endParaRPr/>
          </a:p>
          <a:p>
            <a:pPr lvl="0"/>
            <a:r>
              <a:t>A hypothesis is either true or not in the real world.</a:t>
            </a:r>
          </a:p>
          <a:p>
            <a:pPr lvl="0"/>
            <a:r>
              <a:t>We cannot study the whole world; therefore we must test a hypothesis in a sample.</a:t>
            </a:r>
          </a:p>
          <a:p>
            <a:pPr lvl="0"/>
            <a:r>
              <a:t>Can never absolutely prove (or disprove) a hypothesis.</a:t>
            </a:r>
          </a:p>
          <a:p>
            <a:pPr lvl="0"/>
            <a:r>
              <a:t>Therefore we use statistical tests to determine whether there is sufficient evidence to reject a narrow null hypothesis.</a:t>
            </a:r>
          </a:p>
          <a:p>
            <a:pPr lvl="0"/>
            <a:r>
              <a:t>A test means formulating a statistic that can be evaluated from observed data and for which we can derive its distribution under the null hypothesis.</a:t>
            </a:r>
          </a:p>
          <a:p>
            <a:pPr lvl="0"/>
            <a:r>
              <a:t>If the probability of observing the value for the test statistic that we computed from the observed data is unlikely (under that null hypothesis distribution), then we can reject the null in favour of the alternative hypothesis.</a:t>
            </a:r>
          </a:p>
        </p:txBody>
      </p:sp>
      <p:sp>
        <p:nvSpPr>
          <p:cNvPr id="6" name="Slide Number Placeholder 5">
            <a:extLst>
              <a:ext uri="{FF2B5EF4-FFF2-40B4-BE49-F238E27FC236}">
                <a16:creationId xmlns:a16="http://schemas.microsoft.com/office/drawing/2014/main" id="{C03F998A-2A5E-471F-9FEB-2559B0A7F93D}"/>
              </a:ext>
            </a:extLst>
          </p:cNvPr>
          <p:cNvSpPr>
            <a:spLocks noGrp="1"/>
          </p:cNvSpPr>
          <p:nvPr>
            <p:ph type="sldNum" sz="quarter" idx="12"/>
          </p:nvPr>
        </p:nvSpPr>
        <p:spPr/>
        <p:txBody>
          <a:bodyPr/>
          <a:lstStyle/>
          <a:p>
            <a:fld id="{E1C5CB42-CF14-4293-8971-6DCD1AAE8BE7}" type="slidenum">
              <a:rPr lang="en-GB" smtClean="0"/>
              <a:t>26</a:t>
            </a:fld>
            <a:endParaRPr lang="en-GB"/>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marL="0" lvl="0" indent="0">
              <a:buNone/>
            </a:pPr>
            <a:r>
              <a:t>One and Two tailed Hypotheses</a:t>
            </a:r>
          </a:p>
        </p:txBody>
      </p:sp>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p:txBody>
          <a:bodyPr/>
          <a:lstStyle/>
          <a:p>
            <a:pPr lvl="0"/>
            <a:r>
              <a:t>One-tailed Hypotheses: (one-sided) specifies a direction of association between a predictor and outcome variable.</a:t>
            </a:r>
          </a:p>
          <a:p>
            <a:pPr lvl="1"/>
            <a:r>
              <a:t>E.g. The new drug (drug A) for malaria prophylaxis has better efficacy in preventing malaria in contrast to a currently approved drug (drug B).</a:t>
            </a:r>
          </a:p>
          <a:p>
            <a:pPr lvl="0"/>
            <a:r>
              <a:t>Two-tailed Hypotheses: (two-sided) specifies only that an association exists; it does not specify a direction.</a:t>
            </a:r>
          </a:p>
          <a:p>
            <a:pPr lvl="1"/>
            <a:r>
              <a:t>E.g. The new drug (drug A) for malaria prophylaxis has a different efficacy in preventing malaria in contrast to a currently approved drug (drug B).</a:t>
            </a:r>
          </a:p>
          <a:p>
            <a:pPr lvl="1"/>
            <a:r>
              <a:t>In other words, drug A could be worse than drug B OR drug A could be better than drug B.</a:t>
            </a:r>
          </a:p>
          <a:p>
            <a:pPr lvl="0"/>
            <a:r>
              <a:t>Unless there are very clear reasons why a direction can only be in a certain direction, a two-tailed test should be preferred and is also, for the same level of significance, more conservative.</a:t>
            </a:r>
          </a:p>
        </p:txBody>
      </p:sp>
      <p:sp>
        <p:nvSpPr>
          <p:cNvPr id="6" name="Slide Number Placeholder 5">
            <a:extLst>
              <a:ext uri="{FF2B5EF4-FFF2-40B4-BE49-F238E27FC236}">
                <a16:creationId xmlns:a16="http://schemas.microsoft.com/office/drawing/2014/main" id="{C03F998A-2A5E-471F-9FEB-2559B0A7F93D}"/>
              </a:ext>
            </a:extLst>
          </p:cNvPr>
          <p:cNvSpPr>
            <a:spLocks noGrp="1"/>
          </p:cNvSpPr>
          <p:nvPr>
            <p:ph type="sldNum" sz="quarter" idx="12"/>
          </p:nvPr>
        </p:nvSpPr>
        <p:spPr/>
        <p:txBody>
          <a:bodyPr/>
          <a:lstStyle/>
          <a:p>
            <a:fld id="{E1C5CB42-CF14-4293-8971-6DCD1AAE8BE7}" type="slidenum">
              <a:rPr lang="en-GB" smtClean="0"/>
              <a:t>27</a:t>
            </a:fld>
            <a:endParaRPr lang="en-GB"/>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marL="0" lvl="0" indent="0">
              <a:buNone/>
            </a:pPr>
            <a:r>
              <a:t>Statistical null hypothesis testing</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a:xfrm>
                <a:off x="838200" y="1575458"/>
                <a:ext cx="10515600" cy="4667250"/>
              </a:xfrm>
            </p:spPr>
            <p:txBody>
              <a:bodyPr>
                <a:normAutofit fontScale="92500" lnSpcReduction="20000"/>
              </a:bodyPr>
              <a:lstStyle/>
              <a:p>
                <a:pPr marL="0" lvl="0" indent="0">
                  <a:buNone/>
                </a:pPr>
                <a:r>
                  <a:rPr dirty="0"/>
                  <a:t>The general procedure for statistical tests is called </a:t>
                </a:r>
                <a:r>
                  <a:rPr b="1" dirty="0"/>
                  <a:t>null hypothesis significance testing</a:t>
                </a:r>
                <a:r>
                  <a:rPr dirty="0"/>
                  <a:t>. The general steps are:</a:t>
                </a:r>
              </a:p>
              <a:p>
                <a:pPr lvl="0"/>
                <a:r>
                  <a:rPr dirty="0"/>
                  <a:t>Define a test statistic.</a:t>
                </a:r>
              </a:p>
              <a:p>
                <a:pPr lvl="0"/>
                <a:r>
                  <a:rPr dirty="0"/>
                  <a:t>Derive its distribution under the null hypothesis.</a:t>
                </a:r>
              </a:p>
              <a:p>
                <a:pPr lvl="0"/>
                <a:r>
                  <a:rPr dirty="0"/>
                  <a:t>Evaluate the test statistic for the observed data.</a:t>
                </a:r>
              </a:p>
              <a:p>
                <a:pPr lvl="0"/>
                <a:r>
                  <a:rPr dirty="0"/>
                  <a:t>Calculate the probability of observing a value of the test statistic that is as extreme or more extreme than the observed value, assuming the null distribution to hold.</a:t>
                </a:r>
              </a:p>
              <a:p>
                <a:pPr lvl="0"/>
                <a:r>
                  <a:rPr dirty="0"/>
                  <a:t>If this probability is lower than a pre-defined threshold (</a:t>
                </a:r>
                <a14:m>
                  <m:oMath xmlns:m="http://schemas.openxmlformats.org/officeDocument/2006/math">
                    <m:r>
                      <a:rPr>
                        <a:latin typeface="Cambria Math" panose="02040503050406030204" pitchFamily="18" charset="0"/>
                      </a:rPr>
                      <m:t>𝛼</m:t>
                    </m:r>
                  </m:oMath>
                </a14:m>
                <a:r>
                  <a:rPr dirty="0"/>
                  <a:t>, typically taken to be 5%), called the </a:t>
                </a:r>
                <a:r>
                  <a:rPr b="1" dirty="0"/>
                  <a:t>statistical significance level</a:t>
                </a:r>
                <a:r>
                  <a:rPr dirty="0"/>
                  <a:t>, then reject the null hypothesis in </a:t>
                </a:r>
                <a:r>
                  <a:rPr dirty="0" err="1"/>
                  <a:t>favour</a:t>
                </a:r>
                <a:r>
                  <a:rPr dirty="0"/>
                  <a:t> of the alternative.</a:t>
                </a:r>
              </a:p>
              <a:p>
                <a:pPr marL="0" lvl="0" indent="0">
                  <a:buNone/>
                </a:pPr>
                <a:r>
                  <a:rPr dirty="0"/>
                  <a:t>Hypothesis testing can be done in different scenarios:</a:t>
                </a:r>
              </a:p>
              <a:p>
                <a:pPr marL="0" lvl="0" indent="0">
                  <a:buNone/>
                </a:pPr>
                <a14:m>
                  <m:oMathPara xmlns:m="http://schemas.openxmlformats.org/officeDocument/2006/math">
                    <m:oMathParaPr>
                      <m:jc m:val="center"/>
                    </m:oMathParaPr>
                    <m:oMath xmlns:m="http://schemas.openxmlformats.org/officeDocument/2006/math">
                      <m:r>
                        <a:rPr>
                          <a:latin typeface="Cambria Math" panose="02040503050406030204" pitchFamily="18" charset="0"/>
                        </a:rPr>
                        <m:t> </m:t>
                      </m:r>
                    </m:oMath>
                  </m:oMathPara>
                </a14:m>
                <a:endParaRPr dirty="0"/>
              </a:p>
              <a:p>
                <a:pPr lvl="0"/>
                <a:r>
                  <a:rPr dirty="0"/>
                  <a:t>Is there a difference in means?</a:t>
                </a:r>
              </a:p>
              <a:p>
                <a:pPr lvl="0"/>
                <a:r>
                  <a:rPr dirty="0"/>
                  <a:t>Is there a difference in proportions?</a:t>
                </a:r>
              </a:p>
              <a:p>
                <a:pPr lvl="0"/>
                <a:r>
                  <a:rPr dirty="0"/>
                  <a:t>Difference in odds ratios or relative risks?</a:t>
                </a:r>
              </a:p>
              <a:p>
                <a:pPr lvl="0"/>
                <a:r>
                  <a:rPr dirty="0"/>
                  <a:t>Is a slope of a regression line different from 0?</a:t>
                </a:r>
              </a:p>
            </p:txBody>
          </p:sp>
        </mc:Choice>
        <mc:Fallback>
          <p:sp>
            <p:nvSpPr>
              <p:cNvPr id="3" name="Content Placeholder 2">
                <a:extLst>
                  <a:ext uri="{FF2B5EF4-FFF2-40B4-BE49-F238E27FC236}">
                    <a16:creationId xmlns:a16="http://schemas.microsoft.com/office/drawing/2014/main" id="{288BC91F-1C76-43AE-8B2A-956D48B768BE}"/>
                  </a:ext>
                </a:extLst>
              </p:cNvPr>
              <p:cNvSpPr>
                <a:spLocks noGrp="1" noRot="1" noChangeAspect="1" noMove="1" noResize="1" noEditPoints="1" noAdjustHandles="1" noChangeArrowheads="1" noChangeShapeType="1" noTextEdit="1"/>
              </p:cNvSpPr>
              <p:nvPr>
                <p:ph idx="1"/>
              </p:nvPr>
            </p:nvSpPr>
            <p:spPr>
              <a:xfrm>
                <a:off x="838200" y="1575458"/>
                <a:ext cx="10515600" cy="4667250"/>
              </a:xfrm>
              <a:blipFill>
                <a:blip r:embed="rId2"/>
                <a:stretch>
                  <a:fillRect l="-638" t="-2350" b="-1697"/>
                </a:stretch>
              </a:blipFill>
            </p:spPr>
            <p:txBody>
              <a:bodyPr/>
              <a:lstStyle/>
              <a:p>
                <a:r>
                  <a:rPr lang="en-US">
                    <a:noFill/>
                  </a:rPr>
                  <a:t> </a:t>
                </a:r>
              </a:p>
            </p:txBody>
          </p:sp>
        </mc:Fallback>
      </mc:AlternateContent>
      <p:sp>
        <p:nvSpPr>
          <p:cNvPr id="6" name="Slide Number Placeholder 5">
            <a:extLst>
              <a:ext uri="{FF2B5EF4-FFF2-40B4-BE49-F238E27FC236}">
                <a16:creationId xmlns:a16="http://schemas.microsoft.com/office/drawing/2014/main" id="{C03F998A-2A5E-471F-9FEB-2559B0A7F93D}"/>
              </a:ext>
            </a:extLst>
          </p:cNvPr>
          <p:cNvSpPr>
            <a:spLocks noGrp="1"/>
          </p:cNvSpPr>
          <p:nvPr>
            <p:ph type="sldNum" sz="quarter" idx="12"/>
          </p:nvPr>
        </p:nvSpPr>
        <p:spPr/>
        <p:txBody>
          <a:bodyPr/>
          <a:lstStyle/>
          <a:p>
            <a:fld id="{E1C5CB42-CF14-4293-8971-6DCD1AAE8BE7}" type="slidenum">
              <a:rPr lang="en-GB" smtClean="0"/>
              <a:t>28</a:t>
            </a:fld>
            <a:endParaRPr lang="en-GB"/>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marL="0" lvl="0" indent="0">
              <a:buNone/>
            </a:pPr>
            <a:r>
              <a:t>A note on hypothesis testing</a:t>
            </a:r>
          </a:p>
        </p:txBody>
      </p:sp>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p:txBody>
          <a:bodyPr/>
          <a:lstStyle/>
          <a:p>
            <a:pPr marL="0" lvl="0" indent="0">
              <a:buNone/>
            </a:pPr>
            <a:r>
              <a:t>There are two approaches to testing: computing </a:t>
            </a:r>
            <a:r>
              <a:rPr b="1"/>
              <a:t>critical regions</a:t>
            </a:r>
            <a:r>
              <a:t> and </a:t>
            </a:r>
            <a:r>
              <a:rPr b="1"/>
              <a:t>p-values</a:t>
            </a:r>
          </a:p>
          <a:p>
            <a:pPr lvl="0"/>
            <a:r>
              <a:t>In the critical region approach, we determine whether the observed test statistic is more extreme that a defined critical value</a:t>
            </a:r>
          </a:p>
          <a:p>
            <a:pPr lvl="0"/>
            <a:r>
              <a:t>If the test statistic is more extreme than the critical value (i.e. outside of the critical region), we reject H</a:t>
            </a:r>
            <a:r>
              <a:rPr baseline="-25000"/>
              <a:t>0</a:t>
            </a:r>
            <a:r>
              <a:t>.</a:t>
            </a:r>
          </a:p>
          <a:p>
            <a:pPr lvl="0"/>
            <a:r>
              <a:t>If the test statistic is not more extreme than the critical value (i.e. within the critical region), we fail to reject the H</a:t>
            </a:r>
            <a:r>
              <a:rPr baseline="-25000"/>
              <a:t>0</a:t>
            </a:r>
            <a:r>
              <a:t>.</a:t>
            </a:r>
          </a:p>
          <a:p>
            <a:pPr marL="0" lvl="0" indent="0">
              <a:buNone/>
            </a:pPr>
            <a:r>
              <a:t>In this session, we will focus on the p-value approach - this involves computing a probability of observing a value for the test statistic that is as extreme or more extreme than the observed value; if this probability is less than the specified significance level, we reject H</a:t>
            </a:r>
            <a:r>
              <a:rPr baseline="-25000"/>
              <a:t>0</a:t>
            </a:r>
            <a:r>
              <a:t>.</a:t>
            </a:r>
          </a:p>
          <a:p>
            <a:pPr marL="0" lvl="0" indent="0">
              <a:buNone/>
            </a:pPr>
            <a:r>
              <a:t>Note: we never </a:t>
            </a:r>
            <a:r>
              <a:rPr i="1"/>
              <a:t>accept</a:t>
            </a:r>
            <a:r>
              <a:t> the alternative hypothesis, we only reject the null.</a:t>
            </a:r>
          </a:p>
        </p:txBody>
      </p:sp>
      <p:sp>
        <p:nvSpPr>
          <p:cNvPr id="6" name="Slide Number Placeholder 5">
            <a:extLst>
              <a:ext uri="{FF2B5EF4-FFF2-40B4-BE49-F238E27FC236}">
                <a16:creationId xmlns:a16="http://schemas.microsoft.com/office/drawing/2014/main" id="{C03F998A-2A5E-471F-9FEB-2559B0A7F93D}"/>
              </a:ext>
            </a:extLst>
          </p:cNvPr>
          <p:cNvSpPr>
            <a:spLocks noGrp="1"/>
          </p:cNvSpPr>
          <p:nvPr>
            <p:ph type="sldNum" sz="quarter" idx="12"/>
          </p:nvPr>
        </p:nvSpPr>
        <p:spPr/>
        <p:txBody>
          <a:bodyPr/>
          <a:lstStyle/>
          <a:p>
            <a:fld id="{E1C5CB42-CF14-4293-8971-6DCD1AAE8BE7}" type="slidenum">
              <a:rPr lang="en-GB" smtClean="0"/>
              <a:t>29</a:t>
            </a:fld>
            <a:endParaRPr lang="en-GB"/>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marL="0" lvl="0" indent="0">
              <a:buNone/>
            </a:pPr>
            <a:r>
              <a:t>A note on hypothesis testing</a:t>
            </a:r>
          </a:p>
        </p:txBody>
      </p:sp>
      <p:pic>
        <p:nvPicPr>
          <p:cNvPr id="3" name="Picture 1" descr="dataAndSupportDocs/critRegionsPvalues.png"/>
          <p:cNvPicPr>
            <a:picLocks noGrp="1" noChangeAspect="1"/>
          </p:cNvPicPr>
          <p:nvPr/>
        </p:nvPicPr>
        <p:blipFill>
          <a:blip r:embed="rId2"/>
          <a:stretch>
            <a:fillRect/>
          </a:stretch>
        </p:blipFill>
        <p:spPr bwMode="auto">
          <a:xfrm>
            <a:off x="3429000" y="1816100"/>
            <a:ext cx="5321300" cy="4152900"/>
          </a:xfrm>
          <a:prstGeom prst="rect">
            <a:avLst/>
          </a:prstGeom>
          <a:noFill/>
          <a:ln w="9525">
            <a:noFill/>
            <a:headEnd/>
            <a:tailEnd/>
          </a:ln>
        </p:spPr>
      </p:pic>
      <p:sp>
        <p:nvSpPr>
          <p:cNvPr id="4" name="TextBox 3"/>
          <p:cNvSpPr txBox="1"/>
          <p:nvPr/>
        </p:nvSpPr>
        <p:spPr>
          <a:xfrm>
            <a:off x="838200" y="5969000"/>
            <a:ext cx="10515600" cy="508000"/>
          </a:xfrm>
          <a:prstGeom prst="rect">
            <a:avLst/>
          </a:prstGeom>
          <a:noFill/>
        </p:spPr>
        <p:txBody>
          <a:bodyPr/>
          <a:lstStyle/>
          <a:p>
            <a:pPr marL="0" lvl="0" indent="0" algn="ctr">
              <a:buNone/>
            </a:pPr>
            <a:r>
              <a:t>Hartmann, K., Krois, J., Waske, B. (2018): E-Learning Project SOGA: Statistics and Geospatial Data Analysis. Department of Earth Sciences, Freie Universität Berlin</a:t>
            </a:r>
          </a:p>
        </p:txBody>
      </p:sp>
      <p:sp>
        <p:nvSpPr>
          <p:cNvPr id="6" name="Slide Number Placeholder 5">
            <a:extLst>
              <a:ext uri="{FF2B5EF4-FFF2-40B4-BE49-F238E27FC236}">
                <a16:creationId xmlns:a16="http://schemas.microsoft.com/office/drawing/2014/main" id="{C03F998A-2A5E-471F-9FEB-2559B0A7F93D}"/>
              </a:ext>
            </a:extLst>
          </p:cNvPr>
          <p:cNvSpPr>
            <a:spLocks noGrp="1"/>
          </p:cNvSpPr>
          <p:nvPr>
            <p:ph type="sldNum" sz="quarter" idx="12"/>
          </p:nvPr>
        </p:nvSpPr>
        <p:spPr/>
        <p:txBody>
          <a:bodyPr/>
          <a:lstStyle/>
          <a:p>
            <a:fld id="{E1C5CB42-CF14-4293-8971-6DCD1AAE8BE7}" type="slidenum">
              <a:rPr lang="en-GB" smtClean="0"/>
              <a:t>30</a:t>
            </a:fld>
            <a:endParaRPr lang="en-GB"/>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marL="0" lvl="0" indent="0">
              <a:buNone/>
            </a:pPr>
            <a:r>
              <a:t>Type I and Type II errors</a:t>
            </a:r>
          </a:p>
        </p:txBody>
      </p:sp>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p:txBody>
          <a:bodyPr/>
          <a:lstStyle/>
          <a:p>
            <a:pPr marL="0" lvl="0" indent="0">
              <a:buNone/>
            </a:pPr>
            <a14:m xmlns:a14="http://schemas.microsoft.com/office/drawing/2010/main">
              <m:oMathPara xmlns:m="http://schemas.openxmlformats.org/officeDocument/2006/math">
                <m:oMathParaPr>
                  <m:jc m:val="center"/>
                </m:oMathParaPr>
                <m:oMath xmlns:m="http://schemas.openxmlformats.org/officeDocument/2006/math">
                  <m:r>
                    <a:rPr>
                      <a:latin typeface="Cambria Math" panose="02040503050406030204" pitchFamily="18" charset="0"/>
                    </a:rPr>
                    <m:t> </m:t>
                  </m:r>
                </m:oMath>
              </m:oMathPara>
            </a14:m>
            <a:endParaRPr/>
          </a:p>
          <a:p>
            <a:pPr lvl="0"/>
            <a:r>
              <a:rPr b="1"/>
              <a:t>Type I error</a:t>
            </a:r>
            <a:r>
              <a:t>: (False positive) reject a null hypothesis that is actually true in the population.</a:t>
            </a:r>
          </a:p>
          <a:p>
            <a:pPr lvl="1"/>
            <a:r>
              <a:t>In other words, saying that the new drug (drug A) for malaria prophylaxis has better efficacy in preventing malaria in contrast to a currently approved drug (drug B), when it does not.</a:t>
            </a:r>
          </a:p>
          <a:p>
            <a:pPr marL="0" lvl="0" indent="0">
              <a:buNone/>
            </a:pPr>
            <a14:m xmlns:a14="http://schemas.microsoft.com/office/drawing/2010/main">
              <m:oMathPara xmlns:m="http://schemas.openxmlformats.org/officeDocument/2006/math">
                <m:oMathParaPr>
                  <m:jc m:val="center"/>
                </m:oMathParaPr>
                <m:oMath xmlns:m="http://schemas.openxmlformats.org/officeDocument/2006/math">
                  <m:r>
                    <a:rPr>
                      <a:latin typeface="Cambria Math" panose="02040503050406030204" pitchFamily="18" charset="0"/>
                    </a:rPr>
                    <m:t> </m:t>
                  </m:r>
                </m:oMath>
              </m:oMathPara>
            </a14:m>
            <a:endParaRPr/>
          </a:p>
          <a:p>
            <a:pPr lvl="0"/>
            <a:r>
              <a:rPr b="1"/>
              <a:t>Type II error</a:t>
            </a:r>
            <a:r>
              <a:t>: (False negative) fail to reject a null hypothesis that is actually false in the population.</a:t>
            </a:r>
          </a:p>
          <a:p>
            <a:pPr lvl="1"/>
            <a:r>
              <a:t>In other words, saying that there is no difference in the efficacy of a new drug (drug A) for malaria prophylaxis in contrast to a currently approved drug (drug B), when drug A is better than drug B</a:t>
            </a:r>
          </a:p>
        </p:txBody>
      </p:sp>
      <p:sp>
        <p:nvSpPr>
          <p:cNvPr id="6" name="Slide Number Placeholder 5">
            <a:extLst>
              <a:ext uri="{FF2B5EF4-FFF2-40B4-BE49-F238E27FC236}">
                <a16:creationId xmlns:a16="http://schemas.microsoft.com/office/drawing/2014/main" id="{C03F998A-2A5E-471F-9FEB-2559B0A7F93D}"/>
              </a:ext>
            </a:extLst>
          </p:cNvPr>
          <p:cNvSpPr>
            <a:spLocks noGrp="1"/>
          </p:cNvSpPr>
          <p:nvPr>
            <p:ph type="sldNum" sz="quarter" idx="12"/>
          </p:nvPr>
        </p:nvSpPr>
        <p:spPr/>
        <p:txBody>
          <a:bodyPr/>
          <a:lstStyle/>
          <a:p>
            <a:fld id="{E1C5CB42-CF14-4293-8971-6DCD1AAE8BE7}" type="slidenum">
              <a:rPr lang="en-GB" smtClean="0"/>
              <a:t>31</a:t>
            </a:fld>
            <a:endParaRPr lang="en-GB"/>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marL="0" lvl="0" indent="0">
              <a:buNone/>
            </a:pPr>
            <a:r>
              <a:t>Type I and Type II errors</a:t>
            </a:r>
          </a:p>
        </p:txBody>
      </p:sp>
      <p:pic>
        <p:nvPicPr>
          <p:cNvPr id="3" name="Picture 1" descr="dataAndSupportDocs/errors.png"/>
          <p:cNvPicPr>
            <a:picLocks noGrp="1" noChangeAspect="1"/>
          </p:cNvPicPr>
          <p:nvPr/>
        </p:nvPicPr>
        <p:blipFill>
          <a:blip r:embed="rId2"/>
          <a:stretch>
            <a:fillRect/>
          </a:stretch>
        </p:blipFill>
        <p:spPr bwMode="auto">
          <a:xfrm>
            <a:off x="1981200" y="1816100"/>
            <a:ext cx="8242300" cy="4152900"/>
          </a:xfrm>
          <a:prstGeom prst="rect">
            <a:avLst/>
          </a:prstGeom>
          <a:noFill/>
          <a:ln w="9525">
            <a:noFill/>
            <a:headEnd/>
            <a:tailEnd/>
          </a:ln>
        </p:spPr>
      </p:pic>
      <p:sp>
        <p:nvSpPr>
          <p:cNvPr id="4" name="TextBox 3"/>
          <p:cNvSpPr txBox="1"/>
          <p:nvPr/>
        </p:nvSpPr>
        <p:spPr>
          <a:xfrm>
            <a:off x="838200" y="5969000"/>
            <a:ext cx="10515600" cy="508000"/>
          </a:xfrm>
          <a:prstGeom prst="rect">
            <a:avLst/>
          </a:prstGeom>
          <a:noFill/>
        </p:spPr>
        <p:txBody>
          <a:bodyPr/>
          <a:lstStyle/>
          <a:p>
            <a:pPr marL="0" lvl="0" indent="0" algn="ctr">
              <a:buNone/>
            </a:pPr>
            <a:r>
              <a:t>Types of errors in hypothesis testing</a:t>
            </a:r>
          </a:p>
        </p:txBody>
      </p:sp>
      <p:sp>
        <p:nvSpPr>
          <p:cNvPr id="6" name="Slide Number Placeholder 5">
            <a:extLst>
              <a:ext uri="{FF2B5EF4-FFF2-40B4-BE49-F238E27FC236}">
                <a16:creationId xmlns:a16="http://schemas.microsoft.com/office/drawing/2014/main" id="{C03F998A-2A5E-471F-9FEB-2559B0A7F93D}"/>
              </a:ext>
            </a:extLst>
          </p:cNvPr>
          <p:cNvSpPr>
            <a:spLocks noGrp="1"/>
          </p:cNvSpPr>
          <p:nvPr>
            <p:ph type="sldNum" sz="quarter" idx="12"/>
          </p:nvPr>
        </p:nvSpPr>
        <p:spPr/>
        <p:txBody>
          <a:bodyPr/>
          <a:lstStyle/>
          <a:p>
            <a:fld id="{E1C5CB42-CF14-4293-8971-6DCD1AAE8BE7}" type="slidenum">
              <a:rPr lang="en-GB" smtClean="0"/>
              <a:t>32</a:t>
            </a:fld>
            <a:endParaRPr lang="en-GB"/>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marL="0" lvl="0" indent="0">
              <a:buNone/>
            </a:pPr>
            <a:r>
              <a:t>Alpha and Beta</a:t>
            </a:r>
          </a:p>
        </p:txBody>
      </p:sp>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p:txBody>
          <a:bodyPr/>
          <a:lstStyle/>
          <a:p>
            <a:pPr lvl="0"/>
            <a:r>
              <a:t>Alpha </a:t>
            </a:r>
            <a14:m xmlns:a14="http://schemas.microsoft.com/office/drawing/2010/main">
              <m:oMath xmlns:m="http://schemas.openxmlformats.org/officeDocument/2006/math">
                <m:d>
                  <m:dPr>
                    <m:ctrlPr>
                      <a:rPr>
                        <a:latin typeface="Cambria Math" panose="02040503050406030204" pitchFamily="18" charset="0"/>
                      </a:rPr>
                    </m:ctrlPr>
                  </m:dPr>
                  <m:e>
                    <m:r>
                      <a:rPr>
                        <a:latin typeface="Cambria Math" panose="02040503050406030204" pitchFamily="18" charset="0"/>
                      </a:rPr>
                      <m:t>𝛼</m:t>
                    </m:r>
                  </m:e>
                </m:d>
              </m:oMath>
            </a14:m>
            <a:r>
              <a:t>: The probability of making a Type I error (rejecting the null hypothesis when it is true); this is the </a:t>
            </a:r>
            <a:r>
              <a:rPr b="1"/>
              <a:t>statistical significance level</a:t>
            </a:r>
            <a:r>
              <a:t>.</a:t>
            </a:r>
          </a:p>
          <a:p>
            <a:pPr lvl="0"/>
            <a:r>
              <a:t>Beta </a:t>
            </a:r>
            <a14:m xmlns:a14="http://schemas.microsoft.com/office/drawing/2010/main">
              <m:oMath xmlns:m="http://schemas.openxmlformats.org/officeDocument/2006/math">
                <m:d>
                  <m:dPr>
                    <m:ctrlPr>
                      <a:rPr>
                        <a:latin typeface="Cambria Math" panose="02040503050406030204" pitchFamily="18" charset="0"/>
                      </a:rPr>
                    </m:ctrlPr>
                  </m:dPr>
                  <m:e>
                    <m:r>
                      <a:rPr>
                        <a:latin typeface="Cambria Math" panose="02040503050406030204" pitchFamily="18" charset="0"/>
                      </a:rPr>
                      <m:t>𝛽</m:t>
                    </m:r>
                  </m:e>
                </m:d>
              </m:oMath>
            </a14:m>
            <a:r>
              <a:t>: The probability of making a Type II error (failing to reject the null hypothesis when it is actually false).</a:t>
            </a:r>
          </a:p>
          <a:p>
            <a:pPr lvl="1"/>
            <a:r>
              <a:rPr b="1"/>
              <a:t>Statistical power</a:t>
            </a:r>
            <a:r>
              <a:t> is defined as 1-</a:t>
            </a:r>
            <a14:m xmlns:a14="http://schemas.microsoft.com/office/drawing/2010/main">
              <m:oMath xmlns:m="http://schemas.openxmlformats.org/officeDocument/2006/math">
                <m:r>
                  <a:rPr>
                    <a:latin typeface="Cambria Math" panose="02040503050406030204" pitchFamily="18" charset="0"/>
                  </a:rPr>
                  <m:t>𝛽</m:t>
                </m:r>
              </m:oMath>
            </a14:m>
            <a:r>
              <a:t>; the probability of correctly identifying a significant result if is true.</a:t>
            </a:r>
          </a:p>
          <a:p>
            <a:pPr lvl="0"/>
            <a:r>
              <a:t>Ideally </a:t>
            </a:r>
            <a14:m xmlns:a14="http://schemas.microsoft.com/office/drawing/2010/main">
              <m:oMath xmlns:m="http://schemas.openxmlformats.org/officeDocument/2006/math">
                <m:r>
                  <a:rPr>
                    <a:latin typeface="Cambria Math" panose="02040503050406030204" pitchFamily="18" charset="0"/>
                  </a:rPr>
                  <m:t>𝛼</m:t>
                </m:r>
              </m:oMath>
            </a14:m>
            <a:r>
              <a:t> and </a:t>
            </a:r>
            <a14:m xmlns:a14="http://schemas.microsoft.com/office/drawing/2010/main">
              <m:oMath xmlns:m="http://schemas.openxmlformats.org/officeDocument/2006/math">
                <m:r>
                  <a:rPr>
                    <a:latin typeface="Cambria Math" panose="02040503050406030204" pitchFamily="18" charset="0"/>
                  </a:rPr>
                  <m:t>𝛽</m:t>
                </m:r>
              </m:oMath>
            </a14:m>
            <a:r>
              <a:t> would be set to zero.</a:t>
            </a:r>
          </a:p>
          <a:p>
            <a:pPr lvl="0"/>
            <a:r>
              <a:t>In practice they are made as small as possible.</a:t>
            </a:r>
          </a:p>
          <a:p>
            <a:pPr lvl="0"/>
            <a:r>
              <a:t>Reducing them requires an increase in sample size</a:t>
            </a:r>
          </a:p>
          <a:p>
            <a:pPr lvl="0"/>
            <a:r>
              <a:t>Most studies use </a:t>
            </a:r>
            <a14:m xmlns:a14="http://schemas.microsoft.com/office/drawing/2010/main">
              <m:oMath xmlns:m="http://schemas.openxmlformats.org/officeDocument/2006/math">
                <m:r>
                  <a:rPr>
                    <a:latin typeface="Cambria Math" panose="02040503050406030204" pitchFamily="18" charset="0"/>
                  </a:rPr>
                  <m:t>𝛼</m:t>
                </m:r>
                <m:r>
                  <a:rPr>
                    <a:latin typeface="Cambria Math" panose="02040503050406030204" pitchFamily="18" charset="0"/>
                  </a:rPr>
                  <m:t>=0.05</m:t>
                </m:r>
              </m:oMath>
            </a14:m>
            <a:r>
              <a:t> and </a:t>
            </a:r>
            <a14:m xmlns:a14="http://schemas.microsoft.com/office/drawing/2010/main">
              <m:oMath xmlns:m="http://schemas.openxmlformats.org/officeDocument/2006/math">
                <m:r>
                  <a:rPr>
                    <a:latin typeface="Cambria Math" panose="02040503050406030204" pitchFamily="18" charset="0"/>
                  </a:rPr>
                  <m:t>𝛽</m:t>
                </m:r>
                <m:r>
                  <a:rPr>
                    <a:latin typeface="Cambria Math" panose="02040503050406030204" pitchFamily="18" charset="0"/>
                  </a:rPr>
                  <m:t>=0.10</m:t>
                </m:r>
              </m:oMath>
            </a14:m>
            <a:r>
              <a:t> or </a:t>
            </a:r>
            <a14:m xmlns:a14="http://schemas.microsoft.com/office/drawing/2010/main">
              <m:oMath xmlns:m="http://schemas.openxmlformats.org/officeDocument/2006/math">
                <m:r>
                  <a:rPr>
                    <a:latin typeface="Cambria Math" panose="02040503050406030204" pitchFamily="18" charset="0"/>
                  </a:rPr>
                  <m:t>𝛽</m:t>
                </m:r>
                <m:r>
                  <a:rPr>
                    <a:latin typeface="Cambria Math" panose="02040503050406030204" pitchFamily="18" charset="0"/>
                  </a:rPr>
                  <m:t>=0.20</m:t>
                </m:r>
              </m:oMath>
            </a14:m>
            <a:r>
              <a:t>.</a:t>
            </a:r>
          </a:p>
        </p:txBody>
      </p:sp>
      <p:sp>
        <p:nvSpPr>
          <p:cNvPr id="6" name="Slide Number Placeholder 5">
            <a:extLst>
              <a:ext uri="{FF2B5EF4-FFF2-40B4-BE49-F238E27FC236}">
                <a16:creationId xmlns:a16="http://schemas.microsoft.com/office/drawing/2014/main" id="{C03F998A-2A5E-471F-9FEB-2559B0A7F93D}"/>
              </a:ext>
            </a:extLst>
          </p:cNvPr>
          <p:cNvSpPr>
            <a:spLocks noGrp="1"/>
          </p:cNvSpPr>
          <p:nvPr>
            <p:ph type="sldNum" sz="quarter" idx="12"/>
          </p:nvPr>
        </p:nvSpPr>
        <p:spPr/>
        <p:txBody>
          <a:bodyPr/>
          <a:lstStyle/>
          <a:p>
            <a:fld id="{E1C5CB42-CF14-4293-8971-6DCD1AAE8BE7}" type="slidenum">
              <a:rPr lang="en-GB" smtClean="0"/>
              <a:t>33</a:t>
            </a:fld>
            <a:endParaRPr lang="en-GB"/>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marL="0" lvl="0" indent="0">
              <a:buNone/>
            </a:pPr>
            <a:r>
              <a:t>Data</a:t>
            </a:r>
          </a:p>
        </p:txBody>
      </p:sp>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p:txBody>
          <a:bodyPr/>
          <a:lstStyle/>
          <a:p>
            <a:pPr marL="0" lvl="0" indent="0">
              <a:buNone/>
            </a:pPr>
            <a:r>
              <a:t>Please download and read into R the 2 datasets from GitHub:</a:t>
            </a:r>
          </a:p>
          <a:p>
            <a:pPr lvl="0"/>
            <a:r>
              <a:rPr>
                <a:latin typeface="Courier"/>
              </a:rPr>
              <a:t>btTBreg.csv</a:t>
            </a:r>
          </a:p>
          <a:p>
            <a:pPr lvl="0"/>
            <a:r>
              <a:rPr>
                <a:latin typeface="Courier"/>
              </a:rPr>
              <a:t>adolescent_small.csv</a:t>
            </a:r>
          </a:p>
          <a:p>
            <a:pPr marL="0" lvl="0" indent="0">
              <a:buNone/>
            </a:pPr>
            <a14:m xmlns:a14="http://schemas.microsoft.com/office/drawing/2010/main">
              <m:oMathPara xmlns:m="http://schemas.openxmlformats.org/officeDocument/2006/math">
                <m:oMathParaPr>
                  <m:jc m:val="center"/>
                </m:oMathParaPr>
                <m:oMath xmlns:m="http://schemas.openxmlformats.org/officeDocument/2006/math">
                  <m:r>
                    <a:rPr>
                      <a:latin typeface="Cambria Math" panose="02040503050406030204" pitchFamily="18" charset="0"/>
                    </a:rPr>
                    <m:t> </m:t>
                  </m:r>
                </m:oMath>
              </m:oMathPara>
            </a14:m>
            <a:endParaRPr>
              <a:latin typeface="Courier"/>
            </a:endParaRPr>
          </a:p>
          <a:p>
            <a:pPr lvl="0" indent="0">
              <a:buNone/>
            </a:pPr>
            <a:r>
              <a:rPr>
                <a:latin typeface="Courier"/>
              </a:rPr>
              <a:t>df1 </a:t>
            </a:r>
            <a:r>
              <a:rPr>
                <a:solidFill>
                  <a:srgbClr val="007020"/>
                </a:solidFill>
                <a:latin typeface="Courier"/>
              </a:rPr>
              <a:t>&lt;-</a:t>
            </a:r>
            <a:r>
              <a:rPr>
                <a:latin typeface="Courier"/>
              </a:rPr>
              <a:t> </a:t>
            </a:r>
            <a:r>
              <a:rPr>
                <a:solidFill>
                  <a:srgbClr val="06287E"/>
                </a:solidFill>
                <a:latin typeface="Courier"/>
              </a:rPr>
              <a:t>read.csv</a:t>
            </a:r>
            <a:r>
              <a:rPr>
                <a:latin typeface="Courier"/>
              </a:rPr>
              <a:t>(</a:t>
            </a:r>
            <a:r>
              <a:rPr>
                <a:solidFill>
                  <a:srgbClr val="4070A0"/>
                </a:solidFill>
                <a:latin typeface="Courier"/>
              </a:rPr>
              <a:t>"dataAndSupportDocs/btTBreg.csv"</a:t>
            </a:r>
            <a:r>
              <a:rPr>
                <a:latin typeface="Courier"/>
              </a:rPr>
              <a:t>,</a:t>
            </a:r>
            <a:r>
              <a:rPr>
                <a:solidFill>
                  <a:srgbClr val="7D9029"/>
                </a:solidFill>
                <a:latin typeface="Courier"/>
              </a:rPr>
              <a:t>header =</a:t>
            </a:r>
            <a:r>
              <a:rPr>
                <a:latin typeface="Courier"/>
              </a:rPr>
              <a:t> </a:t>
            </a:r>
            <a:r>
              <a:rPr>
                <a:solidFill>
                  <a:srgbClr val="880000"/>
                </a:solidFill>
                <a:latin typeface="Courier"/>
              </a:rPr>
              <a:t>TRUE</a:t>
            </a:r>
            <a:r>
              <a:rPr>
                <a:latin typeface="Courier"/>
              </a:rPr>
              <a:t>)</a:t>
            </a:r>
            <a:br/>
            <a:r>
              <a:rPr>
                <a:latin typeface="Courier"/>
              </a:rPr>
              <a:t>df2 </a:t>
            </a:r>
            <a:r>
              <a:rPr>
                <a:solidFill>
                  <a:srgbClr val="007020"/>
                </a:solidFill>
                <a:latin typeface="Courier"/>
              </a:rPr>
              <a:t>&lt;-</a:t>
            </a:r>
            <a:r>
              <a:rPr>
                <a:latin typeface="Courier"/>
              </a:rPr>
              <a:t> </a:t>
            </a:r>
            <a:r>
              <a:rPr>
                <a:solidFill>
                  <a:srgbClr val="06287E"/>
                </a:solidFill>
                <a:latin typeface="Courier"/>
              </a:rPr>
              <a:t>read.csv</a:t>
            </a:r>
            <a:r>
              <a:rPr>
                <a:latin typeface="Courier"/>
              </a:rPr>
              <a:t>(</a:t>
            </a:r>
            <a:r>
              <a:rPr>
                <a:solidFill>
                  <a:srgbClr val="4070A0"/>
                </a:solidFill>
                <a:latin typeface="Courier"/>
              </a:rPr>
              <a:t>"dataAndSupportDocs/adolescent_small.csv"</a:t>
            </a:r>
            <a:r>
              <a:rPr>
                <a:latin typeface="Courier"/>
              </a:rPr>
              <a:t>,</a:t>
            </a:r>
            <a:r>
              <a:rPr>
                <a:solidFill>
                  <a:srgbClr val="7D9029"/>
                </a:solidFill>
                <a:latin typeface="Courier"/>
              </a:rPr>
              <a:t>header =</a:t>
            </a:r>
            <a:r>
              <a:rPr>
                <a:latin typeface="Courier"/>
              </a:rPr>
              <a:t> </a:t>
            </a:r>
            <a:r>
              <a:rPr>
                <a:solidFill>
                  <a:srgbClr val="880000"/>
                </a:solidFill>
                <a:latin typeface="Courier"/>
              </a:rPr>
              <a:t>TRUE</a:t>
            </a:r>
            <a:r>
              <a:rPr>
                <a:latin typeface="Courier"/>
              </a:rPr>
              <a:t>)</a:t>
            </a:r>
          </a:p>
        </p:txBody>
      </p:sp>
      <p:sp>
        <p:nvSpPr>
          <p:cNvPr id="6" name="Slide Number Placeholder 5">
            <a:extLst>
              <a:ext uri="{FF2B5EF4-FFF2-40B4-BE49-F238E27FC236}">
                <a16:creationId xmlns:a16="http://schemas.microsoft.com/office/drawing/2014/main" id="{C03F998A-2A5E-471F-9FEB-2559B0A7F93D}"/>
              </a:ext>
            </a:extLst>
          </p:cNvPr>
          <p:cNvSpPr>
            <a:spLocks noGrp="1"/>
          </p:cNvSpPr>
          <p:nvPr>
            <p:ph type="sldNum" sz="quarter" idx="12"/>
          </p:nvPr>
        </p:nvSpPr>
        <p:spPr/>
        <p:txBody>
          <a:bodyPr/>
          <a:lstStyle/>
          <a:p>
            <a:fld id="{E1C5CB42-CF14-4293-8971-6DCD1AAE8BE7}" type="slidenum">
              <a:rPr lang="en-GB" smtClean="0"/>
              <a:t>34</a:t>
            </a:fld>
            <a:endParaRPr lang="en-GB"/>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marL="0" lvl="0" indent="0">
              <a:buNone/>
            </a:pPr>
            <a:r>
              <a:t>Overview for the rest of this section</a:t>
            </a:r>
          </a:p>
        </p:txBody>
      </p:sp>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a:xfrm>
            <a:off x="838200" y="1690688"/>
            <a:ext cx="10515600" cy="4667250"/>
          </a:xfrm>
        </p:spPr>
        <p:txBody>
          <a:bodyPr>
            <a:normAutofit fontScale="92500" lnSpcReduction="10000"/>
          </a:bodyPr>
          <a:lstStyle/>
          <a:p>
            <a:pPr lvl="0"/>
            <a:r>
              <a:rPr dirty="0"/>
              <a:t>General procedure</a:t>
            </a:r>
          </a:p>
          <a:p>
            <a:pPr lvl="0"/>
            <a:r>
              <a:rPr dirty="0"/>
              <a:t>Parametric tests</a:t>
            </a:r>
          </a:p>
          <a:p>
            <a:pPr lvl="1"/>
            <a:r>
              <a:rPr dirty="0"/>
              <a:t>One- and two-sample t-test</a:t>
            </a:r>
          </a:p>
          <a:p>
            <a:pPr lvl="1"/>
            <a:r>
              <a:rPr dirty="0"/>
              <a:t>Paired t-test</a:t>
            </a:r>
          </a:p>
          <a:p>
            <a:pPr lvl="1"/>
            <a:r>
              <a:rPr dirty="0"/>
              <a:t>One-way analysis of variance (ANOVA)</a:t>
            </a:r>
          </a:p>
          <a:p>
            <a:pPr lvl="1"/>
            <a:r>
              <a:rPr dirty="0"/>
              <a:t>One- and two-sample tests for proportions</a:t>
            </a:r>
          </a:p>
          <a:p>
            <a:pPr lvl="1"/>
            <a:r>
              <a:rPr dirty="0"/>
              <a:t>Chi-squared test</a:t>
            </a:r>
          </a:p>
          <a:p>
            <a:pPr lvl="0"/>
            <a:r>
              <a:rPr dirty="0"/>
              <a:t>Non-parametric tests</a:t>
            </a:r>
          </a:p>
          <a:p>
            <a:pPr lvl="1"/>
            <a:r>
              <a:rPr dirty="0"/>
              <a:t>Wilcoxon one-sample signed rank and two-sample rank-sum test</a:t>
            </a:r>
          </a:p>
          <a:p>
            <a:pPr lvl="1"/>
            <a:r>
              <a:rPr dirty="0"/>
              <a:t>Paired Wilcoxon signed rank test</a:t>
            </a:r>
          </a:p>
          <a:p>
            <a:pPr lvl="1"/>
            <a:r>
              <a:rPr dirty="0"/>
              <a:t>Kruskal-Wallis test</a:t>
            </a:r>
          </a:p>
          <a:p>
            <a:pPr lvl="1"/>
            <a:r>
              <a:rPr dirty="0"/>
              <a:t>Fisher’s exact test</a:t>
            </a:r>
          </a:p>
          <a:p>
            <a:pPr lvl="0"/>
            <a:r>
              <a:rPr dirty="0"/>
              <a:t>Permutation tests</a:t>
            </a:r>
          </a:p>
          <a:p>
            <a:pPr lvl="0"/>
            <a:r>
              <a:rPr dirty="0"/>
              <a:t>Use of p-values in statistics</a:t>
            </a:r>
          </a:p>
        </p:txBody>
      </p:sp>
      <p:sp>
        <p:nvSpPr>
          <p:cNvPr id="6" name="Slide Number Placeholder 5">
            <a:extLst>
              <a:ext uri="{FF2B5EF4-FFF2-40B4-BE49-F238E27FC236}">
                <a16:creationId xmlns:a16="http://schemas.microsoft.com/office/drawing/2014/main" id="{C03F998A-2A5E-471F-9FEB-2559B0A7F93D}"/>
              </a:ext>
            </a:extLst>
          </p:cNvPr>
          <p:cNvSpPr>
            <a:spLocks noGrp="1"/>
          </p:cNvSpPr>
          <p:nvPr>
            <p:ph type="sldNum" sz="quarter" idx="12"/>
          </p:nvPr>
        </p:nvSpPr>
        <p:spPr/>
        <p:txBody>
          <a:bodyPr/>
          <a:lstStyle/>
          <a:p>
            <a:fld id="{E1C5CB42-CF14-4293-8971-6DCD1AAE8BE7}" type="slidenum">
              <a:rPr lang="en-GB" smtClean="0"/>
              <a:t>35</a:t>
            </a:fld>
            <a:endParaRPr lang="en-GB"/>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marL="0" lvl="0" indent="0">
              <a:buNone/>
            </a:pPr>
            <a:r>
              <a:t>General procedure</a:t>
            </a:r>
          </a:p>
        </p:txBody>
      </p:sp>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p:txBody>
          <a:bodyPr/>
          <a:lstStyle/>
          <a:p>
            <a:pPr marL="0" lvl="0" indent="0">
              <a:buNone/>
            </a:pPr>
            <a:r>
              <a:t>There are many different statistical tests and we will cover several today. The general procedure / algorithm for all of these is the same:</a:t>
            </a:r>
          </a:p>
          <a:p>
            <a:pPr lvl="0"/>
            <a:r>
              <a:t>Formulate a (narrow) null hypothesis H</a:t>
            </a:r>
            <a:r>
              <a:rPr baseline="-25000"/>
              <a:t>0</a:t>
            </a:r>
            <a:r>
              <a:t> and a (wide) alternative hypothesis H</a:t>
            </a:r>
            <a:r>
              <a:rPr baseline="-25000"/>
              <a:t>1</a:t>
            </a:r>
            <a:r>
              <a:t>.</a:t>
            </a:r>
          </a:p>
          <a:p>
            <a:pPr lvl="0"/>
            <a:r>
              <a:t>Define the decision rule:</a:t>
            </a:r>
          </a:p>
          <a:p>
            <a:pPr lvl="1"/>
            <a:r>
              <a:t>Define a test statistic.</a:t>
            </a:r>
          </a:p>
          <a:p>
            <a:pPr lvl="1"/>
            <a:r>
              <a:t>Derive the distribution of the test statistics under H</a:t>
            </a:r>
            <a:r>
              <a:rPr baseline="-25000"/>
              <a:t>0</a:t>
            </a:r>
            <a:r>
              <a:t>.</a:t>
            </a:r>
          </a:p>
          <a:p>
            <a:pPr lvl="1"/>
            <a:r>
              <a:t>Derive the decision rule (either based on a rejection region or a p-value) for a chosen significance level.</a:t>
            </a:r>
          </a:p>
          <a:p>
            <a:pPr lvl="0"/>
            <a:r>
              <a:t>Collect data.</a:t>
            </a:r>
          </a:p>
          <a:p>
            <a:pPr lvl="0"/>
            <a:r>
              <a:t>Calculate the test statistic, rejection region and/or p-value.</a:t>
            </a:r>
          </a:p>
          <a:p>
            <a:pPr lvl="0"/>
            <a:r>
              <a:t>Make a decision to reject H</a:t>
            </a:r>
            <a:r>
              <a:rPr baseline="-25000"/>
              <a:t>0</a:t>
            </a:r>
            <a:r>
              <a:t> in favour of H</a:t>
            </a:r>
            <a:r>
              <a:rPr baseline="-25000"/>
              <a:t>1</a:t>
            </a:r>
            <a:r>
              <a:t> or not.</a:t>
            </a:r>
          </a:p>
        </p:txBody>
      </p:sp>
      <p:sp>
        <p:nvSpPr>
          <p:cNvPr id="6" name="Slide Number Placeholder 5">
            <a:extLst>
              <a:ext uri="{FF2B5EF4-FFF2-40B4-BE49-F238E27FC236}">
                <a16:creationId xmlns:a16="http://schemas.microsoft.com/office/drawing/2014/main" id="{C03F998A-2A5E-471F-9FEB-2559B0A7F93D}"/>
              </a:ext>
            </a:extLst>
          </p:cNvPr>
          <p:cNvSpPr>
            <a:spLocks noGrp="1"/>
          </p:cNvSpPr>
          <p:nvPr>
            <p:ph type="sldNum" sz="quarter" idx="12"/>
          </p:nvPr>
        </p:nvSpPr>
        <p:spPr/>
        <p:txBody>
          <a:bodyPr/>
          <a:lstStyle/>
          <a:p>
            <a:fld id="{E1C5CB42-CF14-4293-8971-6DCD1AAE8BE7}" type="slidenum">
              <a:rPr lang="en-GB" smtClean="0"/>
              <a:t>36</a:t>
            </a:fld>
            <a:endParaRPr lang="en-GB"/>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marL="0" lvl="0" indent="0">
              <a:buNone/>
            </a:pPr>
            <a:r>
              <a:t>When can hypothesis testing be used</a:t>
            </a:r>
          </a:p>
        </p:txBody>
      </p:sp>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p:txBody>
          <a:bodyPr/>
          <a:lstStyle/>
          <a:p>
            <a:pPr marL="0" lvl="0" indent="0">
              <a:buNone/>
            </a:pPr>
            <a14:m xmlns:a14="http://schemas.microsoft.com/office/drawing/2010/main">
              <m:oMathPara xmlns:m="http://schemas.openxmlformats.org/officeDocument/2006/math">
                <m:oMathParaPr>
                  <m:jc m:val="center"/>
                </m:oMathParaPr>
                <m:oMath xmlns:m="http://schemas.openxmlformats.org/officeDocument/2006/math">
                  <m:r>
                    <a:rPr>
                      <a:latin typeface="Cambria Math" panose="02040503050406030204" pitchFamily="18" charset="0"/>
                    </a:rPr>
                    <m:t> </m:t>
                  </m:r>
                </m:oMath>
              </m:oMathPara>
            </a14:m>
            <a:endParaRPr/>
          </a:p>
        </p:txBody>
      </p:sp>
      <p:sp>
        <p:nvSpPr>
          <p:cNvPr id="6" name="Slide Number Placeholder 5">
            <a:extLst>
              <a:ext uri="{FF2B5EF4-FFF2-40B4-BE49-F238E27FC236}">
                <a16:creationId xmlns:a16="http://schemas.microsoft.com/office/drawing/2014/main" id="{C03F998A-2A5E-471F-9FEB-2559B0A7F93D}"/>
              </a:ext>
            </a:extLst>
          </p:cNvPr>
          <p:cNvSpPr>
            <a:spLocks noGrp="1"/>
          </p:cNvSpPr>
          <p:nvPr>
            <p:ph type="sldNum" sz="quarter" idx="12"/>
          </p:nvPr>
        </p:nvSpPr>
        <p:spPr/>
        <p:txBody>
          <a:bodyPr/>
          <a:lstStyle/>
          <a:p>
            <a:fld id="{E1C5CB42-CF14-4293-8971-6DCD1AAE8BE7}" type="slidenum">
              <a:rPr lang="en-GB" smtClean="0"/>
              <a:t>37</a:t>
            </a:fld>
            <a:endParaRPr lang="en-GB"/>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511042-BDFA-4708-84AB-F848A1D5D4A0}"/>
              </a:ext>
            </a:extLst>
          </p:cNvPr>
          <p:cNvSpPr>
            <a:spLocks noGrp="1"/>
          </p:cNvSpPr>
          <p:nvPr>
            <p:ph type="title"/>
          </p:nvPr>
        </p:nvSpPr>
        <p:spPr>
          <a:xfrm>
            <a:off x="831850" y="1709738"/>
            <a:ext cx="10515600" cy="2852737"/>
          </a:xfrm>
        </p:spPr>
        <p:txBody>
          <a:bodyPr/>
          <a:lstStyle/>
          <a:p>
            <a:pPr marL="0" lvl="0" indent="0">
              <a:buNone/>
            </a:pPr>
            <a:r>
              <a:t>Parametric tests</a:t>
            </a:r>
          </a:p>
        </p:txBody>
      </p:sp>
      <p:sp>
        <p:nvSpPr>
          <p:cNvPr id="6" name="Slide Number Placeholder 5">
            <a:extLst>
              <a:ext uri="{FF2B5EF4-FFF2-40B4-BE49-F238E27FC236}">
                <a16:creationId xmlns:a16="http://schemas.microsoft.com/office/drawing/2014/main" id="{910AAC92-EEED-4232-ACDE-84003A6476BB}"/>
              </a:ext>
            </a:extLst>
          </p:cNvPr>
          <p:cNvSpPr>
            <a:spLocks noGrp="1"/>
          </p:cNvSpPr>
          <p:nvPr>
            <p:ph type="sldNum" sz="quarter" idx="12"/>
          </p:nvPr>
        </p:nvSpPr>
        <p:spPr/>
        <p:txBody>
          <a:bodyPr/>
          <a:lstStyle/>
          <a:p>
            <a:fld id="{E1C5CB42-CF14-4293-8971-6DCD1AAE8BE7}" type="slidenum">
              <a:rPr lang="en-GB" smtClean="0"/>
              <a:t>38</a:t>
            </a:fld>
            <a:endParaRPr lang="en-GB"/>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marL="0" lvl="0" indent="0">
              <a:buNone/>
            </a:pPr>
            <a:r>
              <a:t>One-sample t test</a:t>
            </a:r>
          </a:p>
        </p:txBody>
      </p:sp>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p:txBody>
          <a:bodyPr/>
          <a:lstStyle/>
          <a:p>
            <a:pPr lvl="0"/>
            <a:r>
              <a:t>This test is used to check whether a sample mean is different from a known / hypothesized mean.</a:t>
            </a:r>
          </a:p>
          <a:p>
            <a:pPr lvl="1"/>
            <a:r>
              <a:t>How different is the sample mean from the true population mean</a:t>
            </a:r>
          </a:p>
          <a:p>
            <a:pPr lvl="0"/>
            <a:r>
              <a:t>This test is for continuous data.</a:t>
            </a:r>
          </a:p>
          <a:p>
            <a:pPr marL="0" lvl="0" indent="0">
              <a:buNone/>
            </a:pPr>
            <a14:m xmlns:a14="http://schemas.microsoft.com/office/drawing/2010/main">
              <m:oMathPara xmlns:m="http://schemas.openxmlformats.org/officeDocument/2006/math">
                <m:oMathParaPr>
                  <m:jc m:val="center"/>
                </m:oMathParaPr>
                <m:oMath xmlns:m="http://schemas.openxmlformats.org/officeDocument/2006/math">
                  <m:r>
                    <a:rPr>
                      <a:latin typeface="Cambria Math" panose="02040503050406030204" pitchFamily="18" charset="0"/>
                    </a:rPr>
                    <m:t> </m:t>
                  </m:r>
                </m:oMath>
              </m:oMathPara>
            </a14:m>
            <a:endParaRPr/>
          </a:p>
          <a:p>
            <a:pPr marL="0" lvl="0" indent="0">
              <a:buNone/>
            </a:pPr>
            <a:r>
              <a:t>Assumptions:</a:t>
            </a:r>
          </a:p>
          <a:p>
            <a:pPr lvl="0"/>
            <a:r>
              <a:t>Random sample from the population.</a:t>
            </a:r>
          </a:p>
          <a:p>
            <a:pPr lvl="0"/>
            <a:r>
              <a:t>The data must be continuous.</a:t>
            </a:r>
          </a:p>
          <a:p>
            <a:pPr lvl="0"/>
            <a:r>
              <a:t>The sample mean must follow a normal distribution.</a:t>
            </a:r>
          </a:p>
        </p:txBody>
      </p:sp>
      <p:sp>
        <p:nvSpPr>
          <p:cNvPr id="6" name="Slide Number Placeholder 5">
            <a:extLst>
              <a:ext uri="{FF2B5EF4-FFF2-40B4-BE49-F238E27FC236}">
                <a16:creationId xmlns:a16="http://schemas.microsoft.com/office/drawing/2014/main" id="{C03F998A-2A5E-471F-9FEB-2559B0A7F93D}"/>
              </a:ext>
            </a:extLst>
          </p:cNvPr>
          <p:cNvSpPr>
            <a:spLocks noGrp="1"/>
          </p:cNvSpPr>
          <p:nvPr>
            <p:ph type="sldNum" sz="quarter" idx="12"/>
          </p:nvPr>
        </p:nvSpPr>
        <p:spPr/>
        <p:txBody>
          <a:bodyPr/>
          <a:lstStyle/>
          <a:p>
            <a:fld id="{E1C5CB42-CF14-4293-8971-6DCD1AAE8BE7}" type="slidenum">
              <a:rPr lang="en-GB" smtClean="0"/>
              <a:t>39</a:t>
            </a:fld>
            <a:endParaRPr lang="en-GB"/>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marL="0" lvl="0" indent="0">
              <a:buNone/>
            </a:pPr>
            <a:r>
              <a:t>One-sample t test</a:t>
            </a:r>
          </a:p>
        </p:txBody>
      </p:sp>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p:txBody>
          <a:bodyPr/>
          <a:lstStyle/>
          <a:p>
            <a:pPr marL="0" lvl="0" indent="0">
              <a:buNone/>
            </a:pPr>
            <a:r>
              <a:t>Let </a:t>
            </a:r>
            <a14:m xmlns:a14="http://schemas.microsoft.com/office/drawing/2010/main">
              <m:oMath xmlns:m="http://schemas.openxmlformats.org/officeDocument/2006/math">
                <m:r>
                  <a:rPr>
                    <a:latin typeface="Cambria Math" panose="02040503050406030204" pitchFamily="18" charset="0"/>
                  </a:rPr>
                  <m:t>𝑋</m:t>
                </m:r>
              </m:oMath>
            </a14:m>
            <a:r>
              <a:t> be the random variable for data that we wish to observe. Let </a:t>
            </a:r>
            <a14:m xmlns:a14="http://schemas.microsoft.com/office/drawing/2010/main">
              <m:oMath xmlns:m="http://schemas.openxmlformats.org/officeDocument/2006/math">
                <m:r>
                  <a:rPr>
                    <a:latin typeface="Cambria Math" panose="02040503050406030204" pitchFamily="18" charset="0"/>
                  </a:rPr>
                  <m:t>𝜇</m:t>
                </m:r>
                <m:r>
                  <a:rPr>
                    <a:latin typeface="Cambria Math" panose="02040503050406030204" pitchFamily="18" charset="0"/>
                  </a:rPr>
                  <m:t>=</m:t>
                </m:r>
                <m:r>
                  <a:rPr>
                    <a:latin typeface="Cambria Math" panose="02040503050406030204" pitchFamily="18" charset="0"/>
                  </a:rPr>
                  <m:t>𝐸</m:t>
                </m:r>
                <m:d>
                  <m:dPr>
                    <m:begChr m:val="["/>
                    <m:endChr m:val="]"/>
                    <m:ctrlPr>
                      <a:rPr i="1">
                        <a:latin typeface="Cambria Math" panose="02040503050406030204" pitchFamily="18" charset="0"/>
                      </a:rPr>
                    </m:ctrlPr>
                  </m:dPr>
                  <m:e>
                    <m:r>
                      <a:rPr>
                        <a:latin typeface="Cambria Math" panose="02040503050406030204" pitchFamily="18" charset="0"/>
                      </a:rPr>
                      <m:t>𝑋</m:t>
                    </m:r>
                  </m:e>
                </m:d>
              </m:oMath>
            </a14:m>
            <a:r>
              <a:t>. Let </a:t>
            </a:r>
            <a14:m xmlns:a14="http://schemas.microsoft.com/office/drawing/2010/main">
              <m:oMath xmlns:m="http://schemas.openxmlformats.org/officeDocument/2006/math">
                <m:acc>
                  <m:accPr>
                    <m:chr m:val="‾"/>
                    <m:ctrlPr>
                      <a:rPr>
                        <a:latin typeface="Cambria Math" panose="02040503050406030204" pitchFamily="18" charset="0"/>
                      </a:rPr>
                    </m:ctrlPr>
                  </m:accPr>
                  <m:e>
                    <m:r>
                      <a:rPr>
                        <a:latin typeface="Cambria Math" panose="02040503050406030204" pitchFamily="18" charset="0"/>
                      </a:rPr>
                      <m:t>𝑥</m:t>
                    </m:r>
                  </m:e>
                </m:acc>
              </m:oMath>
            </a14:m>
            <a:r>
              <a:t> be the sample mean of the observed data, </a:t>
            </a:r>
            <a14:m xmlns:a14="http://schemas.microsoft.com/office/drawing/2010/main">
              <m:oMath xmlns:m="http://schemas.openxmlformats.org/officeDocument/2006/math">
                <m:r>
                  <a:rPr>
                    <a:latin typeface="Cambria Math" panose="02040503050406030204" pitchFamily="18" charset="0"/>
                  </a:rPr>
                  <m:t>𝑠</m:t>
                </m:r>
              </m:oMath>
            </a14:m>
            <a:r>
              <a:t> the sample standard deviation and </a:t>
            </a:r>
            <a14:m xmlns:a14="http://schemas.microsoft.com/office/drawing/2010/main">
              <m:oMath xmlns:m="http://schemas.openxmlformats.org/officeDocument/2006/math">
                <m:r>
                  <a:rPr>
                    <a:latin typeface="Cambria Math" panose="02040503050406030204" pitchFamily="18" charset="0"/>
                  </a:rPr>
                  <m:t>𝑛</m:t>
                </m:r>
              </m:oMath>
            </a14:m>
            <a:r>
              <a:t> the number of observations.</a:t>
            </a:r>
          </a:p>
          <a:p>
            <a:pPr lvl="0"/>
            <a:r>
              <a:t>Hypotheses:</a:t>
            </a:r>
          </a:p>
          <a:p>
            <a:pPr marL="0" lvl="0" indent="0">
              <a:buNone/>
            </a:pPr>
            <a14:m xmlns:a14="http://schemas.microsoft.com/office/drawing/2010/main">
              <m:oMathPara xmlns:m="http://schemas.openxmlformats.org/officeDocument/2006/math">
                <m:oMathParaPr>
                  <m:jc m:val="center"/>
                </m:oMathParaPr>
                <m:oMath xmlns:m="http://schemas.openxmlformats.org/officeDocument/2006/math">
                  <m:r>
                    <a:rPr>
                      <a:latin typeface="Cambria Math" panose="02040503050406030204" pitchFamily="18" charset="0"/>
                    </a:rPr>
                    <m:t> </m:t>
                  </m:r>
                </m:oMath>
              </m:oMathPara>
            </a14:m>
            <a:endParaRPr/>
          </a:p>
          <a:p>
            <a:pPr marL="0" lvl="0" indent="0">
              <a:buNone/>
            </a:pPr>
            <a14:m xmlns:a14="http://schemas.microsoft.com/office/drawing/2010/main">
              <m:oMathPara xmlns:m="http://schemas.openxmlformats.org/officeDocument/2006/math">
                <m:oMathParaPr>
                  <m:jc m:val="center"/>
                </m:oMathParaPr>
                <m:oMath xmlns:m="http://schemas.openxmlformats.org/officeDocument/2006/math">
                  <m:m>
                    <m:mPr>
                      <m:plcHide m:val="on"/>
                      <m:mcs>
                        <m:mc>
                          <m:mcPr>
                            <m:count m:val="2"/>
                            <m:mcJc m:val="center"/>
                          </m:mcPr>
                        </m:mc>
                      </m:mcs>
                      <m:ctrlPr>
                        <a:rPr>
                          <a:latin typeface="Cambria Math" panose="02040503050406030204" pitchFamily="18" charset="0"/>
                        </a:rPr>
                      </m:ctrlPr>
                    </m:mPr>
                    <m:mr>
                      <m:e>
                        <m:sSub>
                          <m:sSubPr>
                            <m:ctrlPr>
                              <a:rPr>
                                <a:latin typeface="Cambria Math" panose="02040503050406030204" pitchFamily="18" charset="0"/>
                              </a:rPr>
                            </m:ctrlPr>
                          </m:sSubPr>
                          <m:e>
                            <m:r>
                              <a:rPr>
                                <a:latin typeface="Cambria Math" panose="02040503050406030204" pitchFamily="18" charset="0"/>
                              </a:rPr>
                              <m:t>𝐻</m:t>
                            </m:r>
                          </m:e>
                          <m:sub>
                            <m:r>
                              <a:rPr>
                                <a:latin typeface="Cambria Math" panose="02040503050406030204" pitchFamily="18" charset="0"/>
                              </a:rPr>
                              <m:t>0</m:t>
                            </m:r>
                          </m:sub>
                        </m:sSub>
                        <m:r>
                          <a:rPr>
                            <a:latin typeface="Cambria Math" panose="02040503050406030204" pitchFamily="18" charset="0"/>
                          </a:rPr>
                          <m:t>:</m:t>
                        </m:r>
                      </m:e>
                      <m:e>
                        <m:r>
                          <a:rPr>
                            <a:latin typeface="Cambria Math" panose="02040503050406030204" pitchFamily="18" charset="0"/>
                          </a:rPr>
                          <m:t> </m:t>
                        </m:r>
                        <m:r>
                          <a:rPr>
                            <a:latin typeface="Cambria Math" panose="02040503050406030204" pitchFamily="18" charset="0"/>
                          </a:rPr>
                          <m:t>𝜇</m:t>
                        </m:r>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𝜇</m:t>
                            </m:r>
                          </m:e>
                          <m:sub>
                            <m:r>
                              <a:rPr>
                                <a:latin typeface="Cambria Math" panose="02040503050406030204" pitchFamily="18" charset="0"/>
                              </a:rPr>
                              <m:t>0</m:t>
                            </m:r>
                          </m:sub>
                        </m:sSub>
                      </m:e>
                    </m:mr>
                    <m:mr>
                      <m:e>
                        <m:sSub>
                          <m:sSubPr>
                            <m:ctrlPr>
                              <a:rPr i="1">
                                <a:latin typeface="Cambria Math" panose="02040503050406030204" pitchFamily="18" charset="0"/>
                              </a:rPr>
                            </m:ctrlPr>
                          </m:sSubPr>
                          <m:e>
                            <m:r>
                              <a:rPr>
                                <a:latin typeface="Cambria Math" panose="02040503050406030204" pitchFamily="18" charset="0"/>
                              </a:rPr>
                              <m:t>𝐻</m:t>
                            </m:r>
                          </m:e>
                          <m:sub>
                            <m:r>
                              <a:rPr>
                                <a:latin typeface="Cambria Math" panose="02040503050406030204" pitchFamily="18" charset="0"/>
                              </a:rPr>
                              <m:t>1</m:t>
                            </m:r>
                          </m:sub>
                        </m:sSub>
                        <m:r>
                          <a:rPr>
                            <a:latin typeface="Cambria Math" panose="02040503050406030204" pitchFamily="18" charset="0"/>
                          </a:rPr>
                          <m:t>:</m:t>
                        </m:r>
                      </m:e>
                      <m:e>
                        <m:r>
                          <a:rPr>
                            <a:latin typeface="Cambria Math" panose="02040503050406030204" pitchFamily="18" charset="0"/>
                          </a:rPr>
                          <m:t> </m:t>
                        </m:r>
                        <m:r>
                          <a:rPr>
                            <a:latin typeface="Cambria Math" panose="02040503050406030204" pitchFamily="18" charset="0"/>
                          </a:rPr>
                          <m:t>𝜇</m:t>
                        </m:r>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𝜇</m:t>
                            </m:r>
                          </m:e>
                          <m:sub>
                            <m:r>
                              <a:rPr>
                                <a:latin typeface="Cambria Math" panose="02040503050406030204" pitchFamily="18" charset="0"/>
                              </a:rPr>
                              <m:t>0</m:t>
                            </m:r>
                          </m:sub>
                        </m:sSub>
                      </m:e>
                    </m:mr>
                  </m:m>
                </m:oMath>
              </m:oMathPara>
            </a14:m>
            <a:endParaRPr/>
          </a:p>
          <a:p>
            <a:pPr lvl="0"/>
            <a:r>
              <a:t>Test statistic: difference between sample mean and null value </a:t>
            </a:r>
            <a14:m xmlns:a14="http://schemas.microsoft.com/office/drawing/2010/main">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𝜇</m:t>
                    </m:r>
                  </m:e>
                  <m:sub>
                    <m:r>
                      <a:rPr>
                        <a:latin typeface="Cambria Math" panose="02040503050406030204" pitchFamily="18" charset="0"/>
                      </a:rPr>
                      <m:t>0</m:t>
                    </m:r>
                  </m:sub>
                </m:sSub>
              </m:oMath>
            </a14:m>
            <a:r>
              <a:t> scaled by the standard error</a:t>
            </a:r>
          </a:p>
          <a:p>
            <a:pPr marL="0" lvl="0" indent="0">
              <a:buNone/>
            </a:pPr>
            <a14:m xmlns:a14="http://schemas.microsoft.com/office/drawing/2010/main">
              <m:oMathPara xmlns:m="http://schemas.openxmlformats.org/officeDocument/2006/math">
                <m:oMathParaPr>
                  <m:jc m:val="center"/>
                </m:oMathParaPr>
                <m:oMath xmlns:m="http://schemas.openxmlformats.org/officeDocument/2006/math">
                  <m:r>
                    <a:rPr>
                      <a:latin typeface="Cambria Math" panose="02040503050406030204" pitchFamily="18" charset="0"/>
                    </a:rPr>
                    <m:t> </m:t>
                  </m:r>
                </m:oMath>
              </m:oMathPara>
            </a14:m>
            <a:endParaRPr/>
          </a:p>
          <a:p>
            <a:pPr marL="0" lvl="0" indent="0">
              <a:buNone/>
            </a:pPr>
            <a14:m xmlns:a14="http://schemas.microsoft.com/office/drawing/2010/main">
              <m:oMathPara xmlns:m="http://schemas.openxmlformats.org/officeDocument/2006/math">
                <m:oMathParaPr>
                  <m:jc m:val="center"/>
                </m:oMathParaPr>
                <m:oMath xmlns:m="http://schemas.openxmlformats.org/officeDocument/2006/math">
                  <m:r>
                    <a:rPr>
                      <a:latin typeface="Cambria Math" panose="02040503050406030204" pitchFamily="18" charset="0"/>
                    </a:rPr>
                    <m:t>𝑇</m:t>
                  </m:r>
                  <m:r>
                    <a:rPr>
                      <a:latin typeface="Cambria Math" panose="02040503050406030204" pitchFamily="18" charset="0"/>
                    </a:rPr>
                    <m:t>=</m:t>
                  </m:r>
                  <m:f>
                    <m:fPr>
                      <m:ctrlPr>
                        <a:rPr i="1">
                          <a:latin typeface="Cambria Math" panose="02040503050406030204" pitchFamily="18" charset="0"/>
                        </a:rPr>
                      </m:ctrlPr>
                    </m:fPr>
                    <m:num>
                      <m:acc>
                        <m:accPr>
                          <m:chr m:val="‾"/>
                          <m:ctrlPr>
                            <a:rPr i="1">
                              <a:latin typeface="Cambria Math" panose="02040503050406030204" pitchFamily="18" charset="0"/>
                            </a:rPr>
                          </m:ctrlPr>
                        </m:accPr>
                        <m:e>
                          <m:r>
                            <a:rPr>
                              <a:latin typeface="Cambria Math" panose="02040503050406030204" pitchFamily="18" charset="0"/>
                            </a:rPr>
                            <m:t>𝑥</m:t>
                          </m:r>
                        </m:e>
                      </m:acc>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𝜇</m:t>
                          </m:r>
                        </m:e>
                        <m:sub>
                          <m:r>
                            <a:rPr>
                              <a:latin typeface="Cambria Math" panose="02040503050406030204" pitchFamily="18" charset="0"/>
                            </a:rPr>
                            <m:t>0</m:t>
                          </m:r>
                        </m:sub>
                      </m:sSub>
                    </m:num>
                    <m:den>
                      <m:r>
                        <a:rPr>
                          <a:latin typeface="Cambria Math" panose="02040503050406030204" pitchFamily="18" charset="0"/>
                        </a:rPr>
                        <m:t>𝑠</m:t>
                      </m:r>
                      <m:r>
                        <a:rPr>
                          <a:latin typeface="Cambria Math" panose="02040503050406030204" pitchFamily="18" charset="0"/>
                        </a:rPr>
                        <m:t>/</m:t>
                      </m:r>
                      <m:rad>
                        <m:radPr>
                          <m:degHide m:val="on"/>
                          <m:ctrlPr>
                            <a:rPr i="1">
                              <a:latin typeface="Cambria Math" panose="02040503050406030204" pitchFamily="18" charset="0"/>
                            </a:rPr>
                          </m:ctrlPr>
                        </m:radPr>
                        <m:deg/>
                        <m:e>
                          <m:r>
                            <a:rPr>
                              <a:latin typeface="Cambria Math" panose="02040503050406030204" pitchFamily="18" charset="0"/>
                            </a:rPr>
                            <m:t>𝑛</m:t>
                          </m:r>
                        </m:e>
                      </m:rad>
                    </m:den>
                  </m:f>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𝑡</m:t>
                      </m:r>
                    </m:e>
                    <m:sub>
                      <m:r>
                        <a:rPr>
                          <a:latin typeface="Cambria Math" panose="02040503050406030204" pitchFamily="18" charset="0"/>
                        </a:rPr>
                        <m:t>𝑛</m:t>
                      </m:r>
                      <m:r>
                        <a:rPr>
                          <a:latin typeface="Cambria Math" panose="02040503050406030204" pitchFamily="18" charset="0"/>
                        </a:rPr>
                        <m:t>−1</m:t>
                      </m:r>
                    </m:sub>
                  </m:sSub>
                  <m:r>
                    <a:rPr>
                      <a:latin typeface="Cambria Math" panose="02040503050406030204" pitchFamily="18" charset="0"/>
                    </a:rPr>
                    <m:t> </m:t>
                  </m:r>
                  <m:r>
                    <m:rPr>
                      <m:nor/>
                    </m:rPr>
                    <a:rPr/>
                    <m:t> </m:t>
                  </m:r>
                  <m:r>
                    <m:rPr>
                      <m:nor/>
                    </m:rPr>
                    <a:rPr/>
                    <m:t>under</m:t>
                  </m:r>
                  <m:r>
                    <m:rPr>
                      <m:nor/>
                    </m:rPr>
                    <a:rPr/>
                    <m:t> </m:t>
                  </m:r>
                  <m:sSub>
                    <m:sSubPr>
                      <m:ctrlPr>
                        <a:rPr i="1">
                          <a:latin typeface="Cambria Math" panose="02040503050406030204" pitchFamily="18" charset="0"/>
                        </a:rPr>
                      </m:ctrlPr>
                    </m:sSubPr>
                    <m:e>
                      <m:r>
                        <a:rPr>
                          <a:latin typeface="Cambria Math" panose="02040503050406030204" pitchFamily="18" charset="0"/>
                        </a:rPr>
                        <m:t>𝐻</m:t>
                      </m:r>
                    </m:e>
                    <m:sub>
                      <m:r>
                        <a:rPr>
                          <a:latin typeface="Cambria Math" panose="02040503050406030204" pitchFamily="18" charset="0"/>
                        </a:rPr>
                        <m:t>0</m:t>
                      </m:r>
                    </m:sub>
                  </m:sSub>
                </m:oMath>
              </m:oMathPara>
            </a14:m>
            <a:endParaRPr/>
          </a:p>
        </p:txBody>
      </p:sp>
      <p:sp>
        <p:nvSpPr>
          <p:cNvPr id="6" name="Slide Number Placeholder 5">
            <a:extLst>
              <a:ext uri="{FF2B5EF4-FFF2-40B4-BE49-F238E27FC236}">
                <a16:creationId xmlns:a16="http://schemas.microsoft.com/office/drawing/2014/main" id="{C03F998A-2A5E-471F-9FEB-2559B0A7F93D}"/>
              </a:ext>
            </a:extLst>
          </p:cNvPr>
          <p:cNvSpPr>
            <a:spLocks noGrp="1"/>
          </p:cNvSpPr>
          <p:nvPr>
            <p:ph type="sldNum" sz="quarter" idx="12"/>
          </p:nvPr>
        </p:nvSpPr>
        <p:spPr/>
        <p:txBody>
          <a:bodyPr/>
          <a:lstStyle/>
          <a:p>
            <a:fld id="{E1C5CB42-CF14-4293-8971-6DCD1AAE8BE7}" type="slidenum">
              <a:rPr lang="en-GB" smtClean="0"/>
              <a:t>40</a:t>
            </a:fld>
            <a:endParaRPr lang="en-GB"/>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marL="0" lvl="0" indent="0">
              <a:buNone/>
            </a:pPr>
            <a:r>
              <a:t>One-sample t test</a:t>
            </a:r>
          </a:p>
        </p:txBody>
      </p:sp>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p:txBody>
          <a:bodyPr/>
          <a:lstStyle/>
          <a:p>
            <a:pPr marL="0" lvl="0" indent="0">
              <a:buNone/>
            </a:pPr>
            <a14:m xmlns:a14="http://schemas.microsoft.com/office/drawing/2010/main">
              <m:oMathPara xmlns:m="http://schemas.openxmlformats.org/officeDocument/2006/math">
                <m:oMathParaPr>
                  <m:jc m:val="center"/>
                </m:oMathParaPr>
                <m:oMath xmlns:m="http://schemas.openxmlformats.org/officeDocument/2006/math">
                  <m:r>
                    <a:rPr>
                      <a:latin typeface="Cambria Math" panose="02040503050406030204" pitchFamily="18" charset="0"/>
                    </a:rPr>
                    <m:t> </m:t>
                  </m:r>
                </m:oMath>
              </m:oMathPara>
            </a14:m>
            <a:endParaRPr/>
          </a:p>
          <a:p>
            <a:pPr marL="0" lvl="0" indent="0">
              <a:buNone/>
            </a:pPr>
            <a:r>
              <a:t>Suppose we want to test the hypothesis that the mean age in a population is 24.</a:t>
            </a:r>
          </a:p>
          <a:p>
            <a:pPr marL="0" lvl="0" indent="0">
              <a:buNone/>
            </a:pPr>
            <a14:m xmlns:a14="http://schemas.microsoft.com/office/drawing/2010/main">
              <m:oMathPara xmlns:m="http://schemas.openxmlformats.org/officeDocument/2006/math">
                <m:oMathParaPr>
                  <m:jc m:val="center"/>
                </m:oMathParaPr>
                <m:oMath xmlns:m="http://schemas.openxmlformats.org/officeDocument/2006/math">
                  <m:r>
                    <a:rPr>
                      <a:latin typeface="Cambria Math" panose="02040503050406030204" pitchFamily="18" charset="0"/>
                    </a:rPr>
                    <m:t> </m:t>
                  </m:r>
                </m:oMath>
              </m:oMathPara>
            </a14:m>
            <a:endParaRPr/>
          </a:p>
          <a:p>
            <a:pPr marL="0" lvl="0" indent="0">
              <a:buNone/>
            </a:pPr>
            <a14:m xmlns:a14="http://schemas.microsoft.com/office/drawing/2010/main">
              <m:oMathPara xmlns:m="http://schemas.openxmlformats.org/officeDocument/2006/math">
                <m:oMathParaPr>
                  <m:jc m:val="center"/>
                </m:oMathParaPr>
                <m:oMath xmlns:m="http://schemas.openxmlformats.org/officeDocument/2006/math">
                  <m:m>
                    <m:mPr>
                      <m:plcHide m:val="on"/>
                      <m:mcs>
                        <m:mc>
                          <m:mcPr>
                            <m:count m:val="2"/>
                            <m:mcJc m:val="center"/>
                          </m:mcPr>
                        </m:mc>
                      </m:mcs>
                      <m:ctrlPr>
                        <a:rPr>
                          <a:latin typeface="Cambria Math" panose="02040503050406030204" pitchFamily="18" charset="0"/>
                        </a:rPr>
                      </m:ctrlPr>
                    </m:mPr>
                    <m:mr>
                      <m:e>
                        <m:sSub>
                          <m:sSubPr>
                            <m:ctrlPr>
                              <a:rPr>
                                <a:latin typeface="Cambria Math" panose="02040503050406030204" pitchFamily="18" charset="0"/>
                              </a:rPr>
                            </m:ctrlPr>
                          </m:sSubPr>
                          <m:e>
                            <m:r>
                              <a:rPr>
                                <a:latin typeface="Cambria Math" panose="02040503050406030204" pitchFamily="18" charset="0"/>
                              </a:rPr>
                              <m:t>𝐻</m:t>
                            </m:r>
                          </m:e>
                          <m:sub>
                            <m:r>
                              <a:rPr>
                                <a:latin typeface="Cambria Math" panose="02040503050406030204" pitchFamily="18" charset="0"/>
                              </a:rPr>
                              <m:t>0</m:t>
                            </m:r>
                          </m:sub>
                        </m:sSub>
                        <m:r>
                          <a:rPr>
                            <a:latin typeface="Cambria Math" panose="02040503050406030204" pitchFamily="18" charset="0"/>
                          </a:rPr>
                          <m:t>:</m:t>
                        </m:r>
                      </m:e>
                      <m:e>
                        <m:r>
                          <a:rPr>
                            <a:latin typeface="Cambria Math" panose="02040503050406030204" pitchFamily="18" charset="0"/>
                          </a:rPr>
                          <m:t> </m:t>
                        </m:r>
                        <m:r>
                          <a:rPr>
                            <a:latin typeface="Cambria Math" panose="02040503050406030204" pitchFamily="18" charset="0"/>
                          </a:rPr>
                          <m:t>𝜇</m:t>
                        </m:r>
                        <m:r>
                          <a:rPr>
                            <a:latin typeface="Cambria Math" panose="02040503050406030204" pitchFamily="18" charset="0"/>
                          </a:rPr>
                          <m:t>=24</m:t>
                        </m:r>
                      </m:e>
                    </m:mr>
                    <m:mr>
                      <m:e>
                        <m:sSub>
                          <m:sSubPr>
                            <m:ctrlPr>
                              <a:rPr i="1">
                                <a:latin typeface="Cambria Math" panose="02040503050406030204" pitchFamily="18" charset="0"/>
                              </a:rPr>
                            </m:ctrlPr>
                          </m:sSubPr>
                          <m:e>
                            <m:r>
                              <a:rPr>
                                <a:latin typeface="Cambria Math" panose="02040503050406030204" pitchFamily="18" charset="0"/>
                              </a:rPr>
                              <m:t>𝐻</m:t>
                            </m:r>
                          </m:e>
                          <m:sub>
                            <m:r>
                              <a:rPr>
                                <a:latin typeface="Cambria Math" panose="02040503050406030204" pitchFamily="18" charset="0"/>
                              </a:rPr>
                              <m:t>1</m:t>
                            </m:r>
                          </m:sub>
                        </m:sSub>
                        <m:r>
                          <a:rPr>
                            <a:latin typeface="Cambria Math" panose="02040503050406030204" pitchFamily="18" charset="0"/>
                          </a:rPr>
                          <m:t>:</m:t>
                        </m:r>
                      </m:e>
                      <m:e>
                        <m:r>
                          <a:rPr>
                            <a:latin typeface="Cambria Math" panose="02040503050406030204" pitchFamily="18" charset="0"/>
                          </a:rPr>
                          <m:t> </m:t>
                        </m:r>
                        <m:r>
                          <a:rPr>
                            <a:latin typeface="Cambria Math" panose="02040503050406030204" pitchFamily="18" charset="0"/>
                          </a:rPr>
                          <m:t>𝜇</m:t>
                        </m:r>
                        <m:r>
                          <a:rPr>
                            <a:latin typeface="Cambria Math" panose="02040503050406030204" pitchFamily="18" charset="0"/>
                          </a:rPr>
                          <m:t>≠24</m:t>
                        </m:r>
                      </m:e>
                    </m:mr>
                  </m:m>
                </m:oMath>
              </m:oMathPara>
            </a14:m>
            <a:endParaRPr/>
          </a:p>
          <a:p>
            <a:pPr marL="0" lvl="0" indent="0">
              <a:buNone/>
            </a:pPr>
            <a14:m xmlns:a14="http://schemas.microsoft.com/office/drawing/2010/main">
              <m:oMathPara xmlns:m="http://schemas.openxmlformats.org/officeDocument/2006/math">
                <m:oMathParaPr>
                  <m:jc m:val="center"/>
                </m:oMathParaPr>
                <m:oMath xmlns:m="http://schemas.openxmlformats.org/officeDocument/2006/math">
                  <m:r>
                    <a:rPr>
                      <a:latin typeface="Cambria Math" panose="02040503050406030204" pitchFamily="18" charset="0"/>
                    </a:rPr>
                    <m:t> </m:t>
                  </m:r>
                </m:oMath>
              </m:oMathPara>
            </a14:m>
            <a:endParaRPr/>
          </a:p>
          <a:p>
            <a:pPr marL="0" lvl="0" indent="0">
              <a:buNone/>
            </a:pPr>
            <a:r>
              <a:t>This is a two-sided test.</a:t>
            </a:r>
          </a:p>
        </p:txBody>
      </p:sp>
      <p:sp>
        <p:nvSpPr>
          <p:cNvPr id="6" name="Slide Number Placeholder 5">
            <a:extLst>
              <a:ext uri="{FF2B5EF4-FFF2-40B4-BE49-F238E27FC236}">
                <a16:creationId xmlns:a16="http://schemas.microsoft.com/office/drawing/2014/main" id="{C03F998A-2A5E-471F-9FEB-2559B0A7F93D}"/>
              </a:ext>
            </a:extLst>
          </p:cNvPr>
          <p:cNvSpPr>
            <a:spLocks noGrp="1"/>
          </p:cNvSpPr>
          <p:nvPr>
            <p:ph type="sldNum" sz="quarter" idx="12"/>
          </p:nvPr>
        </p:nvSpPr>
        <p:spPr/>
        <p:txBody>
          <a:bodyPr/>
          <a:lstStyle/>
          <a:p>
            <a:fld id="{E1C5CB42-CF14-4293-8971-6DCD1AAE8BE7}" type="slidenum">
              <a:rPr lang="en-GB" smtClean="0"/>
              <a:t>41</a:t>
            </a:fld>
            <a:endParaRPr lang="en-GB"/>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CC315F-F711-43BA-8C23-8D50769E33D2}"/>
              </a:ext>
            </a:extLst>
          </p:cNvPr>
          <p:cNvSpPr>
            <a:spLocks noGrp="1"/>
          </p:cNvSpPr>
          <p:nvPr>
            <p:ph type="title"/>
          </p:nvPr>
        </p:nvSpPr>
        <p:spPr>
          <a:xfrm>
            <a:off x="839788" y="457200"/>
            <a:ext cx="3932237" cy="1600200"/>
          </a:xfrm>
        </p:spPr>
        <p:txBody>
          <a:bodyPr/>
          <a:lstStyle/>
          <a:p>
            <a:pPr marL="0" lvl="0" indent="0">
              <a:buNone/>
            </a:pPr>
            <a:r>
              <a:t>Check the assumptions</a:t>
            </a:r>
          </a:p>
        </p:txBody>
      </p:sp>
      <p:sp>
        <p:nvSpPr>
          <p:cNvPr id="4" name="Text Placeholder 3">
            <a:extLst>
              <a:ext uri="{FF2B5EF4-FFF2-40B4-BE49-F238E27FC236}">
                <a16:creationId xmlns:a16="http://schemas.microsoft.com/office/drawing/2014/main" id="{F6C278EB-CD3C-4569-8B41-D3DDD3B4004E}"/>
              </a:ext>
            </a:extLst>
          </p:cNvPr>
          <p:cNvSpPr>
            <a:spLocks noGrp="1"/>
          </p:cNvSpPr>
          <p:nvPr>
            <p:ph type="body" sz="half" idx="2"/>
          </p:nvPr>
        </p:nvSpPr>
        <p:spPr/>
        <p:txBody>
          <a:bodyPr/>
          <a:lstStyle/>
          <a:p>
            <a:pPr lvl="0"/>
            <a:r>
              <a:t>Histogram to check normality. We only require the sample mean not the actual data to be normally distributed. However, we only have a single observation of the sample mean. Thanks to the CLT, if the sample size is large enough and the distribution of the data is not too wildly non-normal (really severe skew, outliers and extreme values), then this will be met. So check the histogram for the data, but focus on evidence for severe non-normality.</a:t>
            </a:r>
          </a:p>
          <a:p>
            <a:pPr lvl="0" indent="0">
              <a:buNone/>
            </a:pPr>
            <a:r>
              <a:rPr>
                <a:latin typeface="Courier"/>
              </a:rPr>
              <a:t>df1 </a:t>
            </a:r>
            <a:r>
              <a:rPr>
                <a:solidFill>
                  <a:srgbClr val="4070A0"/>
                </a:solidFill>
                <a:latin typeface="Courier"/>
              </a:rPr>
              <a:t>%&gt;%</a:t>
            </a:r>
            <a:br/>
            <a:r>
              <a:rPr>
                <a:latin typeface="Courier"/>
              </a:rPr>
              <a:t>  </a:t>
            </a:r>
            <a:r>
              <a:rPr>
                <a:solidFill>
                  <a:srgbClr val="06287E"/>
                </a:solidFill>
                <a:latin typeface="Courier"/>
              </a:rPr>
              <a:t>ggplot</a:t>
            </a:r>
            <a:r>
              <a:rPr>
                <a:latin typeface="Courier"/>
              </a:rPr>
              <a:t>(</a:t>
            </a:r>
            <a:r>
              <a:rPr>
                <a:solidFill>
                  <a:srgbClr val="7D9029"/>
                </a:solidFill>
                <a:latin typeface="Courier"/>
              </a:rPr>
              <a:t>mapping=</a:t>
            </a:r>
            <a:r>
              <a:rPr>
                <a:solidFill>
                  <a:srgbClr val="06287E"/>
                </a:solidFill>
                <a:latin typeface="Courier"/>
              </a:rPr>
              <a:t>aes</a:t>
            </a:r>
            <a:r>
              <a:rPr>
                <a:latin typeface="Courier"/>
              </a:rPr>
              <a:t>(</a:t>
            </a:r>
            <a:r>
              <a:rPr>
                <a:solidFill>
                  <a:srgbClr val="7D9029"/>
                </a:solidFill>
                <a:latin typeface="Courier"/>
              </a:rPr>
              <a:t>x=</a:t>
            </a:r>
            <a:r>
              <a:rPr>
                <a:latin typeface="Courier"/>
              </a:rPr>
              <a:t>age)) </a:t>
            </a:r>
            <a:r>
              <a:rPr>
                <a:solidFill>
                  <a:srgbClr val="4070A0"/>
                </a:solidFill>
                <a:latin typeface="Courier"/>
              </a:rPr>
              <a:t>+</a:t>
            </a:r>
            <a:br/>
            <a:r>
              <a:rPr>
                <a:latin typeface="Courier"/>
              </a:rPr>
              <a:t>  </a:t>
            </a:r>
            <a:r>
              <a:rPr>
                <a:solidFill>
                  <a:srgbClr val="06287E"/>
                </a:solidFill>
                <a:latin typeface="Courier"/>
              </a:rPr>
              <a:t>geom_histogram</a:t>
            </a:r>
            <a:r>
              <a:rPr>
                <a:latin typeface="Courier"/>
              </a:rPr>
              <a:t>(</a:t>
            </a:r>
            <a:r>
              <a:rPr>
                <a:solidFill>
                  <a:srgbClr val="7D9029"/>
                </a:solidFill>
                <a:latin typeface="Courier"/>
              </a:rPr>
              <a:t>bins=</a:t>
            </a:r>
            <a:r>
              <a:rPr>
                <a:solidFill>
                  <a:srgbClr val="40A070"/>
                </a:solidFill>
                <a:latin typeface="Courier"/>
              </a:rPr>
              <a:t>20</a:t>
            </a:r>
            <a:r>
              <a:rPr>
                <a:latin typeface="Courier"/>
              </a:rPr>
              <a:t>,</a:t>
            </a:r>
            <a:r>
              <a:rPr>
                <a:solidFill>
                  <a:srgbClr val="7D9029"/>
                </a:solidFill>
                <a:latin typeface="Courier"/>
              </a:rPr>
              <a:t>fill=</a:t>
            </a:r>
            <a:r>
              <a:rPr>
                <a:solidFill>
                  <a:srgbClr val="4070A0"/>
                </a:solidFill>
                <a:latin typeface="Courier"/>
              </a:rPr>
              <a:t>"#ffa500"</a:t>
            </a:r>
            <a:r>
              <a:rPr>
                <a:latin typeface="Courier"/>
              </a:rPr>
              <a:t>) </a:t>
            </a:r>
            <a:r>
              <a:rPr>
                <a:solidFill>
                  <a:srgbClr val="4070A0"/>
                </a:solidFill>
                <a:latin typeface="Courier"/>
              </a:rPr>
              <a:t>+</a:t>
            </a:r>
            <a:br/>
            <a:r>
              <a:rPr>
                <a:latin typeface="Courier"/>
              </a:rPr>
              <a:t>  </a:t>
            </a:r>
            <a:r>
              <a:rPr>
                <a:solidFill>
                  <a:srgbClr val="06287E"/>
                </a:solidFill>
                <a:latin typeface="Courier"/>
              </a:rPr>
              <a:t>xlab</a:t>
            </a:r>
            <a:r>
              <a:rPr>
                <a:latin typeface="Courier"/>
              </a:rPr>
              <a:t>(</a:t>
            </a:r>
            <a:r>
              <a:rPr>
                <a:solidFill>
                  <a:srgbClr val="4070A0"/>
                </a:solidFill>
                <a:latin typeface="Courier"/>
              </a:rPr>
              <a:t>"Age"</a:t>
            </a:r>
            <a:r>
              <a:rPr>
                <a:latin typeface="Courier"/>
              </a:rPr>
              <a:t>) </a:t>
            </a:r>
          </a:p>
        </p:txBody>
      </p:sp>
      <p:pic>
        <p:nvPicPr>
          <p:cNvPr id="3" name="Picture 1" descr="MLW_KUHeS_RandStatistics_Session4_files/figure-pptx/unnamed-chunk-4-1.png"/>
          <p:cNvPicPr>
            <a:picLocks noGrp="1" noChangeAspect="1"/>
          </p:cNvPicPr>
          <p:nvPr/>
        </p:nvPicPr>
        <p:blipFill>
          <a:blip r:embed="rId2"/>
          <a:stretch>
            <a:fillRect/>
          </a:stretch>
        </p:blipFill>
        <p:spPr bwMode="auto">
          <a:xfrm>
            <a:off x="5181600" y="1676400"/>
            <a:ext cx="6172200" cy="3467100"/>
          </a:xfrm>
          <a:prstGeom prst="rect">
            <a:avLst/>
          </a:prstGeom>
          <a:noFill/>
          <a:ln w="9525">
            <a:noFill/>
            <a:headEnd/>
            <a:tailEnd/>
          </a:ln>
        </p:spPr>
      </p:pic>
      <p:sp>
        <p:nvSpPr>
          <p:cNvPr id="7" name="Slide Number Placeholder 6">
            <a:extLst>
              <a:ext uri="{FF2B5EF4-FFF2-40B4-BE49-F238E27FC236}">
                <a16:creationId xmlns:a16="http://schemas.microsoft.com/office/drawing/2014/main" id="{14DD33D4-F2B4-4E27-98BD-BC92728343CB}"/>
              </a:ext>
            </a:extLst>
          </p:cNvPr>
          <p:cNvSpPr>
            <a:spLocks noGrp="1"/>
          </p:cNvSpPr>
          <p:nvPr>
            <p:ph type="sldNum" sz="quarter" idx="12"/>
          </p:nvPr>
        </p:nvSpPr>
        <p:spPr/>
        <p:txBody>
          <a:bodyPr/>
          <a:lstStyle/>
          <a:p>
            <a:fld id="{E1C5CB42-CF14-4293-8971-6DCD1AAE8BE7}" type="slidenum">
              <a:rPr lang="en-GB" smtClean="0"/>
              <a:t>42</a:t>
            </a:fld>
            <a:endParaRPr lang="en-GB"/>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marL="0" lvl="0" indent="0">
              <a:buNone/>
            </a:pPr>
            <a:r>
              <a:t>One sample t-test</a:t>
            </a:r>
          </a:p>
        </p:txBody>
      </p:sp>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p:txBody>
          <a:bodyPr/>
          <a:lstStyle/>
          <a:p>
            <a:pPr lvl="0" indent="0">
              <a:buNone/>
            </a:pPr>
            <a:r>
              <a:rPr>
                <a:solidFill>
                  <a:srgbClr val="06287E"/>
                </a:solidFill>
                <a:latin typeface="Courier"/>
              </a:rPr>
              <a:t>t.test</a:t>
            </a:r>
            <a:r>
              <a:rPr>
                <a:latin typeface="Courier"/>
              </a:rPr>
              <a:t>(df1</a:t>
            </a:r>
            <a:r>
              <a:rPr>
                <a:solidFill>
                  <a:srgbClr val="4070A0"/>
                </a:solidFill>
                <a:latin typeface="Courier"/>
              </a:rPr>
              <a:t>$</a:t>
            </a:r>
            <a:r>
              <a:rPr>
                <a:latin typeface="Courier"/>
              </a:rPr>
              <a:t>age,</a:t>
            </a:r>
            <a:r>
              <a:rPr>
                <a:solidFill>
                  <a:srgbClr val="7D9029"/>
                </a:solidFill>
                <a:latin typeface="Courier"/>
              </a:rPr>
              <a:t>mu=</a:t>
            </a:r>
            <a:r>
              <a:rPr>
                <a:solidFill>
                  <a:srgbClr val="40A070"/>
                </a:solidFill>
                <a:latin typeface="Courier"/>
              </a:rPr>
              <a:t>24</a:t>
            </a:r>
            <a:r>
              <a:rPr>
                <a:latin typeface="Courier"/>
              </a:rPr>
              <a:t>)</a:t>
            </a:r>
            <a:br/>
            <a:r>
              <a:rPr i="1">
                <a:solidFill>
                  <a:srgbClr val="BA2121"/>
                </a:solidFill>
                <a:latin typeface="Courier"/>
              </a:rPr>
              <a:t>## </a:t>
            </a:r>
            <a:br/>
            <a:r>
              <a:rPr i="1">
                <a:solidFill>
                  <a:srgbClr val="BA2121"/>
                </a:solidFill>
                <a:latin typeface="Courier"/>
              </a:rPr>
              <a:t>##  One Sample t-test</a:t>
            </a:r>
            <a:br/>
            <a:r>
              <a:rPr i="1">
                <a:solidFill>
                  <a:srgbClr val="BA2121"/>
                </a:solidFill>
                <a:latin typeface="Courier"/>
              </a:rPr>
              <a:t>## </a:t>
            </a:r>
            <a:br/>
            <a:r>
              <a:rPr i="1">
                <a:solidFill>
                  <a:srgbClr val="BA2121"/>
                </a:solidFill>
                <a:latin typeface="Courier"/>
              </a:rPr>
              <a:t>## data:  df1$age</a:t>
            </a:r>
            <a:br/>
            <a:r>
              <a:rPr i="1">
                <a:solidFill>
                  <a:srgbClr val="BA2121"/>
                </a:solidFill>
                <a:latin typeface="Courier"/>
              </a:rPr>
              <a:t>## t = 98.616, df = 2999, p-value &lt; 2.2e-16</a:t>
            </a:r>
            <a:br/>
            <a:r>
              <a:rPr i="1">
                <a:solidFill>
                  <a:srgbClr val="BA2121"/>
                </a:solidFill>
                <a:latin typeface="Courier"/>
              </a:rPr>
              <a:t>## alternative hypothesis: true mean is not equal to 24</a:t>
            </a:r>
            <a:br/>
            <a:r>
              <a:rPr i="1">
                <a:solidFill>
                  <a:srgbClr val="BA2121"/>
                </a:solidFill>
                <a:latin typeface="Courier"/>
              </a:rPr>
              <a:t>## 95 percent confidence interval:</a:t>
            </a:r>
            <a:br/>
            <a:r>
              <a:rPr i="1">
                <a:solidFill>
                  <a:srgbClr val="BA2121"/>
                </a:solidFill>
                <a:latin typeface="Courier"/>
              </a:rPr>
              <a:t>##  32.76225 33.11775</a:t>
            </a:r>
            <a:br/>
            <a:r>
              <a:rPr i="1">
                <a:solidFill>
                  <a:srgbClr val="BA2121"/>
                </a:solidFill>
                <a:latin typeface="Courier"/>
              </a:rPr>
              <a:t>## sample estimates:</a:t>
            </a:r>
            <a:br/>
            <a:r>
              <a:rPr i="1">
                <a:solidFill>
                  <a:srgbClr val="BA2121"/>
                </a:solidFill>
                <a:latin typeface="Courier"/>
              </a:rPr>
              <a:t>## mean of x </a:t>
            </a:r>
            <a:br/>
            <a:r>
              <a:rPr i="1">
                <a:solidFill>
                  <a:srgbClr val="BA2121"/>
                </a:solidFill>
                <a:latin typeface="Courier"/>
              </a:rPr>
              <a:t>##     32.94</a:t>
            </a:r>
          </a:p>
        </p:txBody>
      </p:sp>
      <p:sp>
        <p:nvSpPr>
          <p:cNvPr id="6" name="Slide Number Placeholder 5">
            <a:extLst>
              <a:ext uri="{FF2B5EF4-FFF2-40B4-BE49-F238E27FC236}">
                <a16:creationId xmlns:a16="http://schemas.microsoft.com/office/drawing/2014/main" id="{C03F998A-2A5E-471F-9FEB-2559B0A7F93D}"/>
              </a:ext>
            </a:extLst>
          </p:cNvPr>
          <p:cNvSpPr>
            <a:spLocks noGrp="1"/>
          </p:cNvSpPr>
          <p:nvPr>
            <p:ph type="sldNum" sz="quarter" idx="12"/>
          </p:nvPr>
        </p:nvSpPr>
        <p:spPr/>
        <p:txBody>
          <a:bodyPr/>
          <a:lstStyle/>
          <a:p>
            <a:fld id="{E1C5CB42-CF14-4293-8971-6DCD1AAE8BE7}" type="slidenum">
              <a:rPr lang="en-GB" smtClean="0"/>
              <a:t>43</a:t>
            </a:fld>
            <a:endParaRPr lang="en-GB"/>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marL="0" lvl="0" indent="0">
              <a:buNone/>
            </a:pPr>
            <a:r>
              <a:t>One sample t-test - one sided</a:t>
            </a:r>
          </a:p>
        </p:txBody>
      </p:sp>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p:txBody>
          <a:bodyPr/>
          <a:lstStyle/>
          <a:p>
            <a:pPr marL="0" lvl="0" indent="0">
              <a:buNone/>
            </a:pPr>
            <a:r>
              <a:t>Need to specify the direction - less or greater?</a:t>
            </a:r>
          </a:p>
          <a:p>
            <a:pPr lvl="0" indent="0">
              <a:buNone/>
            </a:pPr>
            <a:r>
              <a:rPr>
                <a:solidFill>
                  <a:srgbClr val="06287E"/>
                </a:solidFill>
                <a:latin typeface="Courier"/>
              </a:rPr>
              <a:t>t.test</a:t>
            </a:r>
            <a:r>
              <a:rPr>
                <a:latin typeface="Courier"/>
              </a:rPr>
              <a:t>(df1</a:t>
            </a:r>
            <a:r>
              <a:rPr>
                <a:solidFill>
                  <a:srgbClr val="4070A0"/>
                </a:solidFill>
                <a:latin typeface="Courier"/>
              </a:rPr>
              <a:t>$</a:t>
            </a:r>
            <a:r>
              <a:rPr>
                <a:latin typeface="Courier"/>
              </a:rPr>
              <a:t>age,</a:t>
            </a:r>
            <a:r>
              <a:rPr>
                <a:solidFill>
                  <a:srgbClr val="7D9029"/>
                </a:solidFill>
                <a:latin typeface="Courier"/>
              </a:rPr>
              <a:t>mu=</a:t>
            </a:r>
            <a:r>
              <a:rPr>
                <a:solidFill>
                  <a:srgbClr val="40A070"/>
                </a:solidFill>
                <a:latin typeface="Courier"/>
              </a:rPr>
              <a:t>24</a:t>
            </a:r>
            <a:r>
              <a:rPr>
                <a:latin typeface="Courier"/>
              </a:rPr>
              <a:t>,</a:t>
            </a:r>
            <a:r>
              <a:rPr>
                <a:solidFill>
                  <a:srgbClr val="7D9029"/>
                </a:solidFill>
                <a:latin typeface="Courier"/>
              </a:rPr>
              <a:t>alternative=</a:t>
            </a:r>
            <a:r>
              <a:rPr>
                <a:solidFill>
                  <a:srgbClr val="4070A0"/>
                </a:solidFill>
                <a:latin typeface="Courier"/>
              </a:rPr>
              <a:t>"less"</a:t>
            </a:r>
            <a:r>
              <a:rPr>
                <a:latin typeface="Courier"/>
              </a:rPr>
              <a:t>)</a:t>
            </a:r>
            <a:br/>
            <a:r>
              <a:rPr i="1">
                <a:solidFill>
                  <a:srgbClr val="BA2121"/>
                </a:solidFill>
                <a:latin typeface="Courier"/>
              </a:rPr>
              <a:t>## </a:t>
            </a:r>
            <a:br/>
            <a:r>
              <a:rPr i="1">
                <a:solidFill>
                  <a:srgbClr val="BA2121"/>
                </a:solidFill>
                <a:latin typeface="Courier"/>
              </a:rPr>
              <a:t>##  One Sample t-test</a:t>
            </a:r>
            <a:br/>
            <a:r>
              <a:rPr i="1">
                <a:solidFill>
                  <a:srgbClr val="BA2121"/>
                </a:solidFill>
                <a:latin typeface="Courier"/>
              </a:rPr>
              <a:t>## </a:t>
            </a:r>
            <a:br/>
            <a:r>
              <a:rPr i="1">
                <a:solidFill>
                  <a:srgbClr val="BA2121"/>
                </a:solidFill>
                <a:latin typeface="Courier"/>
              </a:rPr>
              <a:t>## data:  df1$age</a:t>
            </a:r>
            <a:br/>
            <a:r>
              <a:rPr i="1">
                <a:solidFill>
                  <a:srgbClr val="BA2121"/>
                </a:solidFill>
                <a:latin typeface="Courier"/>
              </a:rPr>
              <a:t>## t = 98.616, df = 2999, p-value = 1</a:t>
            </a:r>
            <a:br/>
            <a:r>
              <a:rPr i="1">
                <a:solidFill>
                  <a:srgbClr val="BA2121"/>
                </a:solidFill>
                <a:latin typeface="Courier"/>
              </a:rPr>
              <a:t>## alternative hypothesis: true mean is less than 24</a:t>
            </a:r>
            <a:br/>
            <a:r>
              <a:rPr i="1">
                <a:solidFill>
                  <a:srgbClr val="BA2121"/>
                </a:solidFill>
                <a:latin typeface="Courier"/>
              </a:rPr>
              <a:t>## 95 percent confidence interval:</a:t>
            </a:r>
            <a:br/>
            <a:r>
              <a:rPr i="1">
                <a:solidFill>
                  <a:srgbClr val="BA2121"/>
                </a:solidFill>
                <a:latin typeface="Courier"/>
              </a:rPr>
              <a:t>##      -Inf 33.08916</a:t>
            </a:r>
            <a:br/>
            <a:r>
              <a:rPr i="1">
                <a:solidFill>
                  <a:srgbClr val="BA2121"/>
                </a:solidFill>
                <a:latin typeface="Courier"/>
              </a:rPr>
              <a:t>## sample estimates:</a:t>
            </a:r>
            <a:br/>
            <a:r>
              <a:rPr i="1">
                <a:solidFill>
                  <a:srgbClr val="BA2121"/>
                </a:solidFill>
                <a:latin typeface="Courier"/>
              </a:rPr>
              <a:t>## mean of x </a:t>
            </a:r>
            <a:br/>
            <a:r>
              <a:rPr i="1">
                <a:solidFill>
                  <a:srgbClr val="BA2121"/>
                </a:solidFill>
                <a:latin typeface="Courier"/>
              </a:rPr>
              <a:t>##     32.94</a:t>
            </a:r>
          </a:p>
        </p:txBody>
      </p:sp>
      <p:sp>
        <p:nvSpPr>
          <p:cNvPr id="6" name="Slide Number Placeholder 5">
            <a:extLst>
              <a:ext uri="{FF2B5EF4-FFF2-40B4-BE49-F238E27FC236}">
                <a16:creationId xmlns:a16="http://schemas.microsoft.com/office/drawing/2014/main" id="{C03F998A-2A5E-471F-9FEB-2559B0A7F93D}"/>
              </a:ext>
            </a:extLst>
          </p:cNvPr>
          <p:cNvSpPr>
            <a:spLocks noGrp="1"/>
          </p:cNvSpPr>
          <p:nvPr>
            <p:ph type="sldNum" sz="quarter" idx="12"/>
          </p:nvPr>
        </p:nvSpPr>
        <p:spPr/>
        <p:txBody>
          <a:bodyPr/>
          <a:lstStyle/>
          <a:p>
            <a:fld id="{E1C5CB42-CF14-4293-8971-6DCD1AAE8BE7}" type="slidenum">
              <a:rPr lang="en-GB" smtClean="0"/>
              <a:t>44</a:t>
            </a:fld>
            <a:endParaRPr lang="en-GB"/>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marL="0" lvl="0" indent="0">
              <a:buNone/>
            </a:pPr>
            <a:r>
              <a:t>One sample t-test - one sided</a:t>
            </a:r>
          </a:p>
        </p:txBody>
      </p:sp>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p:txBody>
          <a:bodyPr/>
          <a:lstStyle/>
          <a:p>
            <a:pPr marL="0" lvl="0" indent="0">
              <a:buNone/>
            </a:pPr>
            <a:r>
              <a:t>Need to specify the direction - less or greater?</a:t>
            </a:r>
          </a:p>
          <a:p>
            <a:pPr lvl="0" indent="0">
              <a:buNone/>
            </a:pPr>
            <a:r>
              <a:rPr>
                <a:solidFill>
                  <a:srgbClr val="06287E"/>
                </a:solidFill>
                <a:latin typeface="Courier"/>
              </a:rPr>
              <a:t>t.test</a:t>
            </a:r>
            <a:r>
              <a:rPr>
                <a:latin typeface="Courier"/>
              </a:rPr>
              <a:t>(df1</a:t>
            </a:r>
            <a:r>
              <a:rPr>
                <a:solidFill>
                  <a:srgbClr val="4070A0"/>
                </a:solidFill>
                <a:latin typeface="Courier"/>
              </a:rPr>
              <a:t>$</a:t>
            </a:r>
            <a:r>
              <a:rPr>
                <a:latin typeface="Courier"/>
              </a:rPr>
              <a:t>age,</a:t>
            </a:r>
            <a:r>
              <a:rPr>
                <a:solidFill>
                  <a:srgbClr val="7D9029"/>
                </a:solidFill>
                <a:latin typeface="Courier"/>
              </a:rPr>
              <a:t>mu=</a:t>
            </a:r>
            <a:r>
              <a:rPr>
                <a:solidFill>
                  <a:srgbClr val="40A070"/>
                </a:solidFill>
                <a:latin typeface="Courier"/>
              </a:rPr>
              <a:t>24</a:t>
            </a:r>
            <a:r>
              <a:rPr>
                <a:latin typeface="Courier"/>
              </a:rPr>
              <a:t>,</a:t>
            </a:r>
            <a:r>
              <a:rPr>
                <a:solidFill>
                  <a:srgbClr val="7D9029"/>
                </a:solidFill>
                <a:latin typeface="Courier"/>
              </a:rPr>
              <a:t>alternative=</a:t>
            </a:r>
            <a:r>
              <a:rPr>
                <a:solidFill>
                  <a:srgbClr val="4070A0"/>
                </a:solidFill>
                <a:latin typeface="Courier"/>
              </a:rPr>
              <a:t>"greater"</a:t>
            </a:r>
            <a:r>
              <a:rPr>
                <a:latin typeface="Courier"/>
              </a:rPr>
              <a:t>)</a:t>
            </a:r>
            <a:br/>
            <a:r>
              <a:rPr i="1">
                <a:solidFill>
                  <a:srgbClr val="BA2121"/>
                </a:solidFill>
                <a:latin typeface="Courier"/>
              </a:rPr>
              <a:t>## </a:t>
            </a:r>
            <a:br/>
            <a:r>
              <a:rPr i="1">
                <a:solidFill>
                  <a:srgbClr val="BA2121"/>
                </a:solidFill>
                <a:latin typeface="Courier"/>
              </a:rPr>
              <a:t>##  One Sample t-test</a:t>
            </a:r>
            <a:br/>
            <a:r>
              <a:rPr i="1">
                <a:solidFill>
                  <a:srgbClr val="BA2121"/>
                </a:solidFill>
                <a:latin typeface="Courier"/>
              </a:rPr>
              <a:t>## </a:t>
            </a:r>
            <a:br/>
            <a:r>
              <a:rPr i="1">
                <a:solidFill>
                  <a:srgbClr val="BA2121"/>
                </a:solidFill>
                <a:latin typeface="Courier"/>
              </a:rPr>
              <a:t>## data:  df1$age</a:t>
            </a:r>
            <a:br/>
            <a:r>
              <a:rPr i="1">
                <a:solidFill>
                  <a:srgbClr val="BA2121"/>
                </a:solidFill>
                <a:latin typeface="Courier"/>
              </a:rPr>
              <a:t>## t = 98.616, df = 2999, p-value &lt; 2.2e-16</a:t>
            </a:r>
            <a:br/>
            <a:r>
              <a:rPr i="1">
                <a:solidFill>
                  <a:srgbClr val="BA2121"/>
                </a:solidFill>
                <a:latin typeface="Courier"/>
              </a:rPr>
              <a:t>## alternative hypothesis: true mean is greater than 24</a:t>
            </a:r>
            <a:br/>
            <a:r>
              <a:rPr i="1">
                <a:solidFill>
                  <a:srgbClr val="BA2121"/>
                </a:solidFill>
                <a:latin typeface="Courier"/>
              </a:rPr>
              <a:t>## 95 percent confidence interval:</a:t>
            </a:r>
            <a:br/>
            <a:r>
              <a:rPr i="1">
                <a:solidFill>
                  <a:srgbClr val="BA2121"/>
                </a:solidFill>
                <a:latin typeface="Courier"/>
              </a:rPr>
              <a:t>##  32.79084      Inf</a:t>
            </a:r>
            <a:br/>
            <a:r>
              <a:rPr i="1">
                <a:solidFill>
                  <a:srgbClr val="BA2121"/>
                </a:solidFill>
                <a:latin typeface="Courier"/>
              </a:rPr>
              <a:t>## sample estimates:</a:t>
            </a:r>
            <a:br/>
            <a:r>
              <a:rPr i="1">
                <a:solidFill>
                  <a:srgbClr val="BA2121"/>
                </a:solidFill>
                <a:latin typeface="Courier"/>
              </a:rPr>
              <a:t>## mean of x </a:t>
            </a:r>
            <a:br/>
            <a:r>
              <a:rPr i="1">
                <a:solidFill>
                  <a:srgbClr val="BA2121"/>
                </a:solidFill>
                <a:latin typeface="Courier"/>
              </a:rPr>
              <a:t>##     32.94</a:t>
            </a:r>
          </a:p>
        </p:txBody>
      </p:sp>
      <p:sp>
        <p:nvSpPr>
          <p:cNvPr id="6" name="Slide Number Placeholder 5">
            <a:extLst>
              <a:ext uri="{FF2B5EF4-FFF2-40B4-BE49-F238E27FC236}">
                <a16:creationId xmlns:a16="http://schemas.microsoft.com/office/drawing/2014/main" id="{C03F998A-2A5E-471F-9FEB-2559B0A7F93D}"/>
              </a:ext>
            </a:extLst>
          </p:cNvPr>
          <p:cNvSpPr>
            <a:spLocks noGrp="1"/>
          </p:cNvSpPr>
          <p:nvPr>
            <p:ph type="sldNum" sz="quarter" idx="12"/>
          </p:nvPr>
        </p:nvSpPr>
        <p:spPr/>
        <p:txBody>
          <a:bodyPr/>
          <a:lstStyle/>
          <a:p>
            <a:fld id="{E1C5CB42-CF14-4293-8971-6DCD1AAE8BE7}" type="slidenum">
              <a:rPr lang="en-GB" smtClean="0"/>
              <a:t>45</a:t>
            </a:fld>
            <a:endParaRPr lang="en-GB"/>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marL="0" lvl="0" indent="0">
              <a:buNone/>
            </a:pPr>
            <a:r>
              <a:t>Two sample t-test</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a:xfrm>
                <a:off x="838200" y="1690688"/>
                <a:ext cx="10515600" cy="4667250"/>
              </a:xfrm>
            </p:spPr>
            <p:txBody>
              <a:bodyPr>
                <a:normAutofit fontScale="92500" lnSpcReduction="10000"/>
              </a:bodyPr>
              <a:lstStyle/>
              <a:p>
                <a:pPr marL="0" lvl="0" indent="0">
                  <a:buNone/>
                </a:pPr>
                <a:r>
                  <a:rPr dirty="0"/>
                  <a:t>We now have 2 samples (or 1 sample with 2 groups of observations) and we compare the sample means.</a:t>
                </a:r>
              </a:p>
              <a:p>
                <a:pPr marL="0" lvl="0" indent="0">
                  <a:buNone/>
                </a:pPr>
                <a:r>
                  <a:rPr dirty="0"/>
                  <a:t>Let </a:t>
                </a:r>
                <a14:m>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𝑋</m:t>
                        </m:r>
                      </m:e>
                      <m:sub>
                        <m:r>
                          <a:rPr>
                            <a:latin typeface="Cambria Math" panose="02040503050406030204" pitchFamily="18" charset="0"/>
                          </a:rPr>
                          <m:t>1</m:t>
                        </m:r>
                      </m:sub>
                    </m:sSub>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𝑋</m:t>
                        </m:r>
                      </m:e>
                      <m:sub>
                        <m:r>
                          <a:rPr>
                            <a:latin typeface="Cambria Math" panose="02040503050406030204" pitchFamily="18" charset="0"/>
                          </a:rPr>
                          <m:t>2</m:t>
                        </m:r>
                      </m:sub>
                    </m:sSub>
                  </m:oMath>
                </a14:m>
                <a:r>
                  <a:rPr dirty="0"/>
                  <a:t> be the random variables for data that we wish to observe. Let </a:t>
                </a:r>
                <a14:m>
                  <m:oMath xmlns:m="http://schemas.openxmlformats.org/officeDocument/2006/math">
                    <m:sSub>
                      <m:sSubPr>
                        <m:ctrlPr>
                          <a:rPr>
                            <a:latin typeface="Cambria Math" panose="02040503050406030204" pitchFamily="18" charset="0"/>
                          </a:rPr>
                        </m:ctrlPr>
                      </m:sSubPr>
                      <m:e>
                        <m:acc>
                          <m:accPr>
                            <m:chr m:val="‾"/>
                            <m:ctrlPr>
                              <a:rPr>
                                <a:latin typeface="Cambria Math" panose="02040503050406030204" pitchFamily="18" charset="0"/>
                              </a:rPr>
                            </m:ctrlPr>
                          </m:accPr>
                          <m:e>
                            <m:r>
                              <a:rPr>
                                <a:latin typeface="Cambria Math" panose="02040503050406030204" pitchFamily="18" charset="0"/>
                              </a:rPr>
                              <m:t>𝑥</m:t>
                            </m:r>
                          </m:e>
                        </m:acc>
                      </m:e>
                      <m:sub>
                        <m:r>
                          <a:rPr>
                            <a:latin typeface="Cambria Math" panose="02040503050406030204" pitchFamily="18" charset="0"/>
                          </a:rPr>
                          <m:t>1</m:t>
                        </m:r>
                      </m:sub>
                    </m:sSub>
                    <m:r>
                      <a:rPr>
                        <a:latin typeface="Cambria Math" panose="02040503050406030204" pitchFamily="18" charset="0"/>
                      </a:rPr>
                      <m:t>,</m:t>
                    </m:r>
                    <m:sSub>
                      <m:sSubPr>
                        <m:ctrlPr>
                          <a:rPr i="1">
                            <a:latin typeface="Cambria Math" panose="02040503050406030204" pitchFamily="18" charset="0"/>
                          </a:rPr>
                        </m:ctrlPr>
                      </m:sSubPr>
                      <m:e>
                        <m:acc>
                          <m:accPr>
                            <m:chr m:val="‾"/>
                            <m:ctrlPr>
                              <a:rPr i="1">
                                <a:latin typeface="Cambria Math" panose="02040503050406030204" pitchFamily="18" charset="0"/>
                              </a:rPr>
                            </m:ctrlPr>
                          </m:accPr>
                          <m:e>
                            <m:r>
                              <a:rPr>
                                <a:latin typeface="Cambria Math" panose="02040503050406030204" pitchFamily="18" charset="0"/>
                              </a:rPr>
                              <m:t>𝑥</m:t>
                            </m:r>
                          </m:e>
                        </m:acc>
                      </m:e>
                      <m:sub>
                        <m:r>
                          <a:rPr>
                            <a:latin typeface="Cambria Math" panose="02040503050406030204" pitchFamily="18" charset="0"/>
                          </a:rPr>
                          <m:t>2</m:t>
                        </m:r>
                      </m:sub>
                    </m:sSub>
                  </m:oMath>
                </a14:m>
                <a:r>
                  <a:rPr dirty="0"/>
                  <a:t> be the sample means of the observed data, </a:t>
                </a:r>
                <a14:m>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𝑠</m:t>
                        </m:r>
                      </m:e>
                      <m:sub>
                        <m:r>
                          <a:rPr>
                            <a:latin typeface="Cambria Math" panose="02040503050406030204" pitchFamily="18" charset="0"/>
                          </a:rPr>
                          <m:t>1</m:t>
                        </m:r>
                      </m:sub>
                    </m:sSub>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𝑠</m:t>
                        </m:r>
                      </m:e>
                      <m:sub>
                        <m:r>
                          <a:rPr>
                            <a:latin typeface="Cambria Math" panose="02040503050406030204" pitchFamily="18" charset="0"/>
                          </a:rPr>
                          <m:t>2</m:t>
                        </m:r>
                      </m:sub>
                    </m:sSub>
                  </m:oMath>
                </a14:m>
                <a:r>
                  <a:rPr dirty="0"/>
                  <a:t> the sample standard deviations and </a:t>
                </a:r>
                <a14:m>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𝑛</m:t>
                        </m:r>
                      </m:e>
                      <m:sub>
                        <m:r>
                          <a:rPr>
                            <a:latin typeface="Cambria Math" panose="02040503050406030204" pitchFamily="18" charset="0"/>
                          </a:rPr>
                          <m:t>1</m:t>
                        </m:r>
                      </m:sub>
                    </m:sSub>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𝑛</m:t>
                        </m:r>
                      </m:e>
                      <m:sub>
                        <m:r>
                          <a:rPr>
                            <a:latin typeface="Cambria Math" panose="02040503050406030204" pitchFamily="18" charset="0"/>
                          </a:rPr>
                          <m:t>2</m:t>
                        </m:r>
                      </m:sub>
                    </m:sSub>
                  </m:oMath>
                </a14:m>
                <a:r>
                  <a:rPr dirty="0"/>
                  <a:t> the numbers of observations in each group.</a:t>
                </a:r>
              </a:p>
              <a:p>
                <a:pPr lvl="0"/>
                <a:r>
                  <a:rPr dirty="0"/>
                  <a:t>Hypotheses:</a:t>
                </a:r>
              </a:p>
              <a:p>
                <a:pPr marL="0" lvl="0" indent="0">
                  <a:buNone/>
                </a:pPr>
                <a14:m>
                  <m:oMathPara xmlns:m="http://schemas.openxmlformats.org/officeDocument/2006/math">
                    <m:oMathParaPr>
                      <m:jc m:val="center"/>
                    </m:oMathParaPr>
                    <m:oMath xmlns:m="http://schemas.openxmlformats.org/officeDocument/2006/math">
                      <m:m>
                        <m:mPr>
                          <m:plcHide m:val="on"/>
                          <m:mcs>
                            <m:mc>
                              <m:mcPr>
                                <m:count m:val="2"/>
                                <m:mcJc m:val="center"/>
                              </m:mcPr>
                            </m:mc>
                          </m:mcs>
                          <m:ctrlPr>
                            <a:rPr>
                              <a:latin typeface="Cambria Math" panose="02040503050406030204" pitchFamily="18" charset="0"/>
                            </a:rPr>
                          </m:ctrlPr>
                        </m:mPr>
                        <m:mr>
                          <m:e>
                            <m:sSub>
                              <m:sSubPr>
                                <m:ctrlPr>
                                  <a:rPr>
                                    <a:latin typeface="Cambria Math" panose="02040503050406030204" pitchFamily="18" charset="0"/>
                                  </a:rPr>
                                </m:ctrlPr>
                              </m:sSubPr>
                              <m:e>
                                <m:r>
                                  <a:rPr>
                                    <a:latin typeface="Cambria Math" panose="02040503050406030204" pitchFamily="18" charset="0"/>
                                  </a:rPr>
                                  <m:t>𝐻</m:t>
                                </m:r>
                              </m:e>
                              <m:sub>
                                <m:r>
                                  <a:rPr>
                                    <a:latin typeface="Cambria Math" panose="02040503050406030204" pitchFamily="18" charset="0"/>
                                  </a:rPr>
                                  <m:t>0</m:t>
                                </m:r>
                              </m:sub>
                            </m:sSub>
                            <m:r>
                              <a:rPr>
                                <a:latin typeface="Cambria Math" panose="02040503050406030204" pitchFamily="18" charset="0"/>
                              </a:rPr>
                              <m:t>:</m:t>
                            </m:r>
                          </m:e>
                          <m:e>
                            <m:r>
                              <a:rPr>
                                <a:latin typeface="Cambria Math" panose="02040503050406030204" pitchFamily="18" charset="0"/>
                              </a:rPr>
                              <m:t> </m:t>
                            </m:r>
                            <m:sSub>
                              <m:sSubPr>
                                <m:ctrlPr>
                                  <a:rPr i="1">
                                    <a:latin typeface="Cambria Math" panose="02040503050406030204" pitchFamily="18" charset="0"/>
                                  </a:rPr>
                                </m:ctrlPr>
                              </m:sSubPr>
                              <m:e>
                                <m:r>
                                  <a:rPr>
                                    <a:latin typeface="Cambria Math" panose="02040503050406030204" pitchFamily="18" charset="0"/>
                                  </a:rPr>
                                  <m:t>𝜇</m:t>
                                </m:r>
                              </m:e>
                              <m:sub>
                                <m:r>
                                  <a:rPr>
                                    <a:latin typeface="Cambria Math" panose="02040503050406030204" pitchFamily="18" charset="0"/>
                                  </a:rPr>
                                  <m:t>1</m:t>
                                </m:r>
                              </m:sub>
                            </m:sSub>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𝜇</m:t>
                                </m:r>
                              </m:e>
                              <m:sub>
                                <m:r>
                                  <a:rPr>
                                    <a:latin typeface="Cambria Math" panose="02040503050406030204" pitchFamily="18" charset="0"/>
                                  </a:rPr>
                                  <m:t>2</m:t>
                                </m:r>
                              </m:sub>
                            </m:sSub>
                          </m:e>
                        </m:mr>
                        <m:mr>
                          <m:e>
                            <m:sSub>
                              <m:sSubPr>
                                <m:ctrlPr>
                                  <a:rPr i="1">
                                    <a:latin typeface="Cambria Math" panose="02040503050406030204" pitchFamily="18" charset="0"/>
                                  </a:rPr>
                                </m:ctrlPr>
                              </m:sSubPr>
                              <m:e>
                                <m:r>
                                  <a:rPr>
                                    <a:latin typeface="Cambria Math" panose="02040503050406030204" pitchFamily="18" charset="0"/>
                                  </a:rPr>
                                  <m:t>𝐻</m:t>
                                </m:r>
                              </m:e>
                              <m:sub>
                                <m:r>
                                  <a:rPr>
                                    <a:latin typeface="Cambria Math" panose="02040503050406030204" pitchFamily="18" charset="0"/>
                                  </a:rPr>
                                  <m:t>1</m:t>
                                </m:r>
                              </m:sub>
                            </m:sSub>
                            <m:r>
                              <a:rPr>
                                <a:latin typeface="Cambria Math" panose="02040503050406030204" pitchFamily="18" charset="0"/>
                              </a:rPr>
                              <m:t>:</m:t>
                            </m:r>
                          </m:e>
                          <m:e>
                            <m:r>
                              <a:rPr>
                                <a:latin typeface="Cambria Math" panose="02040503050406030204" pitchFamily="18" charset="0"/>
                              </a:rPr>
                              <m:t> </m:t>
                            </m:r>
                            <m:sSub>
                              <m:sSubPr>
                                <m:ctrlPr>
                                  <a:rPr i="1">
                                    <a:latin typeface="Cambria Math" panose="02040503050406030204" pitchFamily="18" charset="0"/>
                                  </a:rPr>
                                </m:ctrlPr>
                              </m:sSubPr>
                              <m:e>
                                <m:r>
                                  <a:rPr>
                                    <a:latin typeface="Cambria Math" panose="02040503050406030204" pitchFamily="18" charset="0"/>
                                  </a:rPr>
                                  <m:t>𝜇</m:t>
                                </m:r>
                              </m:e>
                              <m:sub>
                                <m:r>
                                  <a:rPr>
                                    <a:latin typeface="Cambria Math" panose="02040503050406030204" pitchFamily="18" charset="0"/>
                                  </a:rPr>
                                  <m:t>1</m:t>
                                </m:r>
                              </m:sub>
                            </m:sSub>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𝜇</m:t>
                                </m:r>
                              </m:e>
                              <m:sub>
                                <m:r>
                                  <a:rPr>
                                    <a:latin typeface="Cambria Math" panose="02040503050406030204" pitchFamily="18" charset="0"/>
                                  </a:rPr>
                                  <m:t>2</m:t>
                                </m:r>
                              </m:sub>
                            </m:sSub>
                          </m:e>
                        </m:mr>
                      </m:m>
                    </m:oMath>
                  </m:oMathPara>
                </a14:m>
                <a:endParaRPr dirty="0"/>
              </a:p>
              <a:p>
                <a:pPr lvl="0"/>
                <a:r>
                  <a:rPr dirty="0"/>
                  <a:t>Test statistic: difference between sample means scaled by the standard error</a:t>
                </a:r>
              </a:p>
              <a:p>
                <a:pPr marL="0" lvl="0" indent="0">
                  <a:buNone/>
                </a:pPr>
                <a14:m>
                  <m:oMathPara xmlns:m="http://schemas.openxmlformats.org/officeDocument/2006/math">
                    <m:oMathParaPr>
                      <m:jc m:val="center"/>
                    </m:oMathParaPr>
                    <m:oMath xmlns:m="http://schemas.openxmlformats.org/officeDocument/2006/math">
                      <m:r>
                        <a:rPr>
                          <a:latin typeface="Cambria Math" panose="02040503050406030204" pitchFamily="18" charset="0"/>
                        </a:rPr>
                        <m:t> </m:t>
                      </m:r>
                    </m:oMath>
                  </m:oMathPara>
                </a14:m>
                <a:endParaRPr dirty="0"/>
              </a:p>
              <a:p>
                <a:pPr marL="0" lvl="0" indent="0">
                  <a:buNone/>
                </a:pPr>
                <a14:m>
                  <m:oMathPara xmlns:m="http://schemas.openxmlformats.org/officeDocument/2006/math">
                    <m:oMathParaPr>
                      <m:jc m:val="center"/>
                    </m:oMathParaPr>
                    <m:oMath xmlns:m="http://schemas.openxmlformats.org/officeDocument/2006/math">
                      <m:r>
                        <a:rPr>
                          <a:latin typeface="Cambria Math" panose="02040503050406030204" pitchFamily="18" charset="0"/>
                        </a:rPr>
                        <m:t>𝑇</m:t>
                      </m:r>
                      <m:r>
                        <a:rPr>
                          <a:latin typeface="Cambria Math" panose="02040503050406030204" pitchFamily="18" charset="0"/>
                        </a:rPr>
                        <m:t>=</m:t>
                      </m:r>
                      <m:f>
                        <m:fPr>
                          <m:ctrlPr>
                            <a:rPr i="1">
                              <a:latin typeface="Cambria Math" panose="02040503050406030204" pitchFamily="18" charset="0"/>
                            </a:rPr>
                          </m:ctrlPr>
                        </m:fPr>
                        <m:num>
                          <m:sSub>
                            <m:sSubPr>
                              <m:ctrlPr>
                                <a:rPr i="1">
                                  <a:latin typeface="Cambria Math" panose="02040503050406030204" pitchFamily="18" charset="0"/>
                                </a:rPr>
                              </m:ctrlPr>
                            </m:sSubPr>
                            <m:e>
                              <m:acc>
                                <m:accPr>
                                  <m:chr m:val="‾"/>
                                  <m:ctrlPr>
                                    <a:rPr i="1">
                                      <a:latin typeface="Cambria Math" panose="02040503050406030204" pitchFamily="18" charset="0"/>
                                    </a:rPr>
                                  </m:ctrlPr>
                                </m:accPr>
                                <m:e>
                                  <m:r>
                                    <a:rPr>
                                      <a:latin typeface="Cambria Math" panose="02040503050406030204" pitchFamily="18" charset="0"/>
                                    </a:rPr>
                                    <m:t>𝑥</m:t>
                                  </m:r>
                                </m:e>
                              </m:acc>
                            </m:e>
                            <m:sub>
                              <m:r>
                                <a:rPr>
                                  <a:latin typeface="Cambria Math" panose="02040503050406030204" pitchFamily="18" charset="0"/>
                                </a:rPr>
                                <m:t>1</m:t>
                              </m:r>
                            </m:sub>
                          </m:sSub>
                          <m:r>
                            <a:rPr>
                              <a:latin typeface="Cambria Math" panose="02040503050406030204" pitchFamily="18" charset="0"/>
                            </a:rPr>
                            <m:t>−</m:t>
                          </m:r>
                          <m:sSub>
                            <m:sSubPr>
                              <m:ctrlPr>
                                <a:rPr i="1">
                                  <a:latin typeface="Cambria Math" panose="02040503050406030204" pitchFamily="18" charset="0"/>
                                </a:rPr>
                              </m:ctrlPr>
                            </m:sSubPr>
                            <m:e>
                              <m:acc>
                                <m:accPr>
                                  <m:chr m:val="‾"/>
                                  <m:ctrlPr>
                                    <a:rPr i="1">
                                      <a:latin typeface="Cambria Math" panose="02040503050406030204" pitchFamily="18" charset="0"/>
                                    </a:rPr>
                                  </m:ctrlPr>
                                </m:accPr>
                                <m:e>
                                  <m:r>
                                    <a:rPr>
                                      <a:latin typeface="Cambria Math" panose="02040503050406030204" pitchFamily="18" charset="0"/>
                                    </a:rPr>
                                    <m:t>𝑥</m:t>
                                  </m:r>
                                </m:e>
                              </m:acc>
                            </m:e>
                            <m:sub>
                              <m:r>
                                <a:rPr>
                                  <a:latin typeface="Cambria Math" panose="02040503050406030204" pitchFamily="18" charset="0"/>
                                </a:rPr>
                                <m:t>2</m:t>
                              </m:r>
                            </m:sub>
                          </m:sSub>
                        </m:num>
                        <m:den>
                          <m:rad>
                            <m:radPr>
                              <m:degHide m:val="on"/>
                              <m:ctrlPr>
                                <a:rPr i="1">
                                  <a:latin typeface="Cambria Math" panose="02040503050406030204" pitchFamily="18" charset="0"/>
                                </a:rPr>
                              </m:ctrlPr>
                            </m:radPr>
                            <m:deg/>
                            <m:e>
                              <m:sSubSup>
                                <m:sSubSupPr>
                                  <m:ctrlPr>
                                    <a:rPr i="1">
                                      <a:latin typeface="Cambria Math" panose="02040503050406030204" pitchFamily="18" charset="0"/>
                                    </a:rPr>
                                  </m:ctrlPr>
                                </m:sSubSupPr>
                                <m:e>
                                  <m:r>
                                    <a:rPr>
                                      <a:latin typeface="Cambria Math" panose="02040503050406030204" pitchFamily="18" charset="0"/>
                                    </a:rPr>
                                    <m:t>𝑠</m:t>
                                  </m:r>
                                </m:e>
                                <m:sub>
                                  <m:r>
                                    <a:rPr>
                                      <a:latin typeface="Cambria Math" panose="02040503050406030204" pitchFamily="18" charset="0"/>
                                    </a:rPr>
                                    <m:t>1</m:t>
                                  </m:r>
                                </m:sub>
                                <m:sup>
                                  <m:r>
                                    <a:rPr>
                                      <a:latin typeface="Cambria Math" panose="02040503050406030204" pitchFamily="18" charset="0"/>
                                    </a:rPr>
                                    <m:t>2</m:t>
                                  </m:r>
                                </m:sup>
                              </m:sSubSup>
                              <m:r>
                                <a:rPr>
                                  <a:latin typeface="Cambria Math" panose="02040503050406030204" pitchFamily="18" charset="0"/>
                                </a:rPr>
                                <m:t>/</m:t>
                              </m:r>
                              <m:r>
                                <a:rPr>
                                  <a:latin typeface="Cambria Math" panose="02040503050406030204" pitchFamily="18" charset="0"/>
                                </a:rPr>
                                <m:t>𝑛</m:t>
                              </m:r>
                              <m:r>
                                <a:rPr>
                                  <a:latin typeface="Cambria Math" panose="02040503050406030204" pitchFamily="18" charset="0"/>
                                </a:rPr>
                                <m:t>1+</m:t>
                              </m:r>
                              <m:sSubSup>
                                <m:sSubSupPr>
                                  <m:ctrlPr>
                                    <a:rPr i="1">
                                      <a:latin typeface="Cambria Math" panose="02040503050406030204" pitchFamily="18" charset="0"/>
                                    </a:rPr>
                                  </m:ctrlPr>
                                </m:sSubSupPr>
                                <m:e>
                                  <m:r>
                                    <a:rPr>
                                      <a:latin typeface="Cambria Math" panose="02040503050406030204" pitchFamily="18" charset="0"/>
                                    </a:rPr>
                                    <m:t>𝑠</m:t>
                                  </m:r>
                                </m:e>
                                <m:sub>
                                  <m:r>
                                    <a:rPr>
                                      <a:latin typeface="Cambria Math" panose="02040503050406030204" pitchFamily="18" charset="0"/>
                                    </a:rPr>
                                    <m:t>2</m:t>
                                  </m:r>
                                </m:sub>
                                <m:sup>
                                  <m:r>
                                    <a:rPr>
                                      <a:latin typeface="Cambria Math" panose="02040503050406030204" pitchFamily="18" charset="0"/>
                                    </a:rPr>
                                    <m:t>2</m:t>
                                  </m:r>
                                </m:sup>
                              </m:sSubSup>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𝑛</m:t>
                                  </m:r>
                                </m:e>
                                <m:sub>
                                  <m:r>
                                    <a:rPr>
                                      <a:latin typeface="Cambria Math" panose="02040503050406030204" pitchFamily="18" charset="0"/>
                                    </a:rPr>
                                    <m:t>2</m:t>
                                  </m:r>
                                </m:sub>
                              </m:sSub>
                            </m:e>
                          </m:rad>
                        </m:den>
                      </m:f>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𝑡</m:t>
                          </m:r>
                        </m:e>
                        <m:sub>
                          <m:r>
                            <a:rPr>
                              <a:latin typeface="Cambria Math" panose="02040503050406030204" pitchFamily="18" charset="0"/>
                            </a:rPr>
                            <m:t>𝑘</m:t>
                          </m:r>
                        </m:sub>
                      </m:sSub>
                      <m:r>
                        <a:rPr>
                          <a:latin typeface="Cambria Math" panose="02040503050406030204" pitchFamily="18" charset="0"/>
                        </a:rPr>
                        <m:t> </m:t>
                      </m:r>
                      <m:r>
                        <m:rPr>
                          <m:nor/>
                        </m:rPr>
                        <a:rPr/>
                        <m:t> </m:t>
                      </m:r>
                      <m:r>
                        <m:rPr>
                          <m:nor/>
                        </m:rPr>
                        <a:rPr/>
                        <m:t>under</m:t>
                      </m:r>
                      <m:r>
                        <m:rPr>
                          <m:nor/>
                        </m:rPr>
                        <a:rPr/>
                        <m:t> </m:t>
                      </m:r>
                      <m:sSub>
                        <m:sSubPr>
                          <m:ctrlPr>
                            <a:rPr i="1">
                              <a:latin typeface="Cambria Math" panose="02040503050406030204" pitchFamily="18" charset="0"/>
                            </a:rPr>
                          </m:ctrlPr>
                        </m:sSubPr>
                        <m:e>
                          <m:r>
                            <a:rPr>
                              <a:latin typeface="Cambria Math" panose="02040503050406030204" pitchFamily="18" charset="0"/>
                            </a:rPr>
                            <m:t>𝐻</m:t>
                          </m:r>
                        </m:e>
                        <m:sub>
                          <m:r>
                            <a:rPr>
                              <a:latin typeface="Cambria Math" panose="02040503050406030204" pitchFamily="18" charset="0"/>
                            </a:rPr>
                            <m:t>0</m:t>
                          </m:r>
                        </m:sub>
                      </m:sSub>
                    </m:oMath>
                  </m:oMathPara>
                </a14:m>
                <a:endParaRPr dirty="0"/>
              </a:p>
              <a:p>
                <a:pPr marL="0" lvl="0" indent="0">
                  <a:buNone/>
                </a:pPr>
                <a:r>
                  <a:rPr dirty="0"/>
                  <a:t>The degrees of freedom needs to be computed using an approximation. There is a simpler expression for the standard error if you assume equal variances (</a:t>
                </a:r>
                <a:r>
                  <a:rPr dirty="0" err="1">
                    <a:latin typeface="Courier"/>
                  </a:rPr>
                  <a:t>t.test</a:t>
                </a:r>
                <a:r>
                  <a:rPr dirty="0">
                    <a:latin typeface="Courier"/>
                  </a:rPr>
                  <a:t>()</a:t>
                </a:r>
                <a:r>
                  <a:rPr dirty="0"/>
                  <a:t> has an argument </a:t>
                </a:r>
                <a:r>
                  <a:rPr dirty="0" err="1">
                    <a:latin typeface="Courier"/>
                  </a:rPr>
                  <a:t>var.equal</a:t>
                </a:r>
                <a:r>
                  <a:rPr dirty="0"/>
                  <a:t> that you could specify).</a:t>
                </a:r>
              </a:p>
            </p:txBody>
          </p:sp>
        </mc:Choice>
        <mc:Fallback>
          <p:sp>
            <p:nvSpPr>
              <p:cNvPr id="3" name="Content Placeholder 2">
                <a:extLst>
                  <a:ext uri="{FF2B5EF4-FFF2-40B4-BE49-F238E27FC236}">
                    <a16:creationId xmlns:a16="http://schemas.microsoft.com/office/drawing/2014/main" id="{288BC91F-1C76-43AE-8B2A-956D48B768BE}"/>
                  </a:ext>
                </a:extLst>
              </p:cNvPr>
              <p:cNvSpPr>
                <a:spLocks noGrp="1" noRot="1" noChangeAspect="1" noMove="1" noResize="1" noEditPoints="1" noAdjustHandles="1" noChangeArrowheads="1" noChangeShapeType="1" noTextEdit="1"/>
              </p:cNvSpPr>
              <p:nvPr>
                <p:ph idx="1"/>
              </p:nvPr>
            </p:nvSpPr>
            <p:spPr>
              <a:xfrm>
                <a:off x="838200" y="1690688"/>
                <a:ext cx="10515600" cy="4667250"/>
              </a:xfrm>
              <a:blipFill>
                <a:blip r:embed="rId2"/>
                <a:stretch>
                  <a:fillRect l="-638" t="-1828" r="-986"/>
                </a:stretch>
              </a:blipFill>
            </p:spPr>
            <p:txBody>
              <a:bodyPr/>
              <a:lstStyle/>
              <a:p>
                <a:r>
                  <a:rPr lang="en-US">
                    <a:noFill/>
                  </a:rPr>
                  <a:t> </a:t>
                </a:r>
              </a:p>
            </p:txBody>
          </p:sp>
        </mc:Fallback>
      </mc:AlternateContent>
      <p:sp>
        <p:nvSpPr>
          <p:cNvPr id="6" name="Slide Number Placeholder 5">
            <a:extLst>
              <a:ext uri="{FF2B5EF4-FFF2-40B4-BE49-F238E27FC236}">
                <a16:creationId xmlns:a16="http://schemas.microsoft.com/office/drawing/2014/main" id="{C03F998A-2A5E-471F-9FEB-2559B0A7F93D}"/>
              </a:ext>
            </a:extLst>
          </p:cNvPr>
          <p:cNvSpPr>
            <a:spLocks noGrp="1"/>
          </p:cNvSpPr>
          <p:nvPr>
            <p:ph type="sldNum" sz="quarter" idx="12"/>
          </p:nvPr>
        </p:nvSpPr>
        <p:spPr/>
        <p:txBody>
          <a:bodyPr/>
          <a:lstStyle/>
          <a:p>
            <a:fld id="{E1C5CB42-CF14-4293-8971-6DCD1AAE8BE7}" type="slidenum">
              <a:rPr lang="en-GB" smtClean="0"/>
              <a:t>46</a:t>
            </a:fld>
            <a:endParaRPr lang="en-GB"/>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marL="0" lvl="0" indent="0">
              <a:buNone/>
            </a:pPr>
            <a:r>
              <a:t>Two sample t-test</a:t>
            </a:r>
          </a:p>
        </p:txBody>
      </p:sp>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p:txBody>
          <a:bodyPr/>
          <a:lstStyle/>
          <a:p>
            <a:pPr marL="0" lvl="0" indent="0">
              <a:buNone/>
            </a:pPr>
            <a:r>
              <a:t>Assumptions:</a:t>
            </a:r>
          </a:p>
          <a:p>
            <a:pPr lvl="0"/>
            <a:r>
              <a:t>The data are continuous.</a:t>
            </a:r>
          </a:p>
          <a:p>
            <a:pPr lvl="0"/>
            <a:r>
              <a:t>The sample means must follow normal distributions.</a:t>
            </a:r>
          </a:p>
          <a:p>
            <a:pPr lvl="0"/>
            <a:r>
              <a:t>The two samples are independent.</a:t>
            </a:r>
          </a:p>
          <a:p>
            <a:pPr lvl="0"/>
            <a:r>
              <a:t>Both samples are random samples of the respective underlying populations.</a:t>
            </a:r>
          </a:p>
        </p:txBody>
      </p:sp>
      <p:sp>
        <p:nvSpPr>
          <p:cNvPr id="6" name="Slide Number Placeholder 5">
            <a:extLst>
              <a:ext uri="{FF2B5EF4-FFF2-40B4-BE49-F238E27FC236}">
                <a16:creationId xmlns:a16="http://schemas.microsoft.com/office/drawing/2014/main" id="{C03F998A-2A5E-471F-9FEB-2559B0A7F93D}"/>
              </a:ext>
            </a:extLst>
          </p:cNvPr>
          <p:cNvSpPr>
            <a:spLocks noGrp="1"/>
          </p:cNvSpPr>
          <p:nvPr>
            <p:ph type="sldNum" sz="quarter" idx="12"/>
          </p:nvPr>
        </p:nvSpPr>
        <p:spPr/>
        <p:txBody>
          <a:bodyPr/>
          <a:lstStyle/>
          <a:p>
            <a:fld id="{E1C5CB42-CF14-4293-8971-6DCD1AAE8BE7}" type="slidenum">
              <a:rPr lang="en-GB" smtClean="0"/>
              <a:t>47</a:t>
            </a:fld>
            <a:endParaRPr lang="en-GB"/>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marL="0" lvl="0" indent="0">
              <a:buNone/>
            </a:pPr>
            <a:r>
              <a:t>Two sample t-test</a:t>
            </a:r>
          </a:p>
        </p:txBody>
      </p:sp>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p:txBody>
          <a:bodyPr/>
          <a:lstStyle/>
          <a:p>
            <a:pPr marL="0" lvl="0" indent="0">
              <a:buNone/>
            </a:pPr>
            <a:r>
              <a:t>In the dataset provided, it is hypothesized that the mean age is the same for both men and women.</a:t>
            </a:r>
          </a:p>
          <a:p>
            <a:pPr lvl="0"/>
            <a:r>
              <a:t>We can test this hypothesis</a:t>
            </a:r>
          </a:p>
          <a:p>
            <a:pPr marL="0" lvl="0" indent="0">
              <a:buNone/>
            </a:pPr>
            <a14:m xmlns:a14="http://schemas.microsoft.com/office/drawing/2010/main">
              <m:oMathPara xmlns:m="http://schemas.openxmlformats.org/officeDocument/2006/math">
                <m:oMathParaPr>
                  <m:jc m:val="center"/>
                </m:oMathParaPr>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𝐻</m:t>
                      </m:r>
                    </m:e>
                    <m:sub>
                      <m:r>
                        <a:rPr>
                          <a:latin typeface="Cambria Math" panose="02040503050406030204" pitchFamily="18" charset="0"/>
                        </a:rPr>
                        <m:t>0</m:t>
                      </m:r>
                    </m:sub>
                  </m:sSub>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𝜇</m:t>
                      </m:r>
                    </m:e>
                    <m:sub>
                      <m:r>
                        <a:rPr>
                          <a:latin typeface="Cambria Math" panose="02040503050406030204" pitchFamily="18" charset="0"/>
                        </a:rPr>
                        <m:t>1</m:t>
                      </m:r>
                    </m:sub>
                  </m:sSub>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𝜇</m:t>
                      </m:r>
                    </m:e>
                    <m:sub>
                      <m:r>
                        <a:rPr>
                          <a:latin typeface="Cambria Math" panose="02040503050406030204" pitchFamily="18" charset="0"/>
                        </a:rPr>
                        <m:t>2</m:t>
                      </m:r>
                    </m:sub>
                  </m:sSub>
                </m:oMath>
              </m:oMathPara>
            </a14:m>
            <a:endParaRPr/>
          </a:p>
          <a:p>
            <a:pPr marL="0" lvl="0" indent="0">
              <a:buNone/>
            </a:pPr>
            <a14:m xmlns:a14="http://schemas.microsoft.com/office/drawing/2010/main">
              <m:oMathPara xmlns:m="http://schemas.openxmlformats.org/officeDocument/2006/math">
                <m:oMathParaPr>
                  <m:jc m:val="center"/>
                </m:oMathParaPr>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𝐻</m:t>
                      </m:r>
                    </m:e>
                    <m:sub>
                      <m:r>
                        <a:rPr>
                          <a:latin typeface="Cambria Math" panose="02040503050406030204" pitchFamily="18" charset="0"/>
                        </a:rPr>
                        <m:t>1</m:t>
                      </m:r>
                    </m:sub>
                  </m:sSub>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𝜇</m:t>
                      </m:r>
                    </m:e>
                    <m:sub>
                      <m:r>
                        <a:rPr>
                          <a:latin typeface="Cambria Math" panose="02040503050406030204" pitchFamily="18" charset="0"/>
                        </a:rPr>
                        <m:t>1</m:t>
                      </m:r>
                    </m:sub>
                  </m:sSub>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𝜇</m:t>
                      </m:r>
                    </m:e>
                    <m:sub>
                      <m:r>
                        <a:rPr>
                          <a:latin typeface="Cambria Math" panose="02040503050406030204" pitchFamily="18" charset="0"/>
                        </a:rPr>
                        <m:t>2</m:t>
                      </m:r>
                    </m:sub>
                  </m:sSub>
                </m:oMath>
              </m:oMathPara>
            </a14:m>
            <a:endParaRPr/>
          </a:p>
        </p:txBody>
      </p:sp>
      <p:sp>
        <p:nvSpPr>
          <p:cNvPr id="6" name="Slide Number Placeholder 5">
            <a:extLst>
              <a:ext uri="{FF2B5EF4-FFF2-40B4-BE49-F238E27FC236}">
                <a16:creationId xmlns:a16="http://schemas.microsoft.com/office/drawing/2014/main" id="{C03F998A-2A5E-471F-9FEB-2559B0A7F93D}"/>
              </a:ext>
            </a:extLst>
          </p:cNvPr>
          <p:cNvSpPr>
            <a:spLocks noGrp="1"/>
          </p:cNvSpPr>
          <p:nvPr>
            <p:ph type="sldNum" sz="quarter" idx="12"/>
          </p:nvPr>
        </p:nvSpPr>
        <p:spPr/>
        <p:txBody>
          <a:bodyPr/>
          <a:lstStyle/>
          <a:p>
            <a:fld id="{E1C5CB42-CF14-4293-8971-6DCD1AAE8BE7}" type="slidenum">
              <a:rPr lang="en-GB" smtClean="0"/>
              <a:t>48</a:t>
            </a:fld>
            <a:endParaRPr lang="en-GB"/>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CC315F-F711-43BA-8C23-8D50769E33D2}"/>
              </a:ext>
            </a:extLst>
          </p:cNvPr>
          <p:cNvSpPr>
            <a:spLocks noGrp="1"/>
          </p:cNvSpPr>
          <p:nvPr>
            <p:ph type="title"/>
          </p:nvPr>
        </p:nvSpPr>
        <p:spPr>
          <a:xfrm>
            <a:off x="839788" y="457200"/>
            <a:ext cx="3932237" cy="1600200"/>
          </a:xfrm>
        </p:spPr>
        <p:txBody>
          <a:bodyPr/>
          <a:lstStyle/>
          <a:p>
            <a:pPr marL="0" lvl="0" indent="0">
              <a:buNone/>
            </a:pPr>
            <a:r>
              <a:t>Assumptions</a:t>
            </a:r>
          </a:p>
        </p:txBody>
      </p:sp>
      <p:sp>
        <p:nvSpPr>
          <p:cNvPr id="4" name="Text Placeholder 3">
            <a:extLst>
              <a:ext uri="{FF2B5EF4-FFF2-40B4-BE49-F238E27FC236}">
                <a16:creationId xmlns:a16="http://schemas.microsoft.com/office/drawing/2014/main" id="{F6C278EB-CD3C-4569-8B41-D3DDD3B4004E}"/>
              </a:ext>
            </a:extLst>
          </p:cNvPr>
          <p:cNvSpPr>
            <a:spLocks noGrp="1"/>
          </p:cNvSpPr>
          <p:nvPr>
            <p:ph type="body" sz="half" idx="2"/>
          </p:nvPr>
        </p:nvSpPr>
        <p:spPr/>
        <p:txBody>
          <a:bodyPr/>
          <a:lstStyle/>
          <a:p>
            <a:pPr lvl="0"/>
            <a:r>
              <a:t>Check if the two populations are normally distributed. Again, we really just need to check for severe non-normality.</a:t>
            </a:r>
          </a:p>
          <a:p>
            <a:pPr lvl="0" indent="0">
              <a:buNone/>
            </a:pPr>
            <a:r>
              <a:rPr>
                <a:latin typeface="Courier"/>
              </a:rPr>
              <a:t>df1 </a:t>
            </a:r>
            <a:r>
              <a:rPr>
                <a:solidFill>
                  <a:srgbClr val="4070A0"/>
                </a:solidFill>
                <a:latin typeface="Courier"/>
              </a:rPr>
              <a:t>%&gt;%</a:t>
            </a:r>
            <a:br/>
            <a:r>
              <a:rPr>
                <a:latin typeface="Courier"/>
              </a:rPr>
              <a:t>  </a:t>
            </a:r>
            <a:r>
              <a:rPr>
                <a:solidFill>
                  <a:srgbClr val="06287E"/>
                </a:solidFill>
                <a:latin typeface="Courier"/>
              </a:rPr>
              <a:t>ggplot</a:t>
            </a:r>
            <a:r>
              <a:rPr>
                <a:latin typeface="Courier"/>
              </a:rPr>
              <a:t>(</a:t>
            </a:r>
            <a:r>
              <a:rPr>
                <a:solidFill>
                  <a:srgbClr val="7D9029"/>
                </a:solidFill>
                <a:latin typeface="Courier"/>
              </a:rPr>
              <a:t>mapping=</a:t>
            </a:r>
            <a:r>
              <a:rPr>
                <a:solidFill>
                  <a:srgbClr val="06287E"/>
                </a:solidFill>
                <a:latin typeface="Courier"/>
              </a:rPr>
              <a:t>aes</a:t>
            </a:r>
            <a:r>
              <a:rPr>
                <a:latin typeface="Courier"/>
              </a:rPr>
              <a:t>(</a:t>
            </a:r>
            <a:r>
              <a:rPr>
                <a:solidFill>
                  <a:srgbClr val="7D9029"/>
                </a:solidFill>
                <a:latin typeface="Courier"/>
              </a:rPr>
              <a:t>x=</a:t>
            </a:r>
            <a:r>
              <a:rPr>
                <a:latin typeface="Courier"/>
              </a:rPr>
              <a:t>age)) </a:t>
            </a:r>
            <a:r>
              <a:rPr>
                <a:solidFill>
                  <a:srgbClr val="4070A0"/>
                </a:solidFill>
                <a:latin typeface="Courier"/>
              </a:rPr>
              <a:t>+</a:t>
            </a:r>
            <a:br/>
            <a:r>
              <a:rPr>
                <a:latin typeface="Courier"/>
              </a:rPr>
              <a:t>  </a:t>
            </a:r>
            <a:r>
              <a:rPr>
                <a:solidFill>
                  <a:srgbClr val="06287E"/>
                </a:solidFill>
                <a:latin typeface="Courier"/>
              </a:rPr>
              <a:t>geom_histogram</a:t>
            </a:r>
            <a:r>
              <a:rPr>
                <a:latin typeface="Courier"/>
              </a:rPr>
              <a:t>(</a:t>
            </a:r>
            <a:r>
              <a:rPr>
                <a:solidFill>
                  <a:srgbClr val="7D9029"/>
                </a:solidFill>
                <a:latin typeface="Courier"/>
              </a:rPr>
              <a:t>bins=</a:t>
            </a:r>
            <a:r>
              <a:rPr>
                <a:solidFill>
                  <a:srgbClr val="40A070"/>
                </a:solidFill>
                <a:latin typeface="Courier"/>
              </a:rPr>
              <a:t>20</a:t>
            </a:r>
            <a:r>
              <a:rPr>
                <a:latin typeface="Courier"/>
              </a:rPr>
              <a:t>) </a:t>
            </a:r>
            <a:r>
              <a:rPr>
                <a:solidFill>
                  <a:srgbClr val="4070A0"/>
                </a:solidFill>
                <a:latin typeface="Courier"/>
              </a:rPr>
              <a:t>+</a:t>
            </a:r>
            <a:br/>
            <a:r>
              <a:rPr>
                <a:latin typeface="Courier"/>
              </a:rPr>
              <a:t>  </a:t>
            </a:r>
            <a:r>
              <a:rPr>
                <a:solidFill>
                  <a:srgbClr val="06287E"/>
                </a:solidFill>
                <a:latin typeface="Courier"/>
              </a:rPr>
              <a:t>labs</a:t>
            </a:r>
            <a:r>
              <a:rPr>
                <a:latin typeface="Courier"/>
              </a:rPr>
              <a:t>(</a:t>
            </a:r>
            <a:r>
              <a:rPr>
                <a:solidFill>
                  <a:srgbClr val="7D9029"/>
                </a:solidFill>
                <a:latin typeface="Courier"/>
              </a:rPr>
              <a:t>title=</a:t>
            </a:r>
            <a:r>
              <a:rPr>
                <a:solidFill>
                  <a:srgbClr val="4070A0"/>
                </a:solidFill>
                <a:latin typeface="Courier"/>
              </a:rPr>
              <a:t>"Histogram for Age by sex"</a:t>
            </a:r>
            <a:r>
              <a:rPr>
                <a:latin typeface="Courier"/>
              </a:rPr>
              <a:t>) </a:t>
            </a:r>
            <a:r>
              <a:rPr>
                <a:solidFill>
                  <a:srgbClr val="4070A0"/>
                </a:solidFill>
                <a:latin typeface="Courier"/>
              </a:rPr>
              <a:t>+</a:t>
            </a:r>
            <a:br/>
            <a:r>
              <a:rPr>
                <a:latin typeface="Courier"/>
              </a:rPr>
              <a:t>  </a:t>
            </a:r>
            <a:r>
              <a:rPr>
                <a:solidFill>
                  <a:srgbClr val="06287E"/>
                </a:solidFill>
                <a:latin typeface="Courier"/>
              </a:rPr>
              <a:t>xlab</a:t>
            </a:r>
            <a:r>
              <a:rPr>
                <a:latin typeface="Courier"/>
              </a:rPr>
              <a:t>(</a:t>
            </a:r>
            <a:r>
              <a:rPr>
                <a:solidFill>
                  <a:srgbClr val="4070A0"/>
                </a:solidFill>
                <a:latin typeface="Courier"/>
              </a:rPr>
              <a:t>"Age"</a:t>
            </a:r>
            <a:r>
              <a:rPr>
                <a:latin typeface="Courier"/>
              </a:rPr>
              <a:t>) </a:t>
            </a:r>
            <a:r>
              <a:rPr>
                <a:solidFill>
                  <a:srgbClr val="4070A0"/>
                </a:solidFill>
                <a:latin typeface="Courier"/>
              </a:rPr>
              <a:t>+</a:t>
            </a:r>
            <a:br/>
            <a:r>
              <a:rPr>
                <a:latin typeface="Courier"/>
              </a:rPr>
              <a:t>  </a:t>
            </a:r>
            <a:r>
              <a:rPr>
                <a:solidFill>
                  <a:srgbClr val="06287E"/>
                </a:solidFill>
                <a:latin typeface="Courier"/>
              </a:rPr>
              <a:t>facet_wrap</a:t>
            </a:r>
            <a:r>
              <a:rPr>
                <a:latin typeface="Courier"/>
              </a:rPr>
              <a:t>(</a:t>
            </a:r>
            <a:r>
              <a:rPr>
                <a:solidFill>
                  <a:srgbClr val="4070A0"/>
                </a:solidFill>
                <a:latin typeface="Courier"/>
              </a:rPr>
              <a:t>~</a:t>
            </a:r>
            <a:r>
              <a:rPr>
                <a:solidFill>
                  <a:srgbClr val="06287E"/>
                </a:solidFill>
                <a:latin typeface="Courier"/>
              </a:rPr>
              <a:t>ifelse</a:t>
            </a:r>
            <a:r>
              <a:rPr>
                <a:latin typeface="Courier"/>
              </a:rPr>
              <a:t>(sex</a:t>
            </a:r>
            <a:r>
              <a:rPr>
                <a:solidFill>
                  <a:srgbClr val="4070A0"/>
                </a:solidFill>
                <a:latin typeface="Courier"/>
              </a:rPr>
              <a:t>==</a:t>
            </a:r>
            <a:r>
              <a:rPr>
                <a:solidFill>
                  <a:srgbClr val="40A070"/>
                </a:solidFill>
                <a:latin typeface="Courier"/>
              </a:rPr>
              <a:t>1</a:t>
            </a:r>
            <a:r>
              <a:rPr>
                <a:latin typeface="Courier"/>
              </a:rPr>
              <a:t>,</a:t>
            </a:r>
            <a:r>
              <a:rPr>
                <a:solidFill>
                  <a:srgbClr val="4070A0"/>
                </a:solidFill>
                <a:latin typeface="Courier"/>
              </a:rPr>
              <a:t>"Male"</a:t>
            </a:r>
            <a:r>
              <a:rPr>
                <a:latin typeface="Courier"/>
              </a:rPr>
              <a:t>,</a:t>
            </a:r>
            <a:r>
              <a:rPr>
                <a:solidFill>
                  <a:srgbClr val="4070A0"/>
                </a:solidFill>
                <a:latin typeface="Courier"/>
              </a:rPr>
              <a:t>"Female"</a:t>
            </a:r>
            <a:r>
              <a:rPr>
                <a:latin typeface="Courier"/>
              </a:rPr>
              <a:t>))</a:t>
            </a:r>
          </a:p>
        </p:txBody>
      </p:sp>
      <p:pic>
        <p:nvPicPr>
          <p:cNvPr id="3" name="Picture 1" descr="MLW_KUHeS_RandStatistics_Session4_files/figure-pptx/unnamed-chunk-8-1.png"/>
          <p:cNvPicPr>
            <a:picLocks noGrp="1" noChangeAspect="1"/>
          </p:cNvPicPr>
          <p:nvPr/>
        </p:nvPicPr>
        <p:blipFill>
          <a:blip r:embed="rId2"/>
          <a:stretch>
            <a:fillRect/>
          </a:stretch>
        </p:blipFill>
        <p:spPr bwMode="auto">
          <a:xfrm>
            <a:off x="5181600" y="1676400"/>
            <a:ext cx="6172200" cy="3467100"/>
          </a:xfrm>
          <a:prstGeom prst="rect">
            <a:avLst/>
          </a:prstGeom>
          <a:noFill/>
          <a:ln w="9525">
            <a:noFill/>
            <a:headEnd/>
            <a:tailEnd/>
          </a:ln>
        </p:spPr>
      </p:pic>
      <p:sp>
        <p:nvSpPr>
          <p:cNvPr id="7" name="Slide Number Placeholder 6">
            <a:extLst>
              <a:ext uri="{FF2B5EF4-FFF2-40B4-BE49-F238E27FC236}">
                <a16:creationId xmlns:a16="http://schemas.microsoft.com/office/drawing/2014/main" id="{14DD33D4-F2B4-4E27-98BD-BC92728343CB}"/>
              </a:ext>
            </a:extLst>
          </p:cNvPr>
          <p:cNvSpPr>
            <a:spLocks noGrp="1"/>
          </p:cNvSpPr>
          <p:nvPr>
            <p:ph type="sldNum" sz="quarter" idx="12"/>
          </p:nvPr>
        </p:nvSpPr>
        <p:spPr/>
        <p:txBody>
          <a:bodyPr/>
          <a:lstStyle/>
          <a:p>
            <a:fld id="{E1C5CB42-CF14-4293-8971-6DCD1AAE8BE7}" type="slidenum">
              <a:rPr lang="en-GB" smtClean="0"/>
              <a:t>49</a:t>
            </a:fld>
            <a:endParaRPr lang="en-GB"/>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CC315F-F711-43BA-8C23-8D50769E33D2}"/>
              </a:ext>
            </a:extLst>
          </p:cNvPr>
          <p:cNvSpPr>
            <a:spLocks noGrp="1"/>
          </p:cNvSpPr>
          <p:nvPr>
            <p:ph type="title"/>
          </p:nvPr>
        </p:nvSpPr>
        <p:spPr>
          <a:xfrm>
            <a:off x="839788" y="457200"/>
            <a:ext cx="3932237" cy="1600200"/>
          </a:xfrm>
        </p:spPr>
        <p:txBody>
          <a:bodyPr/>
          <a:lstStyle/>
          <a:p>
            <a:pPr marL="0" lvl="0" indent="0">
              <a:buNone/>
            </a:pPr>
            <a:r>
              <a:t>Assumptions</a:t>
            </a:r>
          </a:p>
        </p:txBody>
      </p:sp>
      <p:sp>
        <p:nvSpPr>
          <p:cNvPr id="4" name="Text Placeholder 3">
            <a:extLst>
              <a:ext uri="{FF2B5EF4-FFF2-40B4-BE49-F238E27FC236}">
                <a16:creationId xmlns:a16="http://schemas.microsoft.com/office/drawing/2014/main" id="{F6C278EB-CD3C-4569-8B41-D3DDD3B4004E}"/>
              </a:ext>
            </a:extLst>
          </p:cNvPr>
          <p:cNvSpPr>
            <a:spLocks noGrp="1"/>
          </p:cNvSpPr>
          <p:nvPr>
            <p:ph type="body" sz="half" idx="2"/>
          </p:nvPr>
        </p:nvSpPr>
        <p:spPr>
          <a:xfrm>
            <a:off x="839788" y="1997014"/>
            <a:ext cx="3932237" cy="4291643"/>
          </a:xfrm>
        </p:spPr>
        <p:txBody>
          <a:bodyPr>
            <a:normAutofit fontScale="92500" lnSpcReduction="10000"/>
          </a:bodyPr>
          <a:lstStyle/>
          <a:p>
            <a:pPr lvl="0"/>
            <a:r>
              <a:rPr dirty="0"/>
              <a:t>Check if the variances are the same (only needed if you specify </a:t>
            </a:r>
            <a:r>
              <a:rPr dirty="0" err="1">
                <a:latin typeface="Courier"/>
              </a:rPr>
              <a:t>var.equal</a:t>
            </a:r>
            <a:r>
              <a:rPr dirty="0">
                <a:latin typeface="Courier"/>
              </a:rPr>
              <a:t>=TRUE</a:t>
            </a:r>
            <a:r>
              <a:rPr dirty="0"/>
              <a:t>). By default </a:t>
            </a:r>
            <a:r>
              <a:rPr dirty="0" err="1">
                <a:latin typeface="Courier"/>
              </a:rPr>
              <a:t>var.equal</a:t>
            </a:r>
            <a:r>
              <a:rPr dirty="0"/>
              <a:t> is set to </a:t>
            </a:r>
            <a:r>
              <a:rPr dirty="0">
                <a:latin typeface="Courier"/>
              </a:rPr>
              <a:t>FALSE</a:t>
            </a:r>
            <a:r>
              <a:rPr dirty="0"/>
              <a:t> in the function </a:t>
            </a:r>
            <a:r>
              <a:rPr dirty="0" err="1">
                <a:latin typeface="Courier"/>
              </a:rPr>
              <a:t>t.test</a:t>
            </a:r>
            <a:r>
              <a:rPr dirty="0">
                <a:latin typeface="Courier"/>
              </a:rPr>
              <a:t>()</a:t>
            </a:r>
            <a:r>
              <a:rPr dirty="0"/>
              <a:t> and you do NOT need to check this assumption. However, this uses an approximation to the distribution used to compute the p-value and if you don’t want to make that approximation, you could set </a:t>
            </a:r>
            <a:r>
              <a:rPr dirty="0" err="1">
                <a:latin typeface="Courier"/>
              </a:rPr>
              <a:t>var.equal</a:t>
            </a:r>
            <a:r>
              <a:rPr dirty="0">
                <a:latin typeface="Courier"/>
              </a:rPr>
              <a:t>=TRUE</a:t>
            </a:r>
            <a:r>
              <a:rPr dirty="0"/>
              <a:t> but then you need to check this assumption of equal variances. A visual inspection is usually good enough for most situations.</a:t>
            </a:r>
          </a:p>
          <a:p>
            <a:pPr lvl="0" indent="0">
              <a:buNone/>
            </a:pPr>
            <a:r>
              <a:rPr dirty="0">
                <a:latin typeface="Courier"/>
              </a:rPr>
              <a:t>df1 </a:t>
            </a:r>
            <a:r>
              <a:rPr dirty="0">
                <a:solidFill>
                  <a:srgbClr val="4070A0"/>
                </a:solidFill>
                <a:latin typeface="Courier"/>
              </a:rPr>
              <a:t>%&gt;%</a:t>
            </a:r>
            <a:br>
              <a:rPr dirty="0"/>
            </a:br>
            <a:r>
              <a:rPr dirty="0">
                <a:latin typeface="Courier"/>
              </a:rPr>
              <a:t>  </a:t>
            </a:r>
            <a:r>
              <a:rPr dirty="0" err="1">
                <a:solidFill>
                  <a:srgbClr val="06287E"/>
                </a:solidFill>
                <a:latin typeface="Courier"/>
              </a:rPr>
              <a:t>ggplot</a:t>
            </a:r>
            <a:r>
              <a:rPr dirty="0">
                <a:latin typeface="Courier"/>
              </a:rPr>
              <a:t>(</a:t>
            </a:r>
            <a:r>
              <a:rPr dirty="0">
                <a:solidFill>
                  <a:srgbClr val="7D9029"/>
                </a:solidFill>
                <a:latin typeface="Courier"/>
              </a:rPr>
              <a:t>mapping=</a:t>
            </a:r>
            <a:r>
              <a:rPr dirty="0" err="1">
                <a:solidFill>
                  <a:srgbClr val="06287E"/>
                </a:solidFill>
                <a:latin typeface="Courier"/>
              </a:rPr>
              <a:t>aes</a:t>
            </a:r>
            <a:r>
              <a:rPr dirty="0">
                <a:latin typeface="Courier"/>
              </a:rPr>
              <a:t>(</a:t>
            </a:r>
            <a:r>
              <a:rPr dirty="0">
                <a:solidFill>
                  <a:srgbClr val="7D9029"/>
                </a:solidFill>
                <a:latin typeface="Courier"/>
              </a:rPr>
              <a:t>x=</a:t>
            </a:r>
            <a:r>
              <a:rPr dirty="0" err="1">
                <a:solidFill>
                  <a:srgbClr val="06287E"/>
                </a:solidFill>
                <a:latin typeface="Courier"/>
              </a:rPr>
              <a:t>ifelse</a:t>
            </a:r>
            <a:r>
              <a:rPr dirty="0">
                <a:latin typeface="Courier"/>
              </a:rPr>
              <a:t>(sex</a:t>
            </a:r>
            <a:r>
              <a:rPr dirty="0">
                <a:solidFill>
                  <a:srgbClr val="4070A0"/>
                </a:solidFill>
                <a:latin typeface="Courier"/>
              </a:rPr>
              <a:t>==</a:t>
            </a:r>
            <a:r>
              <a:rPr dirty="0">
                <a:solidFill>
                  <a:srgbClr val="40A070"/>
                </a:solidFill>
                <a:latin typeface="Courier"/>
              </a:rPr>
              <a:t>1</a:t>
            </a:r>
            <a:r>
              <a:rPr dirty="0">
                <a:latin typeface="Courier"/>
              </a:rPr>
              <a:t>,</a:t>
            </a:r>
            <a:r>
              <a:rPr dirty="0">
                <a:solidFill>
                  <a:srgbClr val="4070A0"/>
                </a:solidFill>
                <a:latin typeface="Courier"/>
              </a:rPr>
              <a:t>"Male"</a:t>
            </a:r>
            <a:r>
              <a:rPr dirty="0">
                <a:latin typeface="Courier"/>
              </a:rPr>
              <a:t>,</a:t>
            </a:r>
            <a:r>
              <a:rPr dirty="0">
                <a:solidFill>
                  <a:srgbClr val="4070A0"/>
                </a:solidFill>
                <a:latin typeface="Courier"/>
              </a:rPr>
              <a:t>"Female"</a:t>
            </a:r>
            <a:r>
              <a:rPr dirty="0">
                <a:latin typeface="Courier"/>
              </a:rPr>
              <a:t>),</a:t>
            </a:r>
            <a:r>
              <a:rPr dirty="0">
                <a:solidFill>
                  <a:srgbClr val="7D9029"/>
                </a:solidFill>
                <a:latin typeface="Courier"/>
              </a:rPr>
              <a:t>y=</a:t>
            </a:r>
            <a:r>
              <a:rPr dirty="0" err="1">
                <a:latin typeface="Courier"/>
              </a:rPr>
              <a:t>age,</a:t>
            </a:r>
            <a:r>
              <a:rPr dirty="0" err="1">
                <a:solidFill>
                  <a:srgbClr val="7D9029"/>
                </a:solidFill>
                <a:latin typeface="Courier"/>
              </a:rPr>
              <a:t>fill</a:t>
            </a:r>
            <a:r>
              <a:rPr dirty="0">
                <a:solidFill>
                  <a:srgbClr val="7D9029"/>
                </a:solidFill>
                <a:latin typeface="Courier"/>
              </a:rPr>
              <a:t>=</a:t>
            </a:r>
            <a:r>
              <a:rPr dirty="0" err="1">
                <a:solidFill>
                  <a:srgbClr val="06287E"/>
                </a:solidFill>
                <a:latin typeface="Courier"/>
              </a:rPr>
              <a:t>ifelse</a:t>
            </a:r>
            <a:r>
              <a:rPr dirty="0">
                <a:latin typeface="Courier"/>
              </a:rPr>
              <a:t>(sex</a:t>
            </a:r>
            <a:r>
              <a:rPr dirty="0">
                <a:solidFill>
                  <a:srgbClr val="4070A0"/>
                </a:solidFill>
                <a:latin typeface="Courier"/>
              </a:rPr>
              <a:t>==</a:t>
            </a:r>
            <a:r>
              <a:rPr dirty="0">
                <a:solidFill>
                  <a:srgbClr val="40A070"/>
                </a:solidFill>
                <a:latin typeface="Courier"/>
              </a:rPr>
              <a:t>1</a:t>
            </a:r>
            <a:r>
              <a:rPr dirty="0">
                <a:latin typeface="Courier"/>
              </a:rPr>
              <a:t>,</a:t>
            </a:r>
            <a:r>
              <a:rPr dirty="0">
                <a:solidFill>
                  <a:srgbClr val="4070A0"/>
                </a:solidFill>
                <a:latin typeface="Courier"/>
              </a:rPr>
              <a:t>"Male"</a:t>
            </a:r>
            <a:r>
              <a:rPr dirty="0">
                <a:latin typeface="Courier"/>
              </a:rPr>
              <a:t>,</a:t>
            </a:r>
            <a:r>
              <a:rPr dirty="0">
                <a:solidFill>
                  <a:srgbClr val="4070A0"/>
                </a:solidFill>
                <a:latin typeface="Courier"/>
              </a:rPr>
              <a:t>"Female"</a:t>
            </a:r>
            <a:r>
              <a:rPr dirty="0">
                <a:latin typeface="Courier"/>
              </a:rPr>
              <a:t>))) </a:t>
            </a:r>
            <a:r>
              <a:rPr dirty="0">
                <a:solidFill>
                  <a:srgbClr val="4070A0"/>
                </a:solidFill>
                <a:latin typeface="Courier"/>
              </a:rPr>
              <a:t>+</a:t>
            </a:r>
            <a:br>
              <a:rPr dirty="0"/>
            </a:br>
            <a:r>
              <a:rPr dirty="0">
                <a:latin typeface="Courier"/>
              </a:rPr>
              <a:t>  </a:t>
            </a:r>
            <a:r>
              <a:rPr dirty="0" err="1">
                <a:solidFill>
                  <a:srgbClr val="06287E"/>
                </a:solidFill>
                <a:latin typeface="Courier"/>
              </a:rPr>
              <a:t>scale_fill_manual</a:t>
            </a:r>
            <a:r>
              <a:rPr dirty="0">
                <a:latin typeface="Courier"/>
              </a:rPr>
              <a:t>(</a:t>
            </a:r>
            <a:r>
              <a:rPr dirty="0">
                <a:solidFill>
                  <a:srgbClr val="7D9029"/>
                </a:solidFill>
                <a:latin typeface="Courier"/>
              </a:rPr>
              <a:t>values=</a:t>
            </a:r>
            <a:r>
              <a:rPr dirty="0">
                <a:solidFill>
                  <a:srgbClr val="06287E"/>
                </a:solidFill>
                <a:latin typeface="Courier"/>
              </a:rPr>
              <a:t>c</a:t>
            </a:r>
            <a:r>
              <a:rPr dirty="0">
                <a:latin typeface="Courier"/>
              </a:rPr>
              <a:t>(</a:t>
            </a:r>
            <a:r>
              <a:rPr dirty="0">
                <a:solidFill>
                  <a:srgbClr val="4070A0"/>
                </a:solidFill>
                <a:latin typeface="Courier"/>
              </a:rPr>
              <a:t>"</a:t>
            </a:r>
            <a:r>
              <a:rPr dirty="0" err="1">
                <a:solidFill>
                  <a:srgbClr val="4070A0"/>
                </a:solidFill>
                <a:latin typeface="Courier"/>
              </a:rPr>
              <a:t>steelblue</a:t>
            </a:r>
            <a:r>
              <a:rPr dirty="0">
                <a:solidFill>
                  <a:srgbClr val="4070A0"/>
                </a:solidFill>
                <a:latin typeface="Courier"/>
              </a:rPr>
              <a:t>"</a:t>
            </a:r>
            <a:r>
              <a:rPr dirty="0">
                <a:latin typeface="Courier"/>
              </a:rPr>
              <a:t>,</a:t>
            </a:r>
            <a:r>
              <a:rPr dirty="0">
                <a:solidFill>
                  <a:srgbClr val="4070A0"/>
                </a:solidFill>
                <a:latin typeface="Courier"/>
              </a:rPr>
              <a:t>"orange"</a:t>
            </a:r>
            <a:r>
              <a:rPr dirty="0">
                <a:latin typeface="Courier"/>
              </a:rPr>
              <a:t>),</a:t>
            </a:r>
            <a:r>
              <a:rPr dirty="0">
                <a:solidFill>
                  <a:srgbClr val="7D9029"/>
                </a:solidFill>
                <a:latin typeface="Courier"/>
              </a:rPr>
              <a:t>name=</a:t>
            </a:r>
            <a:r>
              <a:rPr dirty="0">
                <a:solidFill>
                  <a:srgbClr val="4070A0"/>
                </a:solidFill>
                <a:latin typeface="Courier"/>
              </a:rPr>
              <a:t>"Sex"</a:t>
            </a:r>
            <a:r>
              <a:rPr dirty="0">
                <a:latin typeface="Courier"/>
              </a:rPr>
              <a:t>) </a:t>
            </a:r>
            <a:r>
              <a:rPr dirty="0">
                <a:solidFill>
                  <a:srgbClr val="4070A0"/>
                </a:solidFill>
                <a:latin typeface="Courier"/>
              </a:rPr>
              <a:t>+</a:t>
            </a:r>
            <a:br>
              <a:rPr dirty="0"/>
            </a:br>
            <a:r>
              <a:rPr dirty="0">
                <a:latin typeface="Courier"/>
              </a:rPr>
              <a:t>  </a:t>
            </a:r>
            <a:r>
              <a:rPr dirty="0" err="1">
                <a:solidFill>
                  <a:srgbClr val="06287E"/>
                </a:solidFill>
                <a:latin typeface="Courier"/>
              </a:rPr>
              <a:t>geom_boxplot</a:t>
            </a:r>
            <a:r>
              <a:rPr dirty="0">
                <a:latin typeface="Courier"/>
              </a:rPr>
              <a:t>()</a:t>
            </a:r>
          </a:p>
        </p:txBody>
      </p:sp>
      <p:pic>
        <p:nvPicPr>
          <p:cNvPr id="3" name="Picture 1" descr="MLW_KUHeS_RandStatistics_Session4_files/figure-pptx/unnamed-chunk-9-1.png"/>
          <p:cNvPicPr>
            <a:picLocks noGrp="1" noChangeAspect="1"/>
          </p:cNvPicPr>
          <p:nvPr/>
        </p:nvPicPr>
        <p:blipFill>
          <a:blip r:embed="rId2"/>
          <a:stretch>
            <a:fillRect/>
          </a:stretch>
        </p:blipFill>
        <p:spPr bwMode="auto">
          <a:xfrm>
            <a:off x="5181600" y="1676400"/>
            <a:ext cx="6172200" cy="3467100"/>
          </a:xfrm>
          <a:prstGeom prst="rect">
            <a:avLst/>
          </a:prstGeom>
          <a:noFill/>
          <a:ln w="9525">
            <a:noFill/>
            <a:headEnd/>
            <a:tailEnd/>
          </a:ln>
        </p:spPr>
      </p:pic>
      <p:sp>
        <p:nvSpPr>
          <p:cNvPr id="7" name="Slide Number Placeholder 6">
            <a:extLst>
              <a:ext uri="{FF2B5EF4-FFF2-40B4-BE49-F238E27FC236}">
                <a16:creationId xmlns:a16="http://schemas.microsoft.com/office/drawing/2014/main" id="{14DD33D4-F2B4-4E27-98BD-BC92728343CB}"/>
              </a:ext>
            </a:extLst>
          </p:cNvPr>
          <p:cNvSpPr>
            <a:spLocks noGrp="1"/>
          </p:cNvSpPr>
          <p:nvPr>
            <p:ph type="sldNum" sz="quarter" idx="12"/>
          </p:nvPr>
        </p:nvSpPr>
        <p:spPr/>
        <p:txBody>
          <a:bodyPr/>
          <a:lstStyle/>
          <a:p>
            <a:fld id="{E1C5CB42-CF14-4293-8971-6DCD1AAE8BE7}" type="slidenum">
              <a:rPr lang="en-GB" smtClean="0"/>
              <a:t>50</a:t>
            </a:fld>
            <a:endParaRPr lang="en-GB"/>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marL="0" lvl="0" indent="0">
              <a:buNone/>
            </a:pPr>
            <a:r>
              <a:t>Two sample t-test</a:t>
            </a:r>
          </a:p>
        </p:txBody>
      </p:sp>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p:txBody>
          <a:bodyPr/>
          <a:lstStyle/>
          <a:p>
            <a:pPr lvl="0" indent="0">
              <a:buNone/>
            </a:pPr>
            <a:r>
              <a:rPr>
                <a:solidFill>
                  <a:srgbClr val="06287E"/>
                </a:solidFill>
                <a:latin typeface="Courier"/>
              </a:rPr>
              <a:t>t.test</a:t>
            </a:r>
            <a:r>
              <a:rPr>
                <a:latin typeface="Courier"/>
              </a:rPr>
              <a:t>(age</a:t>
            </a:r>
            <a:r>
              <a:rPr>
                <a:solidFill>
                  <a:srgbClr val="4070A0"/>
                </a:solidFill>
                <a:latin typeface="Courier"/>
              </a:rPr>
              <a:t>~</a:t>
            </a:r>
            <a:r>
              <a:rPr>
                <a:latin typeface="Courier"/>
              </a:rPr>
              <a:t>sex,</a:t>
            </a:r>
            <a:r>
              <a:rPr>
                <a:solidFill>
                  <a:srgbClr val="7D9029"/>
                </a:solidFill>
                <a:latin typeface="Courier"/>
              </a:rPr>
              <a:t>data=</a:t>
            </a:r>
            <a:r>
              <a:rPr>
                <a:latin typeface="Courier"/>
              </a:rPr>
              <a:t>df1)</a:t>
            </a:r>
            <a:br/>
            <a:r>
              <a:rPr i="1">
                <a:solidFill>
                  <a:srgbClr val="BA2121"/>
                </a:solidFill>
                <a:latin typeface="Courier"/>
              </a:rPr>
              <a:t>## </a:t>
            </a:r>
            <a:br/>
            <a:r>
              <a:rPr i="1">
                <a:solidFill>
                  <a:srgbClr val="BA2121"/>
                </a:solidFill>
                <a:latin typeface="Courier"/>
              </a:rPr>
              <a:t>##  Welch Two Sample t-test</a:t>
            </a:r>
            <a:br/>
            <a:r>
              <a:rPr i="1">
                <a:solidFill>
                  <a:srgbClr val="BA2121"/>
                </a:solidFill>
                <a:latin typeface="Courier"/>
              </a:rPr>
              <a:t>## </a:t>
            </a:r>
            <a:br/>
            <a:r>
              <a:rPr i="1">
                <a:solidFill>
                  <a:srgbClr val="BA2121"/>
                </a:solidFill>
                <a:latin typeface="Courier"/>
              </a:rPr>
              <a:t>## data:  age by sex</a:t>
            </a:r>
            <a:br/>
            <a:r>
              <a:rPr i="1">
                <a:solidFill>
                  <a:srgbClr val="BA2121"/>
                </a:solidFill>
                <a:latin typeface="Courier"/>
              </a:rPr>
              <a:t>## t = -0.69127, df = 2982.6, p-value = 0.4895</a:t>
            </a:r>
            <a:br/>
            <a:r>
              <a:rPr i="1">
                <a:solidFill>
                  <a:srgbClr val="BA2121"/>
                </a:solidFill>
                <a:latin typeface="Courier"/>
              </a:rPr>
              <a:t>## alternative hypothesis: true difference in means between group 1 and group 2 is not equal to 0</a:t>
            </a:r>
            <a:br/>
            <a:r>
              <a:rPr i="1">
                <a:solidFill>
                  <a:srgbClr val="BA2121"/>
                </a:solidFill>
                <a:latin typeface="Courier"/>
              </a:rPr>
              <a:t>## 95 percent confidence interval:</a:t>
            </a:r>
            <a:br/>
            <a:r>
              <a:rPr i="1">
                <a:solidFill>
                  <a:srgbClr val="BA2121"/>
                </a:solidFill>
                <a:latin typeface="Courier"/>
              </a:rPr>
              <a:t>##  -0.4812899  0.2303877</a:t>
            </a:r>
            <a:br/>
            <a:r>
              <a:rPr i="1">
                <a:solidFill>
                  <a:srgbClr val="BA2121"/>
                </a:solidFill>
                <a:latin typeface="Courier"/>
              </a:rPr>
              <a:t>## sample estimates:</a:t>
            </a:r>
            <a:br/>
            <a:r>
              <a:rPr i="1">
                <a:solidFill>
                  <a:srgbClr val="BA2121"/>
                </a:solidFill>
                <a:latin typeface="Courier"/>
              </a:rPr>
              <a:t>## mean in group 1 mean in group 2 </a:t>
            </a:r>
            <a:br/>
            <a:r>
              <a:rPr i="1">
                <a:solidFill>
                  <a:srgbClr val="BA2121"/>
                </a:solidFill>
                <a:latin typeface="Courier"/>
              </a:rPr>
              <a:t>##        32.87585        33.00130</a:t>
            </a:r>
          </a:p>
        </p:txBody>
      </p:sp>
      <p:sp>
        <p:nvSpPr>
          <p:cNvPr id="6" name="Slide Number Placeholder 5">
            <a:extLst>
              <a:ext uri="{FF2B5EF4-FFF2-40B4-BE49-F238E27FC236}">
                <a16:creationId xmlns:a16="http://schemas.microsoft.com/office/drawing/2014/main" id="{C03F998A-2A5E-471F-9FEB-2559B0A7F93D}"/>
              </a:ext>
            </a:extLst>
          </p:cNvPr>
          <p:cNvSpPr>
            <a:spLocks noGrp="1"/>
          </p:cNvSpPr>
          <p:nvPr>
            <p:ph type="sldNum" sz="quarter" idx="12"/>
          </p:nvPr>
        </p:nvSpPr>
        <p:spPr/>
        <p:txBody>
          <a:bodyPr/>
          <a:lstStyle/>
          <a:p>
            <a:fld id="{E1C5CB42-CF14-4293-8971-6DCD1AAE8BE7}" type="slidenum">
              <a:rPr lang="en-GB" smtClean="0"/>
              <a:t>51</a:t>
            </a:fld>
            <a:endParaRPr lang="en-GB"/>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marL="0" lvl="0" indent="0">
              <a:buNone/>
            </a:pPr>
            <a:r>
              <a:t>Paired t-test</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a:xfrm>
                <a:off x="838200" y="1690688"/>
                <a:ext cx="10515600" cy="4667250"/>
              </a:xfrm>
            </p:spPr>
            <p:txBody>
              <a:bodyPr>
                <a:normAutofit fontScale="92500" lnSpcReduction="10000"/>
              </a:bodyPr>
              <a:lstStyle/>
              <a:p>
                <a:pPr marL="0" lvl="0" indent="0">
                  <a:buNone/>
                </a:pPr>
                <a:r>
                  <a:rPr dirty="0"/>
                  <a:t>When observations are paired, we cannot use the two-sample t-test (assumption of independent observations in both groups not met). However, we can compute the pairwise difference and do a one-sample t-test to test the null hypothesis that the mean of these pairwise differences is 0.</a:t>
                </a:r>
              </a:p>
              <a:p>
                <a:pPr marL="0" lvl="0" indent="0">
                  <a:buNone/>
                </a:pPr>
                <a14:m>
                  <m:oMathPara xmlns:m="http://schemas.openxmlformats.org/officeDocument/2006/math">
                    <m:oMathParaPr>
                      <m:jc m:val="center"/>
                    </m:oMathParaPr>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𝐻</m:t>
                          </m:r>
                        </m:e>
                        <m:sub>
                          <m:r>
                            <a:rPr>
                              <a:latin typeface="Cambria Math" panose="02040503050406030204" pitchFamily="18" charset="0"/>
                            </a:rPr>
                            <m:t>0</m:t>
                          </m:r>
                        </m:sub>
                      </m:sSub>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𝜇</m:t>
                          </m:r>
                        </m:e>
                        <m:sub>
                          <m:r>
                            <a:rPr>
                              <a:latin typeface="Cambria Math" panose="02040503050406030204" pitchFamily="18" charset="0"/>
                            </a:rPr>
                            <m:t>1</m:t>
                          </m:r>
                        </m:sub>
                      </m:sSub>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𝜇</m:t>
                          </m:r>
                        </m:e>
                        <m:sub>
                          <m:r>
                            <a:rPr>
                              <a:latin typeface="Cambria Math" panose="02040503050406030204" pitchFamily="18" charset="0"/>
                            </a:rPr>
                            <m:t>2</m:t>
                          </m:r>
                        </m:sub>
                      </m:sSub>
                    </m:oMath>
                  </m:oMathPara>
                </a14:m>
                <a:endParaRPr dirty="0"/>
              </a:p>
              <a:p>
                <a:pPr marL="0" lvl="0" indent="0">
                  <a:buNone/>
                </a:pPr>
                <a14:m>
                  <m:oMathPara xmlns:m="http://schemas.openxmlformats.org/officeDocument/2006/math">
                    <m:oMathParaPr>
                      <m:jc m:val="center"/>
                    </m:oMathParaPr>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𝐻</m:t>
                          </m:r>
                        </m:e>
                        <m:sub>
                          <m:r>
                            <a:rPr>
                              <a:latin typeface="Cambria Math" panose="02040503050406030204" pitchFamily="18" charset="0"/>
                            </a:rPr>
                            <m:t>1</m:t>
                          </m:r>
                        </m:sub>
                      </m:sSub>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𝜇</m:t>
                          </m:r>
                        </m:e>
                        <m:sub>
                          <m:r>
                            <a:rPr>
                              <a:latin typeface="Cambria Math" panose="02040503050406030204" pitchFamily="18" charset="0"/>
                            </a:rPr>
                            <m:t>1</m:t>
                          </m:r>
                        </m:sub>
                      </m:sSub>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𝜇</m:t>
                          </m:r>
                        </m:e>
                        <m:sub>
                          <m:r>
                            <a:rPr>
                              <a:latin typeface="Cambria Math" panose="02040503050406030204" pitchFamily="18" charset="0"/>
                            </a:rPr>
                            <m:t>2</m:t>
                          </m:r>
                        </m:sub>
                      </m:sSub>
                    </m:oMath>
                  </m:oMathPara>
                </a14:m>
                <a:endParaRPr dirty="0"/>
              </a:p>
              <a:p>
                <a:pPr lvl="0" indent="0">
                  <a:buNone/>
                </a:pPr>
                <a:r>
                  <a:rPr dirty="0" err="1">
                    <a:solidFill>
                      <a:srgbClr val="06287E"/>
                    </a:solidFill>
                    <a:latin typeface="Courier"/>
                  </a:rPr>
                  <a:t>t.test</a:t>
                </a:r>
                <a:r>
                  <a:rPr dirty="0">
                    <a:latin typeface="Courier"/>
                  </a:rPr>
                  <a:t>(df1</a:t>
                </a:r>
                <a:r>
                  <a:rPr dirty="0">
                    <a:solidFill>
                      <a:srgbClr val="4070A0"/>
                    </a:solidFill>
                    <a:latin typeface="Courier"/>
                  </a:rPr>
                  <a:t>$</a:t>
                </a:r>
                <a:r>
                  <a:rPr dirty="0">
                    <a:latin typeface="Courier"/>
                  </a:rPr>
                  <a:t>cd41,df1</a:t>
                </a:r>
                <a:r>
                  <a:rPr dirty="0">
                    <a:solidFill>
                      <a:srgbClr val="4070A0"/>
                    </a:solidFill>
                    <a:latin typeface="Courier"/>
                  </a:rPr>
                  <a:t>$</a:t>
                </a:r>
                <a:r>
                  <a:rPr dirty="0">
                    <a:latin typeface="Courier"/>
                  </a:rPr>
                  <a:t>cd42,</a:t>
                </a:r>
                <a:r>
                  <a:rPr dirty="0">
                    <a:solidFill>
                      <a:srgbClr val="7D9029"/>
                    </a:solidFill>
                    <a:latin typeface="Courier"/>
                  </a:rPr>
                  <a:t>paired =</a:t>
                </a:r>
                <a:r>
                  <a:rPr dirty="0">
                    <a:latin typeface="Courier"/>
                  </a:rPr>
                  <a:t> </a:t>
                </a:r>
                <a:r>
                  <a:rPr dirty="0">
                    <a:solidFill>
                      <a:srgbClr val="880000"/>
                    </a:solidFill>
                    <a:latin typeface="Courier"/>
                  </a:rPr>
                  <a:t>TRUE</a:t>
                </a:r>
                <a:r>
                  <a:rPr dirty="0">
                    <a:latin typeface="Courier"/>
                  </a:rPr>
                  <a:t>)</a:t>
                </a:r>
                <a:br>
                  <a:rPr dirty="0"/>
                </a:br>
                <a:r>
                  <a:rPr i="1" dirty="0">
                    <a:solidFill>
                      <a:srgbClr val="BA2121"/>
                    </a:solidFill>
                    <a:latin typeface="Courier"/>
                  </a:rPr>
                  <a:t>## </a:t>
                </a:r>
                <a:br>
                  <a:rPr dirty="0"/>
                </a:br>
                <a:r>
                  <a:rPr i="1" dirty="0">
                    <a:solidFill>
                      <a:srgbClr val="BA2121"/>
                    </a:solidFill>
                    <a:latin typeface="Courier"/>
                  </a:rPr>
                  <a:t>##  Paired t-test</a:t>
                </a:r>
                <a:br>
                  <a:rPr dirty="0"/>
                </a:br>
                <a:r>
                  <a:rPr i="1" dirty="0">
                    <a:solidFill>
                      <a:srgbClr val="BA2121"/>
                    </a:solidFill>
                    <a:latin typeface="Courier"/>
                  </a:rPr>
                  <a:t>## </a:t>
                </a:r>
                <a:br>
                  <a:rPr dirty="0"/>
                </a:br>
                <a:r>
                  <a:rPr i="1" dirty="0">
                    <a:solidFill>
                      <a:srgbClr val="BA2121"/>
                    </a:solidFill>
                    <a:latin typeface="Courier"/>
                  </a:rPr>
                  <a:t>## data:  df1$cd41 and df1$cd42</a:t>
                </a:r>
                <a:br>
                  <a:rPr dirty="0"/>
                </a:br>
                <a:r>
                  <a:rPr i="1" dirty="0">
                    <a:solidFill>
                      <a:srgbClr val="BA2121"/>
                    </a:solidFill>
                    <a:latin typeface="Courier"/>
                  </a:rPr>
                  <a:t>## t = -98.346, </a:t>
                </a:r>
                <a:r>
                  <a:rPr i="1" dirty="0" err="1">
                    <a:solidFill>
                      <a:srgbClr val="BA2121"/>
                    </a:solidFill>
                    <a:latin typeface="Courier"/>
                  </a:rPr>
                  <a:t>df</a:t>
                </a:r>
                <a:r>
                  <a:rPr i="1" dirty="0">
                    <a:solidFill>
                      <a:srgbClr val="BA2121"/>
                    </a:solidFill>
                    <a:latin typeface="Courier"/>
                  </a:rPr>
                  <a:t> = 2999, p-value &lt; 2.2e-16</a:t>
                </a:r>
                <a:br>
                  <a:rPr dirty="0"/>
                </a:br>
                <a:r>
                  <a:rPr i="1" dirty="0">
                    <a:solidFill>
                      <a:srgbClr val="BA2121"/>
                    </a:solidFill>
                    <a:latin typeface="Courier"/>
                  </a:rPr>
                  <a:t>## alternative hypothesis: true mean difference is not equal to 0</a:t>
                </a:r>
                <a:br>
                  <a:rPr dirty="0"/>
                </a:br>
                <a:r>
                  <a:rPr i="1" dirty="0">
                    <a:solidFill>
                      <a:srgbClr val="BA2121"/>
                    </a:solidFill>
                    <a:latin typeface="Courier"/>
                  </a:rPr>
                  <a:t>## 95 percent confidence interval:</a:t>
                </a:r>
                <a:br>
                  <a:rPr dirty="0"/>
                </a:br>
                <a:r>
                  <a:rPr i="1" dirty="0">
                    <a:solidFill>
                      <a:srgbClr val="BA2121"/>
                    </a:solidFill>
                    <a:latin typeface="Courier"/>
                  </a:rPr>
                  <a:t>##  -203.1804 -195.2370</a:t>
                </a:r>
                <a:br>
                  <a:rPr dirty="0"/>
                </a:br>
                <a:r>
                  <a:rPr i="1" dirty="0">
                    <a:solidFill>
                      <a:srgbClr val="BA2121"/>
                    </a:solidFill>
                    <a:latin typeface="Courier"/>
                  </a:rPr>
                  <a:t>## sample estimates:</a:t>
                </a:r>
                <a:br>
                  <a:rPr dirty="0"/>
                </a:br>
                <a:r>
                  <a:rPr i="1" dirty="0">
                    <a:solidFill>
                      <a:srgbClr val="BA2121"/>
                    </a:solidFill>
                    <a:latin typeface="Courier"/>
                  </a:rPr>
                  <a:t>## mean difference </a:t>
                </a:r>
                <a:br>
                  <a:rPr dirty="0"/>
                </a:br>
                <a:r>
                  <a:rPr i="1" dirty="0">
                    <a:solidFill>
                      <a:srgbClr val="BA2121"/>
                    </a:solidFill>
                    <a:latin typeface="Courier"/>
                  </a:rPr>
                  <a:t>##       -199.2087</a:t>
                </a:r>
              </a:p>
            </p:txBody>
          </p:sp>
        </mc:Choice>
        <mc:Fallback>
          <p:sp>
            <p:nvSpPr>
              <p:cNvPr id="3" name="Content Placeholder 2">
                <a:extLst>
                  <a:ext uri="{FF2B5EF4-FFF2-40B4-BE49-F238E27FC236}">
                    <a16:creationId xmlns:a16="http://schemas.microsoft.com/office/drawing/2014/main" id="{288BC91F-1C76-43AE-8B2A-956D48B768BE}"/>
                  </a:ext>
                </a:extLst>
              </p:cNvPr>
              <p:cNvSpPr>
                <a:spLocks noGrp="1" noRot="1" noChangeAspect="1" noMove="1" noResize="1" noEditPoints="1" noAdjustHandles="1" noChangeArrowheads="1" noChangeShapeType="1" noTextEdit="1"/>
              </p:cNvSpPr>
              <p:nvPr>
                <p:ph idx="1"/>
              </p:nvPr>
            </p:nvSpPr>
            <p:spPr>
              <a:xfrm>
                <a:off x="838200" y="1690688"/>
                <a:ext cx="10515600" cy="4667250"/>
              </a:xfrm>
              <a:blipFill>
                <a:blip r:embed="rId2"/>
                <a:stretch>
                  <a:fillRect l="-638" t="-1828"/>
                </a:stretch>
              </a:blipFill>
            </p:spPr>
            <p:txBody>
              <a:bodyPr/>
              <a:lstStyle/>
              <a:p>
                <a:r>
                  <a:rPr lang="en-US">
                    <a:noFill/>
                  </a:rPr>
                  <a:t> </a:t>
                </a:r>
              </a:p>
            </p:txBody>
          </p:sp>
        </mc:Fallback>
      </mc:AlternateContent>
      <p:sp>
        <p:nvSpPr>
          <p:cNvPr id="6" name="Slide Number Placeholder 5">
            <a:extLst>
              <a:ext uri="{FF2B5EF4-FFF2-40B4-BE49-F238E27FC236}">
                <a16:creationId xmlns:a16="http://schemas.microsoft.com/office/drawing/2014/main" id="{C03F998A-2A5E-471F-9FEB-2559B0A7F93D}"/>
              </a:ext>
            </a:extLst>
          </p:cNvPr>
          <p:cNvSpPr>
            <a:spLocks noGrp="1"/>
          </p:cNvSpPr>
          <p:nvPr>
            <p:ph type="sldNum" sz="quarter" idx="12"/>
          </p:nvPr>
        </p:nvSpPr>
        <p:spPr/>
        <p:txBody>
          <a:bodyPr/>
          <a:lstStyle/>
          <a:p>
            <a:fld id="{E1C5CB42-CF14-4293-8971-6DCD1AAE8BE7}" type="slidenum">
              <a:rPr lang="en-GB" smtClean="0"/>
              <a:t>52</a:t>
            </a:fld>
            <a:endParaRPr lang="en-GB"/>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marL="0" lvl="0" indent="0">
              <a:buNone/>
            </a:pPr>
            <a:r>
              <a:t>Comparing means - &gt;2 groups</a:t>
            </a:r>
          </a:p>
        </p:txBody>
      </p:sp>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p:txBody>
          <a:bodyPr/>
          <a:lstStyle/>
          <a:p>
            <a:pPr lvl="0"/>
            <a:r>
              <a:t>Sometimes we want to compare means of a variable across more than 2 groups.</a:t>
            </a:r>
          </a:p>
          <a:p>
            <a:pPr lvl="0"/>
            <a:r>
              <a:t>For example, we might want to compare the mean CD4 among 5 hospitals.</a:t>
            </a:r>
          </a:p>
          <a:p>
            <a:pPr lvl="0"/>
            <a:r>
              <a:t>Use one way analysis of variance (ANOVA).</a:t>
            </a:r>
          </a:p>
          <a:p>
            <a:pPr lvl="0"/>
            <a:r>
              <a:t>Compares the between groups variation to the within groups variation: if the former is larger than the latter, the group means cannot all be the same.</a:t>
            </a:r>
          </a:p>
          <a:p>
            <a:pPr lvl="0"/>
            <a:r>
              <a:t>Based on assumptions:</a:t>
            </a:r>
          </a:p>
          <a:p>
            <a:pPr lvl="1"/>
            <a:r>
              <a:t>Data in each group are approximately normally distributed (CLT applies again, but a bit more complicated than in the t-test case).</a:t>
            </a:r>
          </a:p>
          <a:p>
            <a:pPr lvl="1"/>
            <a:r>
              <a:t>Equal variation within groups.</a:t>
            </a:r>
          </a:p>
          <a:p>
            <a:pPr lvl="1"/>
            <a:r>
              <a:t>Independent and identically distributed variables.</a:t>
            </a:r>
          </a:p>
        </p:txBody>
      </p:sp>
      <p:sp>
        <p:nvSpPr>
          <p:cNvPr id="6" name="Slide Number Placeholder 5">
            <a:extLst>
              <a:ext uri="{FF2B5EF4-FFF2-40B4-BE49-F238E27FC236}">
                <a16:creationId xmlns:a16="http://schemas.microsoft.com/office/drawing/2014/main" id="{C03F998A-2A5E-471F-9FEB-2559B0A7F93D}"/>
              </a:ext>
            </a:extLst>
          </p:cNvPr>
          <p:cNvSpPr>
            <a:spLocks noGrp="1"/>
          </p:cNvSpPr>
          <p:nvPr>
            <p:ph type="sldNum" sz="quarter" idx="12"/>
          </p:nvPr>
        </p:nvSpPr>
        <p:spPr/>
        <p:txBody>
          <a:bodyPr/>
          <a:lstStyle/>
          <a:p>
            <a:fld id="{E1C5CB42-CF14-4293-8971-6DCD1AAE8BE7}" type="slidenum">
              <a:rPr lang="en-GB" smtClean="0"/>
              <a:t>53</a:t>
            </a:fld>
            <a:endParaRPr lang="en-GB"/>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marL="0" lvl="0" indent="0">
              <a:buNone/>
            </a:pPr>
            <a:r>
              <a:t>One-way ANOVA</a:t>
            </a:r>
          </a:p>
        </p:txBody>
      </p:sp>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p:txBody>
          <a:bodyPr/>
          <a:lstStyle/>
          <a:p>
            <a:pPr marL="0" lvl="0" indent="0">
              <a:buNone/>
            </a:pPr>
            <a:r>
              <a:t>A total of 3000 study participants were recruited in 5 hospitals providing ART. Each participant’s CD4 count upon entry into study was measured. We would like to investigate whether there is a difference in mean CD4 count at the entry into the study across the 5 participating facilities. State the hypothesis to be tested.</a:t>
            </a:r>
          </a:p>
        </p:txBody>
      </p:sp>
      <p:sp>
        <p:nvSpPr>
          <p:cNvPr id="6" name="Slide Number Placeholder 5">
            <a:extLst>
              <a:ext uri="{FF2B5EF4-FFF2-40B4-BE49-F238E27FC236}">
                <a16:creationId xmlns:a16="http://schemas.microsoft.com/office/drawing/2014/main" id="{C03F998A-2A5E-471F-9FEB-2559B0A7F93D}"/>
              </a:ext>
            </a:extLst>
          </p:cNvPr>
          <p:cNvSpPr>
            <a:spLocks noGrp="1"/>
          </p:cNvSpPr>
          <p:nvPr>
            <p:ph type="sldNum" sz="quarter" idx="12"/>
          </p:nvPr>
        </p:nvSpPr>
        <p:spPr/>
        <p:txBody>
          <a:bodyPr/>
          <a:lstStyle/>
          <a:p>
            <a:fld id="{E1C5CB42-CF14-4293-8971-6DCD1AAE8BE7}" type="slidenum">
              <a:rPr lang="en-GB" smtClean="0"/>
              <a:t>54</a:t>
            </a:fld>
            <a:endParaRPr lang="en-GB"/>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marL="0" lvl="0" indent="0">
              <a:buNone/>
            </a:pPr>
            <a:r>
              <a:t>One-way ANOVA</a:t>
            </a:r>
          </a:p>
        </p:txBody>
      </p:sp>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p:txBody>
          <a:bodyPr/>
          <a:lstStyle/>
          <a:p>
            <a:pPr marL="0" lvl="0" indent="0">
              <a:buNone/>
            </a:pPr>
            <a14:m xmlns:a14="http://schemas.microsoft.com/office/drawing/2010/main">
              <m:oMathPara xmlns:m="http://schemas.openxmlformats.org/officeDocument/2006/math">
                <m:oMathParaPr>
                  <m:jc m:val="center"/>
                </m:oMathParaPr>
                <m:oMath xmlns:m="http://schemas.openxmlformats.org/officeDocument/2006/math">
                  <m:m>
                    <m:mPr>
                      <m:plcHide m:val="on"/>
                      <m:mcs>
                        <m:mc>
                          <m:mcPr>
                            <m:count m:val="3"/>
                            <m:mcJc m:val="center"/>
                          </m:mcPr>
                        </m:mc>
                      </m:mcs>
                      <m:ctrlPr>
                        <a:rPr>
                          <a:latin typeface="Cambria Math" panose="02040503050406030204" pitchFamily="18" charset="0"/>
                        </a:rPr>
                      </m:ctrlPr>
                    </m:mPr>
                    <m:mr>
                      <m:e>
                        <m:sSub>
                          <m:sSubPr>
                            <m:ctrlPr>
                              <a:rPr>
                                <a:latin typeface="Cambria Math" panose="02040503050406030204" pitchFamily="18" charset="0"/>
                              </a:rPr>
                            </m:ctrlPr>
                          </m:sSubPr>
                          <m:e>
                            <m:r>
                              <a:rPr>
                                <a:latin typeface="Cambria Math" panose="02040503050406030204" pitchFamily="18" charset="0"/>
                              </a:rPr>
                              <m:t>𝐻</m:t>
                            </m:r>
                          </m:e>
                          <m:sub>
                            <m:r>
                              <a:rPr>
                                <a:latin typeface="Cambria Math" panose="02040503050406030204" pitchFamily="18" charset="0"/>
                              </a:rPr>
                              <m:t>0</m:t>
                            </m:r>
                          </m:sub>
                        </m:sSub>
                        <m:r>
                          <a:rPr>
                            <a:latin typeface="Cambria Math" panose="02040503050406030204" pitchFamily="18" charset="0"/>
                          </a:rPr>
                          <m:t>:</m:t>
                        </m:r>
                      </m:e>
                      <m:e>
                        <m:r>
                          <a:rPr>
                            <a:latin typeface="Cambria Math" panose="02040503050406030204" pitchFamily="18" charset="0"/>
                          </a:rPr>
                          <m:t> </m:t>
                        </m:r>
                        <m:sSub>
                          <m:sSubPr>
                            <m:ctrlPr>
                              <a:rPr i="1">
                                <a:latin typeface="Cambria Math" panose="02040503050406030204" pitchFamily="18" charset="0"/>
                              </a:rPr>
                            </m:ctrlPr>
                          </m:sSubPr>
                          <m:e>
                            <m:r>
                              <a:rPr>
                                <a:latin typeface="Cambria Math" panose="02040503050406030204" pitchFamily="18" charset="0"/>
                              </a:rPr>
                              <m:t>𝜇</m:t>
                            </m:r>
                          </m:e>
                          <m:sub>
                            <m:r>
                              <a:rPr>
                                <a:latin typeface="Cambria Math" panose="02040503050406030204" pitchFamily="18" charset="0"/>
                              </a:rPr>
                              <m:t>1</m:t>
                            </m:r>
                          </m:sub>
                        </m:sSub>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𝜇</m:t>
                            </m:r>
                          </m:e>
                          <m:sub>
                            <m:r>
                              <a:rPr>
                                <a:latin typeface="Cambria Math" panose="02040503050406030204" pitchFamily="18" charset="0"/>
                              </a:rPr>
                              <m:t>2</m:t>
                            </m:r>
                          </m:sub>
                        </m:sSub>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𝜇</m:t>
                            </m:r>
                          </m:e>
                          <m:sub>
                            <m:r>
                              <a:rPr>
                                <a:latin typeface="Cambria Math" panose="02040503050406030204" pitchFamily="18" charset="0"/>
                              </a:rPr>
                              <m:t>3</m:t>
                            </m:r>
                          </m:sub>
                        </m:sSub>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𝜇</m:t>
                            </m:r>
                          </m:e>
                          <m:sub>
                            <m:r>
                              <a:rPr>
                                <a:latin typeface="Cambria Math" panose="02040503050406030204" pitchFamily="18" charset="0"/>
                              </a:rPr>
                              <m:t>4</m:t>
                            </m:r>
                          </m:sub>
                        </m:sSub>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𝜇</m:t>
                            </m:r>
                          </m:e>
                          <m:sub>
                            <m:r>
                              <a:rPr>
                                <a:latin typeface="Cambria Math" panose="02040503050406030204" pitchFamily="18" charset="0"/>
                              </a:rPr>
                              <m:t>5</m:t>
                            </m:r>
                          </m:sub>
                        </m:sSub>
                      </m:e>
                      <m:e/>
                    </m:mr>
                    <m:mr>
                      <m:e>
                        <m:sSub>
                          <m:sSubPr>
                            <m:ctrlPr>
                              <a:rPr i="1">
                                <a:latin typeface="Cambria Math" panose="02040503050406030204" pitchFamily="18" charset="0"/>
                              </a:rPr>
                            </m:ctrlPr>
                          </m:sSubPr>
                          <m:e>
                            <m:r>
                              <a:rPr>
                                <a:latin typeface="Cambria Math" panose="02040503050406030204" pitchFamily="18" charset="0"/>
                              </a:rPr>
                              <m:t>𝐻</m:t>
                            </m:r>
                          </m:e>
                          <m:sub>
                            <m:r>
                              <a:rPr>
                                <a:latin typeface="Cambria Math" panose="02040503050406030204" pitchFamily="18" charset="0"/>
                              </a:rPr>
                              <m:t>1</m:t>
                            </m:r>
                          </m:sub>
                        </m:sSub>
                        <m:r>
                          <a:rPr>
                            <a:latin typeface="Cambria Math" panose="02040503050406030204" pitchFamily="18" charset="0"/>
                          </a:rPr>
                          <m:t>:</m:t>
                        </m:r>
                      </m:e>
                      <m:e>
                        <m:r>
                          <a:rPr>
                            <a:latin typeface="Cambria Math" panose="02040503050406030204" pitchFamily="18" charset="0"/>
                          </a:rPr>
                          <m:t> </m:t>
                        </m:r>
                        <m:sSub>
                          <m:sSubPr>
                            <m:ctrlPr>
                              <a:rPr i="1">
                                <a:latin typeface="Cambria Math" panose="02040503050406030204" pitchFamily="18" charset="0"/>
                              </a:rPr>
                            </m:ctrlPr>
                          </m:sSubPr>
                          <m:e>
                            <m:r>
                              <a:rPr>
                                <a:latin typeface="Cambria Math" panose="02040503050406030204" pitchFamily="18" charset="0"/>
                              </a:rPr>
                              <m:t>𝜇</m:t>
                            </m:r>
                          </m:e>
                          <m:sub>
                            <m:r>
                              <a:rPr>
                                <a:latin typeface="Cambria Math" panose="02040503050406030204" pitchFamily="18" charset="0"/>
                              </a:rPr>
                              <m:t>𝑖</m:t>
                            </m:r>
                          </m:sub>
                        </m:sSub>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𝜇</m:t>
                            </m:r>
                          </m:e>
                          <m:sub>
                            <m:r>
                              <a:rPr>
                                <a:latin typeface="Cambria Math" panose="02040503050406030204" pitchFamily="18" charset="0"/>
                              </a:rPr>
                              <m:t>𝑗</m:t>
                            </m:r>
                          </m:sub>
                        </m:sSub>
                      </m:e>
                      <m:e>
                        <m:r>
                          <m:rPr>
                            <m:nor/>
                          </m:rPr>
                          <a:rPr/>
                          <m:t>for</m:t>
                        </m:r>
                        <m:r>
                          <m:rPr>
                            <m:nor/>
                          </m:rPr>
                          <a:rPr/>
                          <m:t> </m:t>
                        </m:r>
                        <m:r>
                          <m:rPr>
                            <m:nor/>
                          </m:rPr>
                          <a:rPr/>
                          <m:t>some</m:t>
                        </m:r>
                        <m:r>
                          <m:rPr>
                            <m:nor/>
                          </m:rPr>
                          <a:rPr/>
                          <m:t> </m:t>
                        </m:r>
                        <m:r>
                          <a:rPr>
                            <a:latin typeface="Cambria Math" panose="02040503050406030204" pitchFamily="18" charset="0"/>
                          </a:rPr>
                          <m:t>𝑖</m:t>
                        </m:r>
                        <m:r>
                          <a:rPr>
                            <a:latin typeface="Cambria Math" panose="02040503050406030204" pitchFamily="18" charset="0"/>
                          </a:rPr>
                          <m:t>,</m:t>
                        </m:r>
                        <m:r>
                          <a:rPr>
                            <a:latin typeface="Cambria Math" panose="02040503050406030204" pitchFamily="18" charset="0"/>
                          </a:rPr>
                          <m:t>𝑗</m:t>
                        </m:r>
                      </m:e>
                    </m:mr>
                  </m:m>
                </m:oMath>
              </m:oMathPara>
            </a14:m>
            <a:endParaRPr/>
          </a:p>
          <a:p>
            <a:pPr lvl="0" indent="0">
              <a:buNone/>
            </a:pPr>
            <a:r>
              <a:rPr>
                <a:solidFill>
                  <a:srgbClr val="06287E"/>
                </a:solidFill>
                <a:latin typeface="Courier"/>
              </a:rPr>
              <a:t>oneway.test</a:t>
            </a:r>
            <a:r>
              <a:rPr>
                <a:latin typeface="Courier"/>
              </a:rPr>
              <a:t>(cd41 </a:t>
            </a:r>
            <a:r>
              <a:rPr>
                <a:solidFill>
                  <a:srgbClr val="4070A0"/>
                </a:solidFill>
                <a:latin typeface="Courier"/>
              </a:rPr>
              <a:t>~</a:t>
            </a:r>
            <a:r>
              <a:rPr>
                <a:latin typeface="Courier"/>
              </a:rPr>
              <a:t> hosp, </a:t>
            </a:r>
            <a:r>
              <a:rPr>
                <a:solidFill>
                  <a:srgbClr val="7D9029"/>
                </a:solidFill>
                <a:latin typeface="Courier"/>
              </a:rPr>
              <a:t>data =</a:t>
            </a:r>
            <a:r>
              <a:rPr>
                <a:latin typeface="Courier"/>
              </a:rPr>
              <a:t> df1)</a:t>
            </a:r>
            <a:br/>
            <a:r>
              <a:rPr i="1">
                <a:solidFill>
                  <a:srgbClr val="BA2121"/>
                </a:solidFill>
                <a:latin typeface="Courier"/>
              </a:rPr>
              <a:t>## </a:t>
            </a:r>
            <a:br/>
            <a:r>
              <a:rPr i="1">
                <a:solidFill>
                  <a:srgbClr val="BA2121"/>
                </a:solidFill>
                <a:latin typeface="Courier"/>
              </a:rPr>
              <a:t>##  One-way analysis of means (not assuming equal variances)</a:t>
            </a:r>
            <a:br/>
            <a:r>
              <a:rPr i="1">
                <a:solidFill>
                  <a:srgbClr val="BA2121"/>
                </a:solidFill>
                <a:latin typeface="Courier"/>
              </a:rPr>
              <a:t>## </a:t>
            </a:r>
            <a:br/>
            <a:r>
              <a:rPr i="1">
                <a:solidFill>
                  <a:srgbClr val="BA2121"/>
                </a:solidFill>
                <a:latin typeface="Courier"/>
              </a:rPr>
              <a:t>## data:  cd41 and hosp</a:t>
            </a:r>
            <a:br/>
            <a:r>
              <a:rPr i="1">
                <a:solidFill>
                  <a:srgbClr val="BA2121"/>
                </a:solidFill>
                <a:latin typeface="Courier"/>
              </a:rPr>
              <a:t>## F = 0.22905, num df = 4, denom df = 1496, p-value = 0.9222</a:t>
            </a:r>
          </a:p>
        </p:txBody>
      </p:sp>
      <p:sp>
        <p:nvSpPr>
          <p:cNvPr id="6" name="Slide Number Placeholder 5">
            <a:extLst>
              <a:ext uri="{FF2B5EF4-FFF2-40B4-BE49-F238E27FC236}">
                <a16:creationId xmlns:a16="http://schemas.microsoft.com/office/drawing/2014/main" id="{C03F998A-2A5E-471F-9FEB-2559B0A7F93D}"/>
              </a:ext>
            </a:extLst>
          </p:cNvPr>
          <p:cNvSpPr>
            <a:spLocks noGrp="1"/>
          </p:cNvSpPr>
          <p:nvPr>
            <p:ph type="sldNum" sz="quarter" idx="12"/>
          </p:nvPr>
        </p:nvSpPr>
        <p:spPr/>
        <p:txBody>
          <a:bodyPr/>
          <a:lstStyle/>
          <a:p>
            <a:fld id="{E1C5CB42-CF14-4293-8971-6DCD1AAE8BE7}" type="slidenum">
              <a:rPr lang="en-GB" smtClean="0"/>
              <a:t>55</a:t>
            </a:fld>
            <a:endParaRPr lang="en-GB"/>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marL="0" lvl="0" indent="0">
              <a:buNone/>
            </a:pPr>
            <a:r>
              <a:t>One-way ANOVA</a:t>
            </a:r>
          </a:p>
        </p:txBody>
      </p:sp>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p:txBody>
          <a:bodyPr/>
          <a:lstStyle/>
          <a:p>
            <a:pPr lvl="0" indent="0">
              <a:buNone/>
            </a:pPr>
            <a:r>
              <a:rPr>
                <a:latin typeface="Courier"/>
              </a:rPr>
              <a:t>res.hosp </a:t>
            </a:r>
            <a:r>
              <a:rPr>
                <a:solidFill>
                  <a:srgbClr val="007020"/>
                </a:solidFill>
                <a:latin typeface="Courier"/>
              </a:rPr>
              <a:t>&lt;-</a:t>
            </a:r>
            <a:r>
              <a:rPr>
                <a:latin typeface="Courier"/>
              </a:rPr>
              <a:t> </a:t>
            </a:r>
            <a:r>
              <a:rPr>
                <a:solidFill>
                  <a:srgbClr val="06287E"/>
                </a:solidFill>
                <a:latin typeface="Courier"/>
              </a:rPr>
              <a:t>aov</a:t>
            </a:r>
            <a:r>
              <a:rPr>
                <a:latin typeface="Courier"/>
              </a:rPr>
              <a:t>(cd41 </a:t>
            </a:r>
            <a:r>
              <a:rPr>
                <a:solidFill>
                  <a:srgbClr val="4070A0"/>
                </a:solidFill>
                <a:latin typeface="Courier"/>
              </a:rPr>
              <a:t>~</a:t>
            </a:r>
            <a:r>
              <a:rPr>
                <a:latin typeface="Courier"/>
              </a:rPr>
              <a:t> </a:t>
            </a:r>
            <a:r>
              <a:rPr>
                <a:solidFill>
                  <a:srgbClr val="06287E"/>
                </a:solidFill>
                <a:latin typeface="Courier"/>
              </a:rPr>
              <a:t>factor</a:t>
            </a:r>
            <a:r>
              <a:rPr>
                <a:latin typeface="Courier"/>
              </a:rPr>
              <a:t>(hosp), </a:t>
            </a:r>
            <a:r>
              <a:rPr>
                <a:solidFill>
                  <a:srgbClr val="7D9029"/>
                </a:solidFill>
                <a:latin typeface="Courier"/>
              </a:rPr>
              <a:t>data =</a:t>
            </a:r>
            <a:r>
              <a:rPr>
                <a:latin typeface="Courier"/>
              </a:rPr>
              <a:t> df1)</a:t>
            </a:r>
            <a:br/>
            <a:r>
              <a:rPr>
                <a:solidFill>
                  <a:srgbClr val="06287E"/>
                </a:solidFill>
                <a:latin typeface="Courier"/>
              </a:rPr>
              <a:t>summary</a:t>
            </a:r>
            <a:r>
              <a:rPr>
                <a:latin typeface="Courier"/>
              </a:rPr>
              <a:t>(res.hosp)</a:t>
            </a:r>
            <a:br/>
            <a:r>
              <a:rPr i="1">
                <a:solidFill>
                  <a:srgbClr val="BA2121"/>
                </a:solidFill>
                <a:latin typeface="Courier"/>
              </a:rPr>
              <a:t>##                Df  Sum Sq Mean Sq F value Pr(&gt;F)</a:t>
            </a:r>
            <a:br/>
            <a:r>
              <a:rPr i="1">
                <a:solidFill>
                  <a:srgbClr val="BA2121"/>
                </a:solidFill>
                <a:latin typeface="Courier"/>
              </a:rPr>
              <a:t>## factor(hosp)    4    2204   551.1   0.229  0.922</a:t>
            </a:r>
            <a:br/>
            <a:r>
              <a:rPr i="1">
                <a:solidFill>
                  <a:srgbClr val="BA2121"/>
                </a:solidFill>
                <a:latin typeface="Courier"/>
              </a:rPr>
              <a:t>## Residuals    2995 7194212  2402.1</a:t>
            </a:r>
          </a:p>
        </p:txBody>
      </p:sp>
      <p:sp>
        <p:nvSpPr>
          <p:cNvPr id="6" name="Slide Number Placeholder 5">
            <a:extLst>
              <a:ext uri="{FF2B5EF4-FFF2-40B4-BE49-F238E27FC236}">
                <a16:creationId xmlns:a16="http://schemas.microsoft.com/office/drawing/2014/main" id="{C03F998A-2A5E-471F-9FEB-2559B0A7F93D}"/>
              </a:ext>
            </a:extLst>
          </p:cNvPr>
          <p:cNvSpPr>
            <a:spLocks noGrp="1"/>
          </p:cNvSpPr>
          <p:nvPr>
            <p:ph type="sldNum" sz="quarter" idx="12"/>
          </p:nvPr>
        </p:nvSpPr>
        <p:spPr/>
        <p:txBody>
          <a:bodyPr/>
          <a:lstStyle/>
          <a:p>
            <a:fld id="{E1C5CB42-CF14-4293-8971-6DCD1AAE8BE7}" type="slidenum">
              <a:rPr lang="en-GB" smtClean="0"/>
              <a:t>56</a:t>
            </a:fld>
            <a:endParaRPr lang="en-GB"/>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marL="0" lvl="0" indent="0">
              <a:buNone/>
            </a:pPr>
            <a:r>
              <a:t>Comparing proportions: one sample</a:t>
            </a:r>
          </a:p>
        </p:txBody>
      </p:sp>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p:txBody>
          <a:bodyPr/>
          <a:lstStyle/>
          <a:p>
            <a:pPr marL="0" lvl="0" indent="0">
              <a:buNone/>
            </a:pPr>
            <a:r>
              <a:t>When we estimate a proportion (e.g. a prevalence) in a study population, and then want to test the null hypothesis that this proportion is equal to a specific a prior known proportion, we can proceed in 2 ways:</a:t>
            </a:r>
          </a:p>
          <a:p>
            <a:pPr marL="0" lvl="0" indent="0">
              <a:buNone/>
            </a:pPr>
            <a14:m xmlns:a14="http://schemas.microsoft.com/office/drawing/2010/main">
              <m:oMathPara xmlns:m="http://schemas.openxmlformats.org/officeDocument/2006/math">
                <m:oMathParaPr>
                  <m:jc m:val="center"/>
                </m:oMathParaPr>
                <m:oMath xmlns:m="http://schemas.openxmlformats.org/officeDocument/2006/math">
                  <m:r>
                    <a:rPr>
                      <a:latin typeface="Cambria Math" panose="02040503050406030204" pitchFamily="18" charset="0"/>
                    </a:rPr>
                    <m:t> </m:t>
                  </m:r>
                </m:oMath>
              </m:oMathPara>
            </a14:m>
            <a:endParaRPr/>
          </a:p>
          <a:p>
            <a:pPr marL="457200" lvl="0" indent="-457200">
              <a:buAutoNum type="arabicPeriod"/>
            </a:pPr>
            <a:r>
              <a:t>Use a normal approximation test - </a:t>
            </a:r>
            <a:r>
              <a:rPr>
                <a:latin typeface="Courier"/>
              </a:rPr>
              <a:t>prop.test()</a:t>
            </a:r>
            <a:r>
              <a:t> in R.</a:t>
            </a:r>
          </a:p>
          <a:p>
            <a:pPr marL="457200" lvl="0" indent="-457200">
              <a:buAutoNum type="arabicPeriod"/>
            </a:pPr>
            <a:r>
              <a:t>Use an exact binomial test - </a:t>
            </a:r>
            <a:r>
              <a:rPr>
                <a:latin typeface="Courier"/>
              </a:rPr>
              <a:t>binom.test()</a:t>
            </a:r>
            <a:r>
              <a:t> in R.</a:t>
            </a:r>
          </a:p>
          <a:p>
            <a:pPr marL="0" lvl="0" indent="0">
              <a:buNone/>
            </a:pPr>
            <a14:m xmlns:a14="http://schemas.microsoft.com/office/drawing/2010/main">
              <m:oMathPara xmlns:m="http://schemas.openxmlformats.org/officeDocument/2006/math">
                <m:oMathParaPr>
                  <m:jc m:val="center"/>
                </m:oMathParaPr>
                <m:oMath xmlns:m="http://schemas.openxmlformats.org/officeDocument/2006/math">
                  <m:r>
                    <a:rPr>
                      <a:latin typeface="Cambria Math" panose="02040503050406030204" pitchFamily="18" charset="0"/>
                    </a:rPr>
                    <m:t> </m:t>
                  </m:r>
                </m:oMath>
              </m:oMathPara>
            </a14:m>
            <a:endParaRPr/>
          </a:p>
          <a:p>
            <a:pPr marL="0" lvl="0" indent="0">
              <a:buNone/>
            </a:pPr>
            <a:r>
              <a:t>The null and alternative hypotheses are the same for both tests. For example for a two-sided alternative:</a:t>
            </a:r>
          </a:p>
          <a:p>
            <a:pPr marL="0" lvl="0" indent="0">
              <a:buNone/>
            </a:pPr>
            <a14:m xmlns:a14="http://schemas.microsoft.com/office/drawing/2010/main">
              <m:oMathPara xmlns:m="http://schemas.openxmlformats.org/officeDocument/2006/math">
                <m:oMathParaPr>
                  <m:jc m:val="center"/>
                </m:oMathParaPr>
                <m:oMath xmlns:m="http://schemas.openxmlformats.org/officeDocument/2006/math">
                  <m:m>
                    <m:mPr>
                      <m:plcHide m:val="on"/>
                      <m:mcs>
                        <m:mc>
                          <m:mcPr>
                            <m:count m:val="2"/>
                            <m:mcJc m:val="center"/>
                          </m:mcPr>
                        </m:mc>
                      </m:mcs>
                      <m:ctrlPr>
                        <a:rPr>
                          <a:latin typeface="Cambria Math" panose="02040503050406030204" pitchFamily="18" charset="0"/>
                        </a:rPr>
                      </m:ctrlPr>
                    </m:mPr>
                    <m:mr>
                      <m:e>
                        <m:sSub>
                          <m:sSubPr>
                            <m:ctrlPr>
                              <a:rPr>
                                <a:latin typeface="Cambria Math" panose="02040503050406030204" pitchFamily="18" charset="0"/>
                              </a:rPr>
                            </m:ctrlPr>
                          </m:sSubPr>
                          <m:e>
                            <m:r>
                              <a:rPr>
                                <a:latin typeface="Cambria Math" panose="02040503050406030204" pitchFamily="18" charset="0"/>
                              </a:rPr>
                              <m:t>𝐻</m:t>
                            </m:r>
                          </m:e>
                          <m:sub>
                            <m:r>
                              <a:rPr>
                                <a:latin typeface="Cambria Math" panose="02040503050406030204" pitchFamily="18" charset="0"/>
                              </a:rPr>
                              <m:t>0</m:t>
                            </m:r>
                          </m:sub>
                        </m:sSub>
                        <m:r>
                          <a:rPr>
                            <a:latin typeface="Cambria Math" panose="02040503050406030204" pitchFamily="18" charset="0"/>
                          </a:rPr>
                          <m:t>:</m:t>
                        </m:r>
                      </m:e>
                      <m:e>
                        <m:r>
                          <a:rPr>
                            <a:latin typeface="Cambria Math" panose="02040503050406030204" pitchFamily="18" charset="0"/>
                          </a:rPr>
                          <m:t> </m:t>
                        </m:r>
                        <m:r>
                          <a:rPr>
                            <a:latin typeface="Cambria Math" panose="02040503050406030204" pitchFamily="18" charset="0"/>
                          </a:rPr>
                          <m:t>𝑝</m:t>
                        </m:r>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𝑝</m:t>
                            </m:r>
                          </m:e>
                          <m:sub>
                            <m:r>
                              <a:rPr>
                                <a:latin typeface="Cambria Math" panose="02040503050406030204" pitchFamily="18" charset="0"/>
                              </a:rPr>
                              <m:t>0</m:t>
                            </m:r>
                          </m:sub>
                        </m:sSub>
                      </m:e>
                    </m:mr>
                    <m:mr>
                      <m:e>
                        <m:sSub>
                          <m:sSubPr>
                            <m:ctrlPr>
                              <a:rPr i="1">
                                <a:latin typeface="Cambria Math" panose="02040503050406030204" pitchFamily="18" charset="0"/>
                              </a:rPr>
                            </m:ctrlPr>
                          </m:sSubPr>
                          <m:e>
                            <m:r>
                              <a:rPr>
                                <a:latin typeface="Cambria Math" panose="02040503050406030204" pitchFamily="18" charset="0"/>
                              </a:rPr>
                              <m:t>𝐻</m:t>
                            </m:r>
                          </m:e>
                          <m:sub>
                            <m:r>
                              <a:rPr>
                                <a:latin typeface="Cambria Math" panose="02040503050406030204" pitchFamily="18" charset="0"/>
                              </a:rPr>
                              <m:t>1</m:t>
                            </m:r>
                          </m:sub>
                        </m:sSub>
                        <m:r>
                          <a:rPr>
                            <a:latin typeface="Cambria Math" panose="02040503050406030204" pitchFamily="18" charset="0"/>
                          </a:rPr>
                          <m:t>:</m:t>
                        </m:r>
                      </m:e>
                      <m:e>
                        <m:r>
                          <a:rPr>
                            <a:latin typeface="Cambria Math" panose="02040503050406030204" pitchFamily="18" charset="0"/>
                          </a:rPr>
                          <m:t> </m:t>
                        </m:r>
                        <m:r>
                          <a:rPr>
                            <a:latin typeface="Cambria Math" panose="02040503050406030204" pitchFamily="18" charset="0"/>
                          </a:rPr>
                          <m:t>𝑝</m:t>
                        </m:r>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𝑝</m:t>
                            </m:r>
                          </m:e>
                          <m:sub>
                            <m:r>
                              <a:rPr>
                                <a:latin typeface="Cambria Math" panose="02040503050406030204" pitchFamily="18" charset="0"/>
                              </a:rPr>
                              <m:t>0</m:t>
                            </m:r>
                          </m:sub>
                        </m:sSub>
                      </m:e>
                    </m:mr>
                  </m:m>
                </m:oMath>
              </m:oMathPara>
            </a14:m>
            <a:endParaRPr/>
          </a:p>
        </p:txBody>
      </p:sp>
      <p:sp>
        <p:nvSpPr>
          <p:cNvPr id="6" name="Slide Number Placeholder 5">
            <a:extLst>
              <a:ext uri="{FF2B5EF4-FFF2-40B4-BE49-F238E27FC236}">
                <a16:creationId xmlns:a16="http://schemas.microsoft.com/office/drawing/2014/main" id="{C03F998A-2A5E-471F-9FEB-2559B0A7F93D}"/>
              </a:ext>
            </a:extLst>
          </p:cNvPr>
          <p:cNvSpPr>
            <a:spLocks noGrp="1"/>
          </p:cNvSpPr>
          <p:nvPr>
            <p:ph type="sldNum" sz="quarter" idx="12"/>
          </p:nvPr>
        </p:nvSpPr>
        <p:spPr/>
        <p:txBody>
          <a:bodyPr/>
          <a:lstStyle/>
          <a:p>
            <a:fld id="{E1C5CB42-CF14-4293-8971-6DCD1AAE8BE7}" type="slidenum">
              <a:rPr lang="en-GB" smtClean="0"/>
              <a:t>57</a:t>
            </a:fld>
            <a:endParaRPr lang="en-GB"/>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marL="0" lvl="0" indent="0">
              <a:buNone/>
            </a:pPr>
            <a:r>
              <a:t>Comparing proportions: one sample</a:t>
            </a:r>
          </a:p>
        </p:txBody>
      </p:sp>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p:txBody>
          <a:bodyPr/>
          <a:lstStyle/>
          <a:p>
            <a:pPr marL="0" lvl="0" indent="0">
              <a:buNone/>
            </a:pPr>
            <a14:m xmlns:a14="http://schemas.microsoft.com/office/drawing/2010/main">
              <m:oMathPara xmlns:m="http://schemas.openxmlformats.org/officeDocument/2006/math">
                <m:oMathParaPr>
                  <m:jc m:val="center"/>
                </m:oMathParaPr>
                <m:oMath xmlns:m="http://schemas.openxmlformats.org/officeDocument/2006/math">
                  <m:r>
                    <a:rPr>
                      <a:latin typeface="Cambria Math" panose="02040503050406030204" pitchFamily="18" charset="0"/>
                    </a:rPr>
                    <m:t> </m:t>
                  </m:r>
                </m:oMath>
              </m:oMathPara>
            </a14:m>
            <a:endParaRPr/>
          </a:p>
          <a:p>
            <a:pPr marL="0" lvl="0" indent="0">
              <a:buNone/>
            </a:pPr>
            <a:r>
              <a:t>The normal approximation test uses the following test statistic:</a:t>
            </a:r>
          </a:p>
          <a:p>
            <a:pPr marL="0" lvl="0" indent="0">
              <a:buNone/>
            </a:pPr>
            <a14:m xmlns:a14="http://schemas.microsoft.com/office/drawing/2010/main">
              <m:oMathPara xmlns:m="http://schemas.openxmlformats.org/officeDocument/2006/math">
                <m:oMathParaPr>
                  <m:jc m:val="center"/>
                </m:oMathParaPr>
                <m:oMath xmlns:m="http://schemas.openxmlformats.org/officeDocument/2006/math">
                  <m:r>
                    <a:rPr>
                      <a:latin typeface="Cambria Math" panose="02040503050406030204" pitchFamily="18" charset="0"/>
                    </a:rPr>
                    <m:t> </m:t>
                  </m:r>
                </m:oMath>
              </m:oMathPara>
            </a14:m>
            <a:endParaRPr/>
          </a:p>
          <a:p>
            <a:pPr marL="0" lvl="0" indent="0">
              <a:buNone/>
            </a:pPr>
            <a14:m xmlns:a14="http://schemas.microsoft.com/office/drawing/2010/main">
              <m:oMathPara xmlns:m="http://schemas.openxmlformats.org/officeDocument/2006/math">
                <m:oMathParaPr>
                  <m:jc m:val="center"/>
                </m:oMathParaPr>
                <m:oMath xmlns:m="http://schemas.openxmlformats.org/officeDocument/2006/math">
                  <m:r>
                    <a:rPr>
                      <a:latin typeface="Cambria Math" panose="02040503050406030204" pitchFamily="18" charset="0"/>
                    </a:rPr>
                    <m:t>𝑇</m:t>
                  </m:r>
                  <m:r>
                    <a:rPr>
                      <a:latin typeface="Cambria Math" panose="02040503050406030204" pitchFamily="18" charset="0"/>
                    </a:rPr>
                    <m:t>=</m:t>
                  </m:r>
                  <m:f>
                    <m:fPr>
                      <m:ctrlPr>
                        <a:rPr i="1">
                          <a:latin typeface="Cambria Math" panose="02040503050406030204" pitchFamily="18" charset="0"/>
                        </a:rPr>
                      </m:ctrlPr>
                    </m:fPr>
                    <m:num>
                      <m:r>
                        <a:rPr>
                          <a:latin typeface="Cambria Math" panose="02040503050406030204" pitchFamily="18" charset="0"/>
                        </a:rPr>
                        <m:t>𝑝</m:t>
                      </m:r>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𝑝</m:t>
                          </m:r>
                        </m:e>
                        <m:sub>
                          <m:r>
                            <a:rPr>
                              <a:latin typeface="Cambria Math" panose="02040503050406030204" pitchFamily="18" charset="0"/>
                            </a:rPr>
                            <m:t>0</m:t>
                          </m:r>
                        </m:sub>
                      </m:sSub>
                    </m:num>
                    <m:den>
                      <m:rad>
                        <m:radPr>
                          <m:degHide m:val="on"/>
                          <m:ctrlPr>
                            <a:rPr i="1">
                              <a:latin typeface="Cambria Math" panose="02040503050406030204" pitchFamily="18" charset="0"/>
                            </a:rPr>
                          </m:ctrlPr>
                        </m:radPr>
                        <m:deg/>
                        <m:e>
                          <m:sSub>
                            <m:sSubPr>
                              <m:ctrlPr>
                                <a:rPr i="1">
                                  <a:latin typeface="Cambria Math" panose="02040503050406030204" pitchFamily="18" charset="0"/>
                                </a:rPr>
                              </m:ctrlPr>
                            </m:sSubPr>
                            <m:e>
                              <m:r>
                                <a:rPr>
                                  <a:latin typeface="Cambria Math" panose="02040503050406030204" pitchFamily="18" charset="0"/>
                                </a:rPr>
                                <m:t>𝑝</m:t>
                              </m:r>
                            </m:e>
                            <m:sub>
                              <m:r>
                                <a:rPr>
                                  <a:latin typeface="Cambria Math" panose="02040503050406030204" pitchFamily="18" charset="0"/>
                                </a:rPr>
                                <m:t>0</m:t>
                              </m:r>
                            </m:sub>
                          </m:sSub>
                          <m:d>
                            <m:dPr>
                              <m:ctrlPr>
                                <a:rPr i="1">
                                  <a:latin typeface="Cambria Math" panose="02040503050406030204" pitchFamily="18" charset="0"/>
                                </a:rPr>
                              </m:ctrlPr>
                            </m:dPr>
                            <m:e>
                              <m:r>
                                <a:rPr>
                                  <a:latin typeface="Cambria Math" panose="02040503050406030204" pitchFamily="18" charset="0"/>
                                </a:rPr>
                                <m:t>1−</m:t>
                              </m:r>
                              <m:sSub>
                                <m:sSubPr>
                                  <m:ctrlPr>
                                    <a:rPr i="1">
                                      <a:latin typeface="Cambria Math" panose="02040503050406030204" pitchFamily="18" charset="0"/>
                                    </a:rPr>
                                  </m:ctrlPr>
                                </m:sSubPr>
                                <m:e>
                                  <m:r>
                                    <a:rPr>
                                      <a:latin typeface="Cambria Math" panose="02040503050406030204" pitchFamily="18" charset="0"/>
                                    </a:rPr>
                                    <m:t>𝑝</m:t>
                                  </m:r>
                                </m:e>
                                <m:sub>
                                  <m:r>
                                    <a:rPr>
                                      <a:latin typeface="Cambria Math" panose="02040503050406030204" pitchFamily="18" charset="0"/>
                                    </a:rPr>
                                    <m:t>0</m:t>
                                  </m:r>
                                </m:sub>
                              </m:sSub>
                            </m:e>
                          </m:d>
                          <m:r>
                            <a:rPr>
                              <a:latin typeface="Cambria Math" panose="02040503050406030204" pitchFamily="18" charset="0"/>
                            </a:rPr>
                            <m:t>/</m:t>
                          </m:r>
                          <m:r>
                            <a:rPr>
                              <a:latin typeface="Cambria Math" panose="02040503050406030204" pitchFamily="18" charset="0"/>
                            </a:rPr>
                            <m:t>𝑛</m:t>
                          </m:r>
                        </m:e>
                      </m:rad>
                    </m:den>
                  </m:f>
                  <m:r>
                    <a:rPr>
                      <a:latin typeface="Cambria Math" panose="02040503050406030204" pitchFamily="18" charset="0"/>
                    </a:rPr>
                    <m:t>∼</m:t>
                  </m:r>
                  <m:r>
                    <a:rPr>
                      <a:latin typeface="Cambria Math" panose="02040503050406030204" pitchFamily="18" charset="0"/>
                    </a:rPr>
                    <m:t>𝑁</m:t>
                  </m:r>
                  <m:d>
                    <m:dPr>
                      <m:ctrlPr>
                        <a:rPr i="1">
                          <a:latin typeface="Cambria Math" panose="02040503050406030204" pitchFamily="18" charset="0"/>
                        </a:rPr>
                      </m:ctrlPr>
                    </m:dPr>
                    <m:e>
                      <m:r>
                        <a:rPr>
                          <a:latin typeface="Cambria Math" panose="02040503050406030204" pitchFamily="18" charset="0"/>
                        </a:rPr>
                        <m:t>0,1</m:t>
                      </m:r>
                    </m:e>
                  </m:d>
                  <m:r>
                    <a:rPr>
                      <a:latin typeface="Cambria Math" panose="02040503050406030204" pitchFamily="18" charset="0"/>
                    </a:rPr>
                    <m:t> </m:t>
                  </m:r>
                  <m:r>
                    <m:rPr>
                      <m:nor/>
                    </m:rPr>
                    <a:rPr/>
                    <m:t> </m:t>
                  </m:r>
                  <m:r>
                    <m:rPr>
                      <m:nor/>
                    </m:rPr>
                    <a:rPr/>
                    <m:t>under</m:t>
                  </m:r>
                  <m:r>
                    <m:rPr>
                      <m:nor/>
                    </m:rPr>
                    <a:rPr/>
                    <m:t> </m:t>
                  </m:r>
                  <m:sSub>
                    <m:sSubPr>
                      <m:ctrlPr>
                        <a:rPr i="1">
                          <a:latin typeface="Cambria Math" panose="02040503050406030204" pitchFamily="18" charset="0"/>
                        </a:rPr>
                      </m:ctrlPr>
                    </m:sSubPr>
                    <m:e>
                      <m:r>
                        <a:rPr>
                          <a:latin typeface="Cambria Math" panose="02040503050406030204" pitchFamily="18" charset="0"/>
                        </a:rPr>
                        <m:t>𝐻</m:t>
                      </m:r>
                    </m:e>
                    <m:sub>
                      <m:r>
                        <a:rPr>
                          <a:latin typeface="Cambria Math" panose="02040503050406030204" pitchFamily="18" charset="0"/>
                        </a:rPr>
                        <m:t>0</m:t>
                      </m:r>
                    </m:sub>
                  </m:sSub>
                </m:oMath>
              </m:oMathPara>
            </a14:m>
            <a:endParaRPr/>
          </a:p>
        </p:txBody>
      </p:sp>
      <p:sp>
        <p:nvSpPr>
          <p:cNvPr id="6" name="Slide Number Placeholder 5">
            <a:extLst>
              <a:ext uri="{FF2B5EF4-FFF2-40B4-BE49-F238E27FC236}">
                <a16:creationId xmlns:a16="http://schemas.microsoft.com/office/drawing/2014/main" id="{C03F998A-2A5E-471F-9FEB-2559B0A7F93D}"/>
              </a:ext>
            </a:extLst>
          </p:cNvPr>
          <p:cNvSpPr>
            <a:spLocks noGrp="1"/>
          </p:cNvSpPr>
          <p:nvPr>
            <p:ph type="sldNum" sz="quarter" idx="12"/>
          </p:nvPr>
        </p:nvSpPr>
        <p:spPr/>
        <p:txBody>
          <a:bodyPr/>
          <a:lstStyle/>
          <a:p>
            <a:fld id="{E1C5CB42-CF14-4293-8971-6DCD1AAE8BE7}" type="slidenum">
              <a:rPr lang="en-GB" smtClean="0"/>
              <a:t>58</a:t>
            </a:fld>
            <a:endParaRPr lang="en-GB"/>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marL="0" lvl="0" indent="0">
              <a:buNone/>
            </a:pPr>
            <a:r>
              <a:t>Comparing proportions: one sample</a:t>
            </a:r>
          </a:p>
        </p:txBody>
      </p:sp>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p:txBody>
          <a:bodyPr/>
          <a:lstStyle/>
          <a:p>
            <a:pPr marL="0" lvl="0" indent="0">
              <a:buNone/>
            </a:pPr>
            <a:r>
              <a:t>When we estimate a proportion, we observe </a:t>
            </a:r>
            <a14:m xmlns:a14="http://schemas.microsoft.com/office/drawing/2010/main">
              <m:oMath xmlns:m="http://schemas.openxmlformats.org/officeDocument/2006/math">
                <m:r>
                  <a:rPr>
                    <a:latin typeface="Cambria Math" panose="02040503050406030204" pitchFamily="18" charset="0"/>
                  </a:rPr>
                  <m:t>𝑋</m:t>
                </m:r>
                <m:r>
                  <a:rPr>
                    <a:latin typeface="Cambria Math" panose="02040503050406030204" pitchFamily="18" charset="0"/>
                  </a:rPr>
                  <m:t>=</m:t>
                </m:r>
                <m:r>
                  <a:rPr>
                    <a:latin typeface="Cambria Math" panose="02040503050406030204" pitchFamily="18" charset="0"/>
                  </a:rPr>
                  <m:t>𝑘</m:t>
                </m:r>
              </m:oMath>
            </a14:m>
            <a:r>
              <a:t> events / successes / outcomes in the </a:t>
            </a:r>
            <a14:m xmlns:a14="http://schemas.microsoft.com/office/drawing/2010/main">
              <m:oMath xmlns:m="http://schemas.openxmlformats.org/officeDocument/2006/math">
                <m:r>
                  <a:rPr>
                    <a:latin typeface="Cambria Math" panose="02040503050406030204" pitchFamily="18" charset="0"/>
                  </a:rPr>
                  <m:t>𝑛</m:t>
                </m:r>
              </m:oMath>
            </a14:m>
            <a:r>
              <a:t> units that we sampled, each success having a probability </a:t>
            </a:r>
            <a14:m xmlns:a14="http://schemas.microsoft.com/office/drawing/2010/main">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𝑝</m:t>
                    </m:r>
                  </m:e>
                  <m:sub>
                    <m:r>
                      <a:rPr>
                        <a:latin typeface="Cambria Math" panose="02040503050406030204" pitchFamily="18" charset="0"/>
                      </a:rPr>
                      <m:t>0</m:t>
                    </m:r>
                  </m:sub>
                </m:sSub>
              </m:oMath>
            </a14:m>
            <a:r>
              <a:t> to occur. This is a binomial distribution:</a:t>
            </a:r>
          </a:p>
          <a:p>
            <a:pPr marL="0" lvl="0" indent="0">
              <a:buNone/>
            </a:pPr>
            <a14:m xmlns:a14="http://schemas.microsoft.com/office/drawing/2010/main">
              <m:oMath xmlns:m="http://schemas.openxmlformats.org/officeDocument/2006/math">
                <m:r>
                  <a:rPr>
                    <a:latin typeface="Cambria Math" panose="02040503050406030204" pitchFamily="18" charset="0"/>
                  </a:rPr>
                  <m:t>𝑋</m:t>
                </m:r>
                <m:r>
                  <a:rPr>
                    <a:latin typeface="Cambria Math" panose="02040503050406030204" pitchFamily="18" charset="0"/>
                  </a:rPr>
                  <m:t>∼</m:t>
                </m:r>
                <m:r>
                  <m:rPr>
                    <m:nor/>
                  </m:rPr>
                  <a:rPr/>
                  <m:t>Binom</m:t>
                </m:r>
                <m:d>
                  <m:dPr>
                    <m:ctrlPr>
                      <a:rPr i="1">
                        <a:latin typeface="Cambria Math" panose="02040503050406030204" pitchFamily="18" charset="0"/>
                      </a:rPr>
                    </m:ctrlPr>
                  </m:dPr>
                  <m:e>
                    <m:r>
                      <a:rPr>
                        <a:latin typeface="Cambria Math" panose="02040503050406030204" pitchFamily="18" charset="0"/>
                      </a:rPr>
                      <m:t>𝑛</m:t>
                    </m:r>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𝑝</m:t>
                        </m:r>
                      </m:e>
                      <m:sub>
                        <m:r>
                          <a:rPr>
                            <a:latin typeface="Cambria Math" panose="02040503050406030204" pitchFamily="18" charset="0"/>
                          </a:rPr>
                          <m:t>0</m:t>
                        </m:r>
                      </m:sub>
                    </m:sSub>
                  </m:e>
                </m:d>
              </m:oMath>
            </a14:m>
            <a:r>
              <a:t>.</a:t>
            </a:r>
          </a:p>
          <a:p>
            <a:pPr marL="0" lvl="0" indent="0">
              <a:buNone/>
            </a:pPr>
            <a:r>
              <a:t>The exact binomial test makes use of this and directly computes p-values from the binomial distribution:</a:t>
            </a:r>
          </a:p>
          <a:p>
            <a:pPr lvl="0"/>
            <a:r>
              <a:t>Two-sided case: p-value = </a:t>
            </a:r>
            <a14:m xmlns:a14="http://schemas.microsoft.com/office/drawing/2010/main">
              <m:oMath xmlns:m="http://schemas.openxmlformats.org/officeDocument/2006/math">
                <m:nary>
                  <m:naryPr>
                    <m:chr m:val="∑"/>
                    <m:limLoc m:val="undOvr"/>
                    <m:ctrlPr>
                      <a:rPr>
                        <a:latin typeface="Cambria Math" panose="02040503050406030204" pitchFamily="18" charset="0"/>
                      </a:rPr>
                    </m:ctrlPr>
                  </m:naryPr>
                  <m:sub>
                    <m:r>
                      <a:rPr>
                        <a:latin typeface="Cambria Math" panose="02040503050406030204" pitchFamily="18" charset="0"/>
                      </a:rPr>
                      <m:t>𝑖</m:t>
                    </m:r>
                    <m:r>
                      <a:rPr>
                        <a:latin typeface="Cambria Math" panose="02040503050406030204" pitchFamily="18" charset="0"/>
                      </a:rPr>
                      <m:t>∈</m:t>
                    </m:r>
                    <m:r>
                      <a:rPr>
                        <a:latin typeface="Cambria Math" panose="02040503050406030204" pitchFamily="18" charset="0"/>
                      </a:rPr>
                      <m:t>𝐼</m:t>
                    </m:r>
                  </m:sub>
                  <m:sup>
                    <m:r>
                      <a:rPr>
                        <a:latin typeface="Cambria Math" panose="02040503050406030204" pitchFamily="18" charset="0"/>
                      </a:rPr>
                      <m:t>​</m:t>
                    </m:r>
                  </m:sup>
                  <m:e>
                    <m:r>
                      <a:rPr>
                        <a:latin typeface="Cambria Math" panose="02040503050406030204" pitchFamily="18" charset="0"/>
                      </a:rPr>
                      <m:t>𝑃</m:t>
                    </m:r>
                  </m:e>
                </m:nary>
                <m:d>
                  <m:dPr>
                    <m:ctrlPr>
                      <a:rPr i="1">
                        <a:latin typeface="Cambria Math" panose="02040503050406030204" pitchFamily="18" charset="0"/>
                      </a:rPr>
                    </m:ctrlPr>
                  </m:dPr>
                  <m:e>
                    <m:r>
                      <a:rPr>
                        <a:latin typeface="Cambria Math" panose="02040503050406030204" pitchFamily="18" charset="0"/>
                      </a:rPr>
                      <m:t>𝑋</m:t>
                    </m:r>
                    <m:r>
                      <a:rPr>
                        <a:latin typeface="Cambria Math" panose="02040503050406030204" pitchFamily="18" charset="0"/>
                      </a:rPr>
                      <m:t>=</m:t>
                    </m:r>
                    <m:r>
                      <a:rPr>
                        <a:latin typeface="Cambria Math" panose="02040503050406030204" pitchFamily="18" charset="0"/>
                      </a:rPr>
                      <m:t>𝑖</m:t>
                    </m:r>
                    <m:r>
                      <a:rPr>
                        <a:latin typeface="Cambria Math" panose="02040503050406030204" pitchFamily="18" charset="0"/>
                      </a:rPr>
                      <m:t>|</m:t>
                    </m:r>
                    <m:r>
                      <a:rPr>
                        <a:latin typeface="Cambria Math" panose="02040503050406030204" pitchFamily="18" charset="0"/>
                      </a:rPr>
                      <m:t>𝑛</m:t>
                    </m:r>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𝑝</m:t>
                        </m:r>
                      </m:e>
                      <m:sub>
                        <m:r>
                          <a:rPr>
                            <a:latin typeface="Cambria Math" panose="02040503050406030204" pitchFamily="18" charset="0"/>
                          </a:rPr>
                          <m:t>0</m:t>
                        </m:r>
                      </m:sub>
                    </m:sSub>
                  </m:e>
                </m:d>
              </m:oMath>
            </a14:m>
            <a:r>
              <a:t> where </a:t>
            </a:r>
            <a14:m xmlns:a14="http://schemas.microsoft.com/office/drawing/2010/main">
              <m:oMath xmlns:m="http://schemas.openxmlformats.org/officeDocument/2006/math">
                <m:r>
                  <a:rPr>
                    <a:latin typeface="Cambria Math" panose="02040503050406030204" pitchFamily="18" charset="0"/>
                  </a:rPr>
                  <m:t>𝐼</m:t>
                </m:r>
                <m:r>
                  <a:rPr>
                    <a:latin typeface="Cambria Math" panose="02040503050406030204" pitchFamily="18" charset="0"/>
                  </a:rPr>
                  <m:t>={</m:t>
                </m:r>
                <m:r>
                  <a:rPr>
                    <a:latin typeface="Cambria Math" panose="02040503050406030204" pitchFamily="18" charset="0"/>
                  </a:rPr>
                  <m:t>𝑖</m:t>
                </m:r>
                <m:r>
                  <a:rPr>
                    <a:latin typeface="Cambria Math" panose="02040503050406030204" pitchFamily="18" charset="0"/>
                  </a:rPr>
                  <m:t>:</m:t>
                </m:r>
                <m:r>
                  <a:rPr>
                    <a:latin typeface="Cambria Math" panose="02040503050406030204" pitchFamily="18" charset="0"/>
                  </a:rPr>
                  <m:t>𝑃</m:t>
                </m:r>
                <m:d>
                  <m:dPr>
                    <m:ctrlPr>
                      <a:rPr i="1">
                        <a:latin typeface="Cambria Math" panose="02040503050406030204" pitchFamily="18" charset="0"/>
                      </a:rPr>
                    </m:ctrlPr>
                  </m:dPr>
                  <m:e>
                    <m:r>
                      <a:rPr>
                        <a:latin typeface="Cambria Math" panose="02040503050406030204" pitchFamily="18" charset="0"/>
                      </a:rPr>
                      <m:t>𝑋</m:t>
                    </m:r>
                    <m:r>
                      <a:rPr>
                        <a:latin typeface="Cambria Math" panose="02040503050406030204" pitchFamily="18" charset="0"/>
                      </a:rPr>
                      <m:t>=</m:t>
                    </m:r>
                    <m:r>
                      <a:rPr>
                        <a:latin typeface="Cambria Math" panose="02040503050406030204" pitchFamily="18" charset="0"/>
                      </a:rPr>
                      <m:t>𝑖</m:t>
                    </m:r>
                    <m:r>
                      <a:rPr>
                        <a:latin typeface="Cambria Math" panose="02040503050406030204" pitchFamily="18" charset="0"/>
                      </a:rPr>
                      <m:t>|</m:t>
                    </m:r>
                    <m:r>
                      <a:rPr>
                        <a:latin typeface="Cambria Math" panose="02040503050406030204" pitchFamily="18" charset="0"/>
                      </a:rPr>
                      <m:t>𝑛</m:t>
                    </m:r>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𝑝</m:t>
                        </m:r>
                      </m:e>
                      <m:sub>
                        <m:r>
                          <a:rPr>
                            <a:latin typeface="Cambria Math" panose="02040503050406030204" pitchFamily="18" charset="0"/>
                          </a:rPr>
                          <m:t>0</m:t>
                        </m:r>
                      </m:sub>
                    </m:sSub>
                  </m:e>
                </m:d>
                <m:r>
                  <a:rPr>
                    <a:latin typeface="Cambria Math" panose="02040503050406030204" pitchFamily="18" charset="0"/>
                  </a:rPr>
                  <m:t>≤</m:t>
                </m:r>
                <m:r>
                  <a:rPr>
                    <a:latin typeface="Cambria Math" panose="02040503050406030204" pitchFamily="18" charset="0"/>
                  </a:rPr>
                  <m:t>𝑃</m:t>
                </m:r>
                <m:d>
                  <m:dPr>
                    <m:ctrlPr>
                      <a:rPr i="1">
                        <a:latin typeface="Cambria Math" panose="02040503050406030204" pitchFamily="18" charset="0"/>
                      </a:rPr>
                    </m:ctrlPr>
                  </m:dPr>
                  <m:e>
                    <m:r>
                      <a:rPr>
                        <a:latin typeface="Cambria Math" panose="02040503050406030204" pitchFamily="18" charset="0"/>
                      </a:rPr>
                      <m:t>𝑋</m:t>
                    </m:r>
                    <m:r>
                      <a:rPr>
                        <a:latin typeface="Cambria Math" panose="02040503050406030204" pitchFamily="18" charset="0"/>
                      </a:rPr>
                      <m:t>=</m:t>
                    </m:r>
                    <m:r>
                      <a:rPr>
                        <a:latin typeface="Cambria Math" panose="02040503050406030204" pitchFamily="18" charset="0"/>
                      </a:rPr>
                      <m:t>𝑘</m:t>
                    </m:r>
                    <m:r>
                      <a:rPr>
                        <a:latin typeface="Cambria Math" panose="02040503050406030204" pitchFamily="18" charset="0"/>
                      </a:rPr>
                      <m:t>|</m:t>
                    </m:r>
                    <m:r>
                      <a:rPr>
                        <a:latin typeface="Cambria Math" panose="02040503050406030204" pitchFamily="18" charset="0"/>
                      </a:rPr>
                      <m:t>𝑛</m:t>
                    </m:r>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𝑝</m:t>
                        </m:r>
                      </m:e>
                      <m:sub>
                        <m:r>
                          <a:rPr>
                            <a:latin typeface="Cambria Math" panose="02040503050406030204" pitchFamily="18" charset="0"/>
                          </a:rPr>
                          <m:t>0</m:t>
                        </m:r>
                      </m:sub>
                    </m:sSub>
                  </m:e>
                </m:d>
                <m:r>
                  <a:rPr>
                    <a:latin typeface="Cambria Math" panose="02040503050406030204" pitchFamily="18" charset="0"/>
                  </a:rPr>
                  <m:t>}</m:t>
                </m:r>
              </m:oMath>
            </a14:m>
            <a:r>
              <a:t>.</a:t>
            </a:r>
          </a:p>
          <a:p>
            <a:pPr lvl="0"/>
            <a:r>
              <a:t>One-sided case: p-value = </a:t>
            </a:r>
            <a14:m xmlns:a14="http://schemas.microsoft.com/office/drawing/2010/main">
              <m:oMath xmlns:m="http://schemas.openxmlformats.org/officeDocument/2006/math">
                <m:nary>
                  <m:naryPr>
                    <m:chr m:val="∑"/>
                    <m:limLoc m:val="undOvr"/>
                    <m:ctrlPr>
                      <a:rPr>
                        <a:latin typeface="Cambria Math" panose="02040503050406030204" pitchFamily="18" charset="0"/>
                      </a:rPr>
                    </m:ctrlPr>
                  </m:naryPr>
                  <m:sub>
                    <m:r>
                      <a:rPr>
                        <a:latin typeface="Cambria Math" panose="02040503050406030204" pitchFamily="18" charset="0"/>
                      </a:rPr>
                      <m:t>𝑖</m:t>
                    </m:r>
                    <m:r>
                      <a:rPr>
                        <a:latin typeface="Cambria Math" panose="02040503050406030204" pitchFamily="18" charset="0"/>
                      </a:rPr>
                      <m:t>=0</m:t>
                    </m:r>
                  </m:sub>
                  <m:sup>
                    <m:r>
                      <a:rPr>
                        <a:latin typeface="Cambria Math" panose="02040503050406030204" pitchFamily="18" charset="0"/>
                      </a:rPr>
                      <m:t>𝑘</m:t>
                    </m:r>
                  </m:sup>
                  <m:e>
                    <m:r>
                      <a:rPr>
                        <a:latin typeface="Cambria Math" panose="02040503050406030204" pitchFamily="18" charset="0"/>
                      </a:rPr>
                      <m:t>𝑃</m:t>
                    </m:r>
                  </m:e>
                </m:nary>
                <m:d>
                  <m:dPr>
                    <m:ctrlPr>
                      <a:rPr i="1">
                        <a:latin typeface="Cambria Math" panose="02040503050406030204" pitchFamily="18" charset="0"/>
                      </a:rPr>
                    </m:ctrlPr>
                  </m:dPr>
                  <m:e>
                    <m:r>
                      <a:rPr>
                        <a:latin typeface="Cambria Math" panose="02040503050406030204" pitchFamily="18" charset="0"/>
                      </a:rPr>
                      <m:t>𝑋</m:t>
                    </m:r>
                    <m:r>
                      <a:rPr>
                        <a:latin typeface="Cambria Math" panose="02040503050406030204" pitchFamily="18" charset="0"/>
                      </a:rPr>
                      <m:t>=</m:t>
                    </m:r>
                    <m:r>
                      <a:rPr>
                        <a:latin typeface="Cambria Math" panose="02040503050406030204" pitchFamily="18" charset="0"/>
                      </a:rPr>
                      <m:t>𝑖</m:t>
                    </m:r>
                    <m:r>
                      <a:rPr>
                        <a:latin typeface="Cambria Math" panose="02040503050406030204" pitchFamily="18" charset="0"/>
                      </a:rPr>
                      <m:t>|</m:t>
                    </m:r>
                    <m:r>
                      <a:rPr>
                        <a:latin typeface="Cambria Math" panose="02040503050406030204" pitchFamily="18" charset="0"/>
                      </a:rPr>
                      <m:t>𝑛</m:t>
                    </m:r>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𝑝</m:t>
                        </m:r>
                      </m:e>
                      <m:sub>
                        <m:r>
                          <a:rPr>
                            <a:latin typeface="Cambria Math" panose="02040503050406030204" pitchFamily="18" charset="0"/>
                          </a:rPr>
                          <m:t>0</m:t>
                        </m:r>
                      </m:sub>
                    </m:sSub>
                  </m:e>
                </m:d>
              </m:oMath>
            </a14:m>
            <a:r>
              <a:t> or </a:t>
            </a:r>
            <a14:m xmlns:a14="http://schemas.microsoft.com/office/drawing/2010/main">
              <m:oMath xmlns:m="http://schemas.openxmlformats.org/officeDocument/2006/math">
                <m:nary>
                  <m:naryPr>
                    <m:chr m:val="∑"/>
                    <m:limLoc m:val="undOvr"/>
                    <m:ctrlPr>
                      <a:rPr>
                        <a:latin typeface="Cambria Math" panose="02040503050406030204" pitchFamily="18" charset="0"/>
                      </a:rPr>
                    </m:ctrlPr>
                  </m:naryPr>
                  <m:sub>
                    <m:r>
                      <a:rPr>
                        <a:latin typeface="Cambria Math" panose="02040503050406030204" pitchFamily="18" charset="0"/>
                      </a:rPr>
                      <m:t>𝑖</m:t>
                    </m:r>
                    <m:r>
                      <a:rPr>
                        <a:latin typeface="Cambria Math" panose="02040503050406030204" pitchFamily="18" charset="0"/>
                      </a:rPr>
                      <m:t>=</m:t>
                    </m:r>
                    <m:r>
                      <a:rPr>
                        <a:latin typeface="Cambria Math" panose="02040503050406030204" pitchFamily="18" charset="0"/>
                      </a:rPr>
                      <m:t>𝑘</m:t>
                    </m:r>
                  </m:sub>
                  <m:sup>
                    <m:r>
                      <a:rPr>
                        <a:latin typeface="Cambria Math" panose="02040503050406030204" pitchFamily="18" charset="0"/>
                      </a:rPr>
                      <m:t>𝑛</m:t>
                    </m:r>
                  </m:sup>
                  <m:e>
                    <m:r>
                      <a:rPr>
                        <a:latin typeface="Cambria Math" panose="02040503050406030204" pitchFamily="18" charset="0"/>
                      </a:rPr>
                      <m:t>𝑃</m:t>
                    </m:r>
                  </m:e>
                </m:nary>
                <m:d>
                  <m:dPr>
                    <m:ctrlPr>
                      <a:rPr i="1">
                        <a:latin typeface="Cambria Math" panose="02040503050406030204" pitchFamily="18" charset="0"/>
                      </a:rPr>
                    </m:ctrlPr>
                  </m:dPr>
                  <m:e>
                    <m:r>
                      <a:rPr>
                        <a:latin typeface="Cambria Math" panose="02040503050406030204" pitchFamily="18" charset="0"/>
                      </a:rPr>
                      <m:t>𝑋</m:t>
                    </m:r>
                    <m:r>
                      <a:rPr>
                        <a:latin typeface="Cambria Math" panose="02040503050406030204" pitchFamily="18" charset="0"/>
                      </a:rPr>
                      <m:t>=</m:t>
                    </m:r>
                    <m:r>
                      <a:rPr>
                        <a:latin typeface="Cambria Math" panose="02040503050406030204" pitchFamily="18" charset="0"/>
                      </a:rPr>
                      <m:t>𝑖</m:t>
                    </m:r>
                    <m:r>
                      <a:rPr>
                        <a:latin typeface="Cambria Math" panose="02040503050406030204" pitchFamily="18" charset="0"/>
                      </a:rPr>
                      <m:t>|</m:t>
                    </m:r>
                    <m:r>
                      <a:rPr>
                        <a:latin typeface="Cambria Math" panose="02040503050406030204" pitchFamily="18" charset="0"/>
                      </a:rPr>
                      <m:t>𝑛</m:t>
                    </m:r>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𝑝</m:t>
                        </m:r>
                      </m:e>
                      <m:sub>
                        <m:r>
                          <a:rPr>
                            <a:latin typeface="Cambria Math" panose="02040503050406030204" pitchFamily="18" charset="0"/>
                          </a:rPr>
                          <m:t>0</m:t>
                        </m:r>
                      </m:sub>
                    </m:sSub>
                  </m:e>
                </m:d>
              </m:oMath>
            </a14:m>
            <a:r>
              <a:t> depending on the direction.</a:t>
            </a:r>
          </a:p>
        </p:txBody>
      </p:sp>
      <p:sp>
        <p:nvSpPr>
          <p:cNvPr id="6" name="Slide Number Placeholder 5">
            <a:extLst>
              <a:ext uri="{FF2B5EF4-FFF2-40B4-BE49-F238E27FC236}">
                <a16:creationId xmlns:a16="http://schemas.microsoft.com/office/drawing/2014/main" id="{C03F998A-2A5E-471F-9FEB-2559B0A7F93D}"/>
              </a:ext>
            </a:extLst>
          </p:cNvPr>
          <p:cNvSpPr>
            <a:spLocks noGrp="1"/>
          </p:cNvSpPr>
          <p:nvPr>
            <p:ph type="sldNum" sz="quarter" idx="12"/>
          </p:nvPr>
        </p:nvSpPr>
        <p:spPr/>
        <p:txBody>
          <a:bodyPr/>
          <a:lstStyle/>
          <a:p>
            <a:fld id="{E1C5CB42-CF14-4293-8971-6DCD1AAE8BE7}" type="slidenum">
              <a:rPr lang="en-GB" smtClean="0"/>
              <a:t>59</a:t>
            </a:fld>
            <a:endParaRPr lang="en-GB"/>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marL="0" lvl="0" indent="0">
              <a:buNone/>
            </a:pPr>
            <a:r>
              <a:t>Comparing proportions: one sample</a:t>
            </a:r>
          </a:p>
        </p:txBody>
      </p:sp>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p:txBody>
          <a:bodyPr/>
          <a:lstStyle/>
          <a:p>
            <a:pPr marL="0" lvl="0" indent="0">
              <a:buNone/>
            </a:pPr>
            <a:r>
              <a:t>A recent survey found that approximately 23% of the population in a district are HIV positive. A researcher thinks that the current proportion of the adult population that is HIV+ is greater than 23%. The researcher takes a random sample of 3000 and finds that 560 tested positive. State the hypotheses and your conclusion.</a:t>
            </a:r>
          </a:p>
        </p:txBody>
      </p:sp>
      <p:sp>
        <p:nvSpPr>
          <p:cNvPr id="6" name="Slide Number Placeholder 5">
            <a:extLst>
              <a:ext uri="{FF2B5EF4-FFF2-40B4-BE49-F238E27FC236}">
                <a16:creationId xmlns:a16="http://schemas.microsoft.com/office/drawing/2014/main" id="{C03F998A-2A5E-471F-9FEB-2559B0A7F93D}"/>
              </a:ext>
            </a:extLst>
          </p:cNvPr>
          <p:cNvSpPr>
            <a:spLocks noGrp="1"/>
          </p:cNvSpPr>
          <p:nvPr>
            <p:ph type="sldNum" sz="quarter" idx="12"/>
          </p:nvPr>
        </p:nvSpPr>
        <p:spPr/>
        <p:txBody>
          <a:bodyPr/>
          <a:lstStyle/>
          <a:p>
            <a:fld id="{E1C5CB42-CF14-4293-8971-6DCD1AAE8BE7}" type="slidenum">
              <a:rPr lang="en-GB" smtClean="0"/>
              <a:t>60</a:t>
            </a:fld>
            <a:endParaRPr lang="en-GB"/>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marL="0" lvl="0" indent="0">
              <a:buNone/>
            </a:pPr>
            <a:r>
              <a:t>Comparing proportions: one sample</a:t>
            </a:r>
          </a:p>
        </p:txBody>
      </p:sp>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p:txBody>
          <a:bodyPr/>
          <a:lstStyle/>
          <a:p>
            <a:pPr marL="0" lvl="0" indent="0">
              <a:buNone/>
            </a:pPr>
            <a:r>
              <a:t>A recent survey found that approximately 23% of the population in a district are HIV positive. A researcher thinks that the current proportion of the adult population that is HIV+ is greater than 23%. The researcher takes a random sample of 3000 and finds that 560 tested positive. State the hypotheses and your conclusion.</a:t>
            </a:r>
          </a:p>
          <a:p>
            <a:pPr marL="0" lvl="0" indent="0">
              <a:buNone/>
            </a:pPr>
            <a14:m xmlns:a14="http://schemas.microsoft.com/office/drawing/2010/main">
              <m:oMathPara xmlns:m="http://schemas.openxmlformats.org/officeDocument/2006/math">
                <m:oMathParaPr>
                  <m:jc m:val="center"/>
                </m:oMathParaPr>
                <m:oMath xmlns:m="http://schemas.openxmlformats.org/officeDocument/2006/math">
                  <m:r>
                    <a:rPr>
                      <a:latin typeface="Cambria Math" panose="02040503050406030204" pitchFamily="18" charset="0"/>
                    </a:rPr>
                    <m:t> </m:t>
                  </m:r>
                </m:oMath>
              </m:oMathPara>
            </a14:m>
            <a:endParaRPr/>
          </a:p>
          <a:p>
            <a:pPr marL="0" lvl="0" indent="0">
              <a:buNone/>
            </a:pPr>
            <a:r>
              <a:t>This is a one-sided test, with the researcher’s hypothesis being the alternative hypothesis.</a:t>
            </a:r>
          </a:p>
          <a:p>
            <a:pPr marL="0" lvl="0" indent="0">
              <a:buNone/>
            </a:pPr>
            <a14:m xmlns:a14="http://schemas.microsoft.com/office/drawing/2010/main">
              <m:oMathPara xmlns:m="http://schemas.openxmlformats.org/officeDocument/2006/math">
                <m:oMathParaPr>
                  <m:jc m:val="center"/>
                </m:oMathParaPr>
                <m:oMath xmlns:m="http://schemas.openxmlformats.org/officeDocument/2006/math">
                  <m:m>
                    <m:mPr>
                      <m:plcHide m:val="on"/>
                      <m:mcs>
                        <m:mc>
                          <m:mcPr>
                            <m:count m:val="2"/>
                            <m:mcJc m:val="center"/>
                          </m:mcPr>
                        </m:mc>
                      </m:mcs>
                      <m:ctrlPr>
                        <a:rPr>
                          <a:latin typeface="Cambria Math" panose="02040503050406030204" pitchFamily="18" charset="0"/>
                        </a:rPr>
                      </m:ctrlPr>
                    </m:mPr>
                    <m:mr>
                      <m:e>
                        <m:sSub>
                          <m:sSubPr>
                            <m:ctrlPr>
                              <a:rPr>
                                <a:latin typeface="Cambria Math" panose="02040503050406030204" pitchFamily="18" charset="0"/>
                              </a:rPr>
                            </m:ctrlPr>
                          </m:sSubPr>
                          <m:e>
                            <m:r>
                              <a:rPr>
                                <a:latin typeface="Cambria Math" panose="02040503050406030204" pitchFamily="18" charset="0"/>
                              </a:rPr>
                              <m:t>𝐻</m:t>
                            </m:r>
                          </m:e>
                          <m:sub>
                            <m:r>
                              <a:rPr>
                                <a:latin typeface="Cambria Math" panose="02040503050406030204" pitchFamily="18" charset="0"/>
                              </a:rPr>
                              <m:t>0</m:t>
                            </m:r>
                          </m:sub>
                        </m:sSub>
                        <m:r>
                          <a:rPr>
                            <a:latin typeface="Cambria Math" panose="02040503050406030204" pitchFamily="18" charset="0"/>
                          </a:rPr>
                          <m:t>:</m:t>
                        </m:r>
                      </m:e>
                      <m:e>
                        <m:r>
                          <a:rPr>
                            <a:latin typeface="Cambria Math" panose="02040503050406030204" pitchFamily="18" charset="0"/>
                          </a:rPr>
                          <m:t> </m:t>
                        </m:r>
                        <m:r>
                          <a:rPr>
                            <a:latin typeface="Cambria Math" panose="02040503050406030204" pitchFamily="18" charset="0"/>
                          </a:rPr>
                          <m:t>𝑝</m:t>
                        </m:r>
                        <m:r>
                          <a:rPr>
                            <a:latin typeface="Cambria Math" panose="02040503050406030204" pitchFamily="18" charset="0"/>
                          </a:rPr>
                          <m:t>≤0.23</m:t>
                        </m:r>
                      </m:e>
                    </m:mr>
                    <m:mr>
                      <m:e>
                        <m:sSub>
                          <m:sSubPr>
                            <m:ctrlPr>
                              <a:rPr i="1">
                                <a:latin typeface="Cambria Math" panose="02040503050406030204" pitchFamily="18" charset="0"/>
                              </a:rPr>
                            </m:ctrlPr>
                          </m:sSubPr>
                          <m:e>
                            <m:r>
                              <a:rPr>
                                <a:latin typeface="Cambria Math" panose="02040503050406030204" pitchFamily="18" charset="0"/>
                              </a:rPr>
                              <m:t>𝐻</m:t>
                            </m:r>
                          </m:e>
                          <m:sub>
                            <m:r>
                              <a:rPr>
                                <a:latin typeface="Cambria Math" panose="02040503050406030204" pitchFamily="18" charset="0"/>
                              </a:rPr>
                              <m:t>1</m:t>
                            </m:r>
                          </m:sub>
                        </m:sSub>
                        <m:r>
                          <a:rPr>
                            <a:latin typeface="Cambria Math" panose="02040503050406030204" pitchFamily="18" charset="0"/>
                          </a:rPr>
                          <m:t>:</m:t>
                        </m:r>
                      </m:e>
                      <m:e>
                        <m:r>
                          <a:rPr>
                            <a:latin typeface="Cambria Math" panose="02040503050406030204" pitchFamily="18" charset="0"/>
                          </a:rPr>
                          <m:t> </m:t>
                        </m:r>
                        <m:r>
                          <a:rPr>
                            <a:latin typeface="Cambria Math" panose="02040503050406030204" pitchFamily="18" charset="0"/>
                          </a:rPr>
                          <m:t>𝑝</m:t>
                        </m:r>
                        <m:r>
                          <a:rPr>
                            <a:latin typeface="Cambria Math" panose="02040503050406030204" pitchFamily="18" charset="0"/>
                          </a:rPr>
                          <m:t>&gt;0.23</m:t>
                        </m:r>
                      </m:e>
                    </m:mr>
                  </m:m>
                </m:oMath>
              </m:oMathPara>
            </a14:m>
            <a:endParaRPr/>
          </a:p>
        </p:txBody>
      </p:sp>
      <p:sp>
        <p:nvSpPr>
          <p:cNvPr id="6" name="Slide Number Placeholder 5">
            <a:extLst>
              <a:ext uri="{FF2B5EF4-FFF2-40B4-BE49-F238E27FC236}">
                <a16:creationId xmlns:a16="http://schemas.microsoft.com/office/drawing/2014/main" id="{C03F998A-2A5E-471F-9FEB-2559B0A7F93D}"/>
              </a:ext>
            </a:extLst>
          </p:cNvPr>
          <p:cNvSpPr>
            <a:spLocks noGrp="1"/>
          </p:cNvSpPr>
          <p:nvPr>
            <p:ph type="sldNum" sz="quarter" idx="12"/>
          </p:nvPr>
        </p:nvSpPr>
        <p:spPr/>
        <p:txBody>
          <a:bodyPr/>
          <a:lstStyle/>
          <a:p>
            <a:fld id="{E1C5CB42-CF14-4293-8971-6DCD1AAE8BE7}" type="slidenum">
              <a:rPr lang="en-GB" smtClean="0"/>
              <a:t>61</a:t>
            </a:fld>
            <a:endParaRPr lang="en-GB"/>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marL="0" lvl="0" indent="0">
              <a:buNone/>
            </a:pPr>
            <a:r>
              <a:t>Comparing proportions: one sample</a:t>
            </a:r>
          </a:p>
        </p:txBody>
      </p:sp>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a:xfrm>
            <a:off x="838200" y="1782759"/>
            <a:ext cx="10515600" cy="4759322"/>
          </a:xfrm>
        </p:spPr>
        <p:txBody>
          <a:bodyPr>
            <a:normAutofit fontScale="62500" lnSpcReduction="20000"/>
          </a:bodyPr>
          <a:lstStyle/>
          <a:p>
            <a:pPr marL="0" lvl="0" indent="0">
              <a:buNone/>
            </a:pPr>
            <a:r>
              <a:rPr dirty="0"/>
              <a:t>Using a normal approximation:</a:t>
            </a:r>
          </a:p>
          <a:p>
            <a:pPr lvl="0" indent="0">
              <a:buNone/>
            </a:pPr>
            <a:r>
              <a:rPr dirty="0" err="1">
                <a:solidFill>
                  <a:srgbClr val="06287E"/>
                </a:solidFill>
                <a:latin typeface="Courier"/>
              </a:rPr>
              <a:t>prop.test</a:t>
            </a:r>
            <a:r>
              <a:rPr dirty="0">
                <a:latin typeface="Courier"/>
              </a:rPr>
              <a:t>(</a:t>
            </a:r>
            <a:r>
              <a:rPr dirty="0">
                <a:solidFill>
                  <a:srgbClr val="7D9029"/>
                </a:solidFill>
                <a:latin typeface="Courier"/>
              </a:rPr>
              <a:t>x=</a:t>
            </a:r>
            <a:r>
              <a:rPr dirty="0">
                <a:solidFill>
                  <a:srgbClr val="40A070"/>
                </a:solidFill>
                <a:latin typeface="Courier"/>
              </a:rPr>
              <a:t>560</a:t>
            </a:r>
            <a:r>
              <a:rPr dirty="0">
                <a:latin typeface="Courier"/>
              </a:rPr>
              <a:t>,</a:t>
            </a:r>
            <a:r>
              <a:rPr dirty="0">
                <a:solidFill>
                  <a:srgbClr val="7D9029"/>
                </a:solidFill>
                <a:latin typeface="Courier"/>
              </a:rPr>
              <a:t>n=</a:t>
            </a:r>
            <a:r>
              <a:rPr dirty="0">
                <a:solidFill>
                  <a:srgbClr val="40A070"/>
                </a:solidFill>
                <a:latin typeface="Courier"/>
              </a:rPr>
              <a:t>3000</a:t>
            </a:r>
            <a:r>
              <a:rPr dirty="0">
                <a:latin typeface="Courier"/>
              </a:rPr>
              <a:t>,</a:t>
            </a:r>
            <a:r>
              <a:rPr dirty="0">
                <a:solidFill>
                  <a:srgbClr val="7D9029"/>
                </a:solidFill>
                <a:latin typeface="Courier"/>
              </a:rPr>
              <a:t>p=</a:t>
            </a:r>
            <a:r>
              <a:rPr dirty="0">
                <a:solidFill>
                  <a:srgbClr val="40A070"/>
                </a:solidFill>
                <a:latin typeface="Courier"/>
              </a:rPr>
              <a:t>0.23</a:t>
            </a:r>
            <a:r>
              <a:rPr dirty="0">
                <a:latin typeface="Courier"/>
              </a:rPr>
              <a:t>,</a:t>
            </a:r>
            <a:r>
              <a:rPr dirty="0">
                <a:solidFill>
                  <a:srgbClr val="7D9029"/>
                </a:solidFill>
                <a:latin typeface="Courier"/>
              </a:rPr>
              <a:t>alternative=</a:t>
            </a:r>
            <a:r>
              <a:rPr dirty="0">
                <a:solidFill>
                  <a:srgbClr val="4070A0"/>
                </a:solidFill>
                <a:latin typeface="Courier"/>
              </a:rPr>
              <a:t>"greater"</a:t>
            </a:r>
            <a:r>
              <a:rPr dirty="0">
                <a:latin typeface="Courier"/>
              </a:rPr>
              <a:t>) </a:t>
            </a:r>
            <a:br>
              <a:rPr dirty="0"/>
            </a:br>
            <a:r>
              <a:rPr i="1" dirty="0">
                <a:solidFill>
                  <a:srgbClr val="BA2121"/>
                </a:solidFill>
                <a:latin typeface="Courier"/>
              </a:rPr>
              <a:t>## </a:t>
            </a:r>
            <a:br>
              <a:rPr dirty="0"/>
            </a:br>
            <a:r>
              <a:rPr i="1" dirty="0">
                <a:solidFill>
                  <a:srgbClr val="BA2121"/>
                </a:solidFill>
                <a:latin typeface="Courier"/>
              </a:rPr>
              <a:t>##  1-sample proportions test with continuity correction</a:t>
            </a:r>
            <a:br>
              <a:rPr dirty="0"/>
            </a:br>
            <a:r>
              <a:rPr i="1" dirty="0">
                <a:solidFill>
                  <a:srgbClr val="BA2121"/>
                </a:solidFill>
                <a:latin typeface="Courier"/>
              </a:rPr>
              <a:t>## </a:t>
            </a:r>
            <a:br>
              <a:rPr dirty="0"/>
            </a:br>
            <a:r>
              <a:rPr i="1" dirty="0">
                <a:solidFill>
                  <a:srgbClr val="BA2121"/>
                </a:solidFill>
                <a:latin typeface="Courier"/>
              </a:rPr>
              <a:t>## data:  560 out of 3000, null probability 0.23</a:t>
            </a:r>
            <a:br>
              <a:rPr dirty="0"/>
            </a:br>
            <a:r>
              <a:rPr i="1" dirty="0">
                <a:solidFill>
                  <a:srgbClr val="BA2121"/>
                </a:solidFill>
                <a:latin typeface="Courier"/>
              </a:rPr>
              <a:t>## X-squared = 31.565, </a:t>
            </a:r>
            <a:r>
              <a:rPr i="1" dirty="0" err="1">
                <a:solidFill>
                  <a:srgbClr val="BA2121"/>
                </a:solidFill>
                <a:latin typeface="Courier"/>
              </a:rPr>
              <a:t>df</a:t>
            </a:r>
            <a:r>
              <a:rPr i="1" dirty="0">
                <a:solidFill>
                  <a:srgbClr val="BA2121"/>
                </a:solidFill>
                <a:latin typeface="Courier"/>
              </a:rPr>
              <a:t> = 1, p-value = 1</a:t>
            </a:r>
            <a:br>
              <a:rPr dirty="0"/>
            </a:br>
            <a:r>
              <a:rPr i="1" dirty="0">
                <a:solidFill>
                  <a:srgbClr val="BA2121"/>
                </a:solidFill>
                <a:latin typeface="Courier"/>
              </a:rPr>
              <a:t>## alternative hypothesis: true p is greater than 0.23</a:t>
            </a:r>
            <a:br>
              <a:rPr dirty="0"/>
            </a:br>
            <a:r>
              <a:rPr i="1" dirty="0">
                <a:solidFill>
                  <a:srgbClr val="BA2121"/>
                </a:solidFill>
                <a:latin typeface="Courier"/>
              </a:rPr>
              <a:t>## 95 percent confidence interval:</a:t>
            </a:r>
            <a:br>
              <a:rPr dirty="0"/>
            </a:br>
            <a:r>
              <a:rPr i="1" dirty="0">
                <a:solidFill>
                  <a:srgbClr val="BA2121"/>
                </a:solidFill>
                <a:latin typeface="Courier"/>
              </a:rPr>
              <a:t>##  0.1750871 1.0000000</a:t>
            </a:r>
            <a:br>
              <a:rPr dirty="0"/>
            </a:br>
            <a:r>
              <a:rPr i="1" dirty="0">
                <a:solidFill>
                  <a:srgbClr val="BA2121"/>
                </a:solidFill>
                <a:latin typeface="Courier"/>
              </a:rPr>
              <a:t>## sample estimates:</a:t>
            </a:r>
            <a:br>
              <a:rPr dirty="0"/>
            </a:br>
            <a:r>
              <a:rPr i="1" dirty="0">
                <a:solidFill>
                  <a:srgbClr val="BA2121"/>
                </a:solidFill>
                <a:latin typeface="Courier"/>
              </a:rPr>
              <a:t>##         p </a:t>
            </a:r>
            <a:br>
              <a:rPr dirty="0"/>
            </a:br>
            <a:r>
              <a:rPr i="1" dirty="0">
                <a:solidFill>
                  <a:srgbClr val="BA2121"/>
                </a:solidFill>
                <a:latin typeface="Courier"/>
              </a:rPr>
              <a:t>## 0.1866667</a:t>
            </a:r>
          </a:p>
          <a:p>
            <a:pPr marL="0" lvl="0" indent="0">
              <a:buNone/>
            </a:pPr>
            <a:r>
              <a:rPr dirty="0"/>
              <a:t>Using an exact binomial test:</a:t>
            </a:r>
          </a:p>
          <a:p>
            <a:pPr lvl="0" indent="0">
              <a:buNone/>
            </a:pPr>
            <a:r>
              <a:rPr dirty="0" err="1">
                <a:solidFill>
                  <a:srgbClr val="06287E"/>
                </a:solidFill>
                <a:latin typeface="Courier"/>
              </a:rPr>
              <a:t>binom.test</a:t>
            </a:r>
            <a:r>
              <a:rPr dirty="0">
                <a:latin typeface="Courier"/>
              </a:rPr>
              <a:t>(</a:t>
            </a:r>
            <a:r>
              <a:rPr dirty="0">
                <a:solidFill>
                  <a:srgbClr val="7D9029"/>
                </a:solidFill>
                <a:latin typeface="Courier"/>
              </a:rPr>
              <a:t>x=</a:t>
            </a:r>
            <a:r>
              <a:rPr dirty="0">
                <a:solidFill>
                  <a:srgbClr val="40A070"/>
                </a:solidFill>
                <a:latin typeface="Courier"/>
              </a:rPr>
              <a:t>560</a:t>
            </a:r>
            <a:r>
              <a:rPr dirty="0">
                <a:latin typeface="Courier"/>
              </a:rPr>
              <a:t>,</a:t>
            </a:r>
            <a:r>
              <a:rPr dirty="0">
                <a:solidFill>
                  <a:srgbClr val="7D9029"/>
                </a:solidFill>
                <a:latin typeface="Courier"/>
              </a:rPr>
              <a:t>n=</a:t>
            </a:r>
            <a:r>
              <a:rPr dirty="0">
                <a:solidFill>
                  <a:srgbClr val="40A070"/>
                </a:solidFill>
                <a:latin typeface="Courier"/>
              </a:rPr>
              <a:t>3000</a:t>
            </a:r>
            <a:r>
              <a:rPr dirty="0">
                <a:latin typeface="Courier"/>
              </a:rPr>
              <a:t>,</a:t>
            </a:r>
            <a:r>
              <a:rPr dirty="0">
                <a:solidFill>
                  <a:srgbClr val="7D9029"/>
                </a:solidFill>
                <a:latin typeface="Courier"/>
              </a:rPr>
              <a:t>p=</a:t>
            </a:r>
            <a:r>
              <a:rPr dirty="0">
                <a:solidFill>
                  <a:srgbClr val="40A070"/>
                </a:solidFill>
                <a:latin typeface="Courier"/>
              </a:rPr>
              <a:t>0.23</a:t>
            </a:r>
            <a:r>
              <a:rPr dirty="0">
                <a:latin typeface="Courier"/>
              </a:rPr>
              <a:t>,</a:t>
            </a:r>
            <a:r>
              <a:rPr dirty="0">
                <a:solidFill>
                  <a:srgbClr val="7D9029"/>
                </a:solidFill>
                <a:latin typeface="Courier"/>
              </a:rPr>
              <a:t>alternative=</a:t>
            </a:r>
            <a:r>
              <a:rPr dirty="0">
                <a:solidFill>
                  <a:srgbClr val="4070A0"/>
                </a:solidFill>
                <a:latin typeface="Courier"/>
              </a:rPr>
              <a:t>"greater"</a:t>
            </a:r>
            <a:r>
              <a:rPr dirty="0">
                <a:latin typeface="Courier"/>
              </a:rPr>
              <a:t>)</a:t>
            </a:r>
            <a:br>
              <a:rPr dirty="0"/>
            </a:br>
            <a:r>
              <a:rPr i="1" dirty="0">
                <a:solidFill>
                  <a:srgbClr val="BA2121"/>
                </a:solidFill>
                <a:latin typeface="Courier"/>
              </a:rPr>
              <a:t>## </a:t>
            </a:r>
            <a:br>
              <a:rPr dirty="0"/>
            </a:br>
            <a:r>
              <a:rPr i="1" dirty="0">
                <a:solidFill>
                  <a:srgbClr val="BA2121"/>
                </a:solidFill>
                <a:latin typeface="Courier"/>
              </a:rPr>
              <a:t>##  Exact binomial test</a:t>
            </a:r>
            <a:br>
              <a:rPr dirty="0"/>
            </a:br>
            <a:r>
              <a:rPr i="1" dirty="0">
                <a:solidFill>
                  <a:srgbClr val="BA2121"/>
                </a:solidFill>
                <a:latin typeface="Courier"/>
              </a:rPr>
              <a:t>## </a:t>
            </a:r>
            <a:br>
              <a:rPr dirty="0"/>
            </a:br>
            <a:r>
              <a:rPr i="1" dirty="0">
                <a:solidFill>
                  <a:srgbClr val="BA2121"/>
                </a:solidFill>
                <a:latin typeface="Courier"/>
              </a:rPr>
              <a:t>## data:  560 and 3000</a:t>
            </a:r>
            <a:br>
              <a:rPr dirty="0"/>
            </a:br>
            <a:r>
              <a:rPr i="1" dirty="0">
                <a:solidFill>
                  <a:srgbClr val="BA2121"/>
                </a:solidFill>
                <a:latin typeface="Courier"/>
              </a:rPr>
              <a:t>## number of successes = 560, number of trials = 3000, p-value = 1</a:t>
            </a:r>
            <a:br>
              <a:rPr dirty="0"/>
            </a:br>
            <a:r>
              <a:rPr i="1" dirty="0">
                <a:solidFill>
                  <a:srgbClr val="BA2121"/>
                </a:solidFill>
                <a:latin typeface="Courier"/>
              </a:rPr>
              <a:t>## alternative hypothesis: true probability of success is greater than 0.23</a:t>
            </a:r>
            <a:br>
              <a:rPr dirty="0"/>
            </a:br>
            <a:r>
              <a:rPr i="1" dirty="0">
                <a:solidFill>
                  <a:srgbClr val="BA2121"/>
                </a:solidFill>
                <a:latin typeface="Courier"/>
              </a:rPr>
              <a:t>## 95 percent confidence interval:</a:t>
            </a:r>
            <a:br>
              <a:rPr dirty="0"/>
            </a:br>
            <a:r>
              <a:rPr i="1" dirty="0">
                <a:solidFill>
                  <a:srgbClr val="BA2121"/>
                </a:solidFill>
                <a:latin typeface="Courier"/>
              </a:rPr>
              <a:t>##  0.1750282 1.0000000</a:t>
            </a:r>
            <a:br>
              <a:rPr dirty="0"/>
            </a:br>
            <a:r>
              <a:rPr i="1" dirty="0">
                <a:solidFill>
                  <a:srgbClr val="BA2121"/>
                </a:solidFill>
                <a:latin typeface="Courier"/>
              </a:rPr>
              <a:t>## sample estimates:</a:t>
            </a:r>
            <a:br>
              <a:rPr dirty="0"/>
            </a:br>
            <a:r>
              <a:rPr i="1" dirty="0">
                <a:solidFill>
                  <a:srgbClr val="BA2121"/>
                </a:solidFill>
                <a:latin typeface="Courier"/>
              </a:rPr>
              <a:t>## probability of success </a:t>
            </a:r>
            <a:br>
              <a:rPr dirty="0"/>
            </a:br>
            <a:r>
              <a:rPr i="1" dirty="0">
                <a:solidFill>
                  <a:srgbClr val="BA2121"/>
                </a:solidFill>
                <a:latin typeface="Courier"/>
              </a:rPr>
              <a:t>##              0.1866667</a:t>
            </a:r>
            <a:br>
              <a:rPr dirty="0"/>
            </a:br>
            <a:r>
              <a:rPr dirty="0" err="1">
                <a:solidFill>
                  <a:srgbClr val="06287E"/>
                </a:solidFill>
                <a:latin typeface="Courier"/>
              </a:rPr>
              <a:t>pbinom</a:t>
            </a:r>
            <a:r>
              <a:rPr dirty="0">
                <a:latin typeface="Courier"/>
              </a:rPr>
              <a:t>(</a:t>
            </a:r>
            <a:r>
              <a:rPr dirty="0">
                <a:solidFill>
                  <a:srgbClr val="40A070"/>
                </a:solidFill>
                <a:latin typeface="Courier"/>
              </a:rPr>
              <a:t>560</a:t>
            </a:r>
            <a:r>
              <a:rPr dirty="0">
                <a:latin typeface="Courier"/>
              </a:rPr>
              <a:t>,</a:t>
            </a:r>
            <a:r>
              <a:rPr dirty="0">
                <a:solidFill>
                  <a:srgbClr val="7D9029"/>
                </a:solidFill>
                <a:latin typeface="Courier"/>
              </a:rPr>
              <a:t>size=</a:t>
            </a:r>
            <a:r>
              <a:rPr dirty="0">
                <a:solidFill>
                  <a:srgbClr val="40A070"/>
                </a:solidFill>
                <a:latin typeface="Courier"/>
              </a:rPr>
              <a:t>3000</a:t>
            </a:r>
            <a:r>
              <a:rPr dirty="0">
                <a:latin typeface="Courier"/>
              </a:rPr>
              <a:t>,</a:t>
            </a:r>
            <a:r>
              <a:rPr dirty="0">
                <a:solidFill>
                  <a:srgbClr val="7D9029"/>
                </a:solidFill>
                <a:latin typeface="Courier"/>
              </a:rPr>
              <a:t>prob=</a:t>
            </a:r>
            <a:r>
              <a:rPr dirty="0">
                <a:solidFill>
                  <a:srgbClr val="40A070"/>
                </a:solidFill>
                <a:latin typeface="Courier"/>
              </a:rPr>
              <a:t>0.23</a:t>
            </a:r>
            <a:r>
              <a:rPr dirty="0">
                <a:latin typeface="Courier"/>
              </a:rPr>
              <a:t>) </a:t>
            </a:r>
            <a:r>
              <a:rPr i="1" dirty="0">
                <a:solidFill>
                  <a:srgbClr val="60A0B0"/>
                </a:solidFill>
                <a:latin typeface="Courier"/>
              </a:rPr>
              <a:t># manual computation of the p-value</a:t>
            </a:r>
            <a:br>
              <a:rPr dirty="0"/>
            </a:br>
            <a:r>
              <a:rPr i="1" dirty="0">
                <a:solidFill>
                  <a:srgbClr val="BA2121"/>
                </a:solidFill>
                <a:latin typeface="Courier"/>
              </a:rPr>
              <a:t>## [1] 4.453593e-09</a:t>
            </a:r>
          </a:p>
        </p:txBody>
      </p:sp>
      <p:sp>
        <p:nvSpPr>
          <p:cNvPr id="6" name="Slide Number Placeholder 5">
            <a:extLst>
              <a:ext uri="{FF2B5EF4-FFF2-40B4-BE49-F238E27FC236}">
                <a16:creationId xmlns:a16="http://schemas.microsoft.com/office/drawing/2014/main" id="{C03F998A-2A5E-471F-9FEB-2559B0A7F93D}"/>
              </a:ext>
            </a:extLst>
          </p:cNvPr>
          <p:cNvSpPr>
            <a:spLocks noGrp="1"/>
          </p:cNvSpPr>
          <p:nvPr>
            <p:ph type="sldNum" sz="quarter" idx="12"/>
          </p:nvPr>
        </p:nvSpPr>
        <p:spPr/>
        <p:txBody>
          <a:bodyPr/>
          <a:lstStyle/>
          <a:p>
            <a:fld id="{E1C5CB42-CF14-4293-8971-6DCD1AAE8BE7}" type="slidenum">
              <a:rPr lang="en-GB" smtClean="0"/>
              <a:t>62</a:t>
            </a:fld>
            <a:endParaRPr lang="en-GB"/>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marL="0" lvl="0" indent="0">
              <a:buNone/>
            </a:pPr>
            <a:r>
              <a:t>Comparing proportions: two samples</a:t>
            </a:r>
          </a:p>
        </p:txBody>
      </p:sp>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p:txBody>
          <a:bodyPr/>
          <a:lstStyle/>
          <a:p>
            <a:pPr marL="0" lvl="0" indent="0">
              <a:buNone/>
            </a:pPr>
            <a:r>
              <a:t>When we collect data on 2 groups and want to compare proportions for an outcome of interest in these 2 groups, then we need to use a normal approximation test. Let </a:t>
            </a:r>
            <a14:m xmlns:a14="http://schemas.microsoft.com/office/drawing/2010/main">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𝑝</m:t>
                    </m:r>
                  </m:e>
                  <m:sub>
                    <m:r>
                      <a:rPr>
                        <a:latin typeface="Cambria Math" panose="02040503050406030204" pitchFamily="18" charset="0"/>
                      </a:rPr>
                      <m:t>1</m:t>
                    </m:r>
                  </m:sub>
                </m:sSub>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𝑝</m:t>
                    </m:r>
                  </m:e>
                  <m:sub>
                    <m:r>
                      <a:rPr>
                        <a:latin typeface="Cambria Math" panose="02040503050406030204" pitchFamily="18" charset="0"/>
                      </a:rPr>
                      <m:t>2</m:t>
                    </m:r>
                  </m:sub>
                </m:sSub>
              </m:oMath>
            </a14:m>
            <a:r>
              <a:t> be the proportions in the 2 groups and </a:t>
            </a:r>
            <a14:m xmlns:a14="http://schemas.microsoft.com/office/drawing/2010/main">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𝑛</m:t>
                    </m:r>
                  </m:e>
                  <m:sub>
                    <m:r>
                      <a:rPr>
                        <a:latin typeface="Cambria Math" panose="02040503050406030204" pitchFamily="18" charset="0"/>
                      </a:rPr>
                      <m:t>1</m:t>
                    </m:r>
                  </m:sub>
                </m:sSub>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𝑛</m:t>
                    </m:r>
                  </m:e>
                  <m:sub>
                    <m:r>
                      <a:rPr>
                        <a:latin typeface="Cambria Math" panose="02040503050406030204" pitchFamily="18" charset="0"/>
                      </a:rPr>
                      <m:t>2</m:t>
                    </m:r>
                  </m:sub>
                </m:sSub>
              </m:oMath>
            </a14:m>
            <a:r>
              <a:t> the sample sizes we collected from each group. Let </a:t>
            </a:r>
            <a14:m xmlns:a14="http://schemas.microsoft.com/office/drawing/2010/main">
              <m:oMath xmlns:m="http://schemas.openxmlformats.org/officeDocument/2006/math">
                <m:r>
                  <a:rPr>
                    <a:latin typeface="Cambria Math" panose="02040503050406030204" pitchFamily="18" charset="0"/>
                  </a:rPr>
                  <m:t>𝑝</m:t>
                </m:r>
                <m:r>
                  <a:rPr>
                    <a:latin typeface="Cambria Math" panose="02040503050406030204" pitchFamily="18" charset="0"/>
                  </a:rPr>
                  <m:t>=</m:t>
                </m:r>
                <m:d>
                  <m:dPr>
                    <m:ctrlPr>
                      <a:rPr i="1">
                        <a:latin typeface="Cambria Math" panose="02040503050406030204" pitchFamily="18" charset="0"/>
                      </a:rPr>
                    </m:ctrlPr>
                  </m:dPr>
                  <m:e>
                    <m:sSub>
                      <m:sSubPr>
                        <m:ctrlPr>
                          <a:rPr i="1">
                            <a:latin typeface="Cambria Math" panose="02040503050406030204" pitchFamily="18" charset="0"/>
                          </a:rPr>
                        </m:ctrlPr>
                      </m:sSubPr>
                      <m:e>
                        <m:r>
                          <a:rPr>
                            <a:latin typeface="Cambria Math" panose="02040503050406030204" pitchFamily="18" charset="0"/>
                          </a:rPr>
                          <m:t>𝑛</m:t>
                        </m:r>
                      </m:e>
                      <m:sub>
                        <m:r>
                          <a:rPr>
                            <a:latin typeface="Cambria Math" panose="02040503050406030204" pitchFamily="18" charset="0"/>
                          </a:rPr>
                          <m:t>1</m:t>
                        </m:r>
                      </m:sub>
                    </m:sSub>
                    <m:sSub>
                      <m:sSubPr>
                        <m:ctrlPr>
                          <a:rPr i="1">
                            <a:latin typeface="Cambria Math" panose="02040503050406030204" pitchFamily="18" charset="0"/>
                          </a:rPr>
                        </m:ctrlPr>
                      </m:sSubPr>
                      <m:e>
                        <m:r>
                          <a:rPr>
                            <a:latin typeface="Cambria Math" panose="02040503050406030204" pitchFamily="18" charset="0"/>
                          </a:rPr>
                          <m:t>𝑝</m:t>
                        </m:r>
                      </m:e>
                      <m:sub>
                        <m:r>
                          <a:rPr>
                            <a:latin typeface="Cambria Math" panose="02040503050406030204" pitchFamily="18" charset="0"/>
                          </a:rPr>
                          <m:t>1</m:t>
                        </m:r>
                      </m:sub>
                    </m:sSub>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𝑛</m:t>
                        </m:r>
                      </m:e>
                      <m:sub>
                        <m:r>
                          <a:rPr>
                            <a:latin typeface="Cambria Math" panose="02040503050406030204" pitchFamily="18" charset="0"/>
                          </a:rPr>
                          <m:t>2</m:t>
                        </m:r>
                      </m:sub>
                    </m:sSub>
                    <m:sSub>
                      <m:sSubPr>
                        <m:ctrlPr>
                          <a:rPr i="1">
                            <a:latin typeface="Cambria Math" panose="02040503050406030204" pitchFamily="18" charset="0"/>
                          </a:rPr>
                        </m:ctrlPr>
                      </m:sSubPr>
                      <m:e>
                        <m:r>
                          <a:rPr>
                            <a:latin typeface="Cambria Math" panose="02040503050406030204" pitchFamily="18" charset="0"/>
                          </a:rPr>
                          <m:t>𝑝</m:t>
                        </m:r>
                      </m:e>
                      <m:sub>
                        <m:r>
                          <a:rPr>
                            <a:latin typeface="Cambria Math" panose="02040503050406030204" pitchFamily="18" charset="0"/>
                          </a:rPr>
                          <m:t>2</m:t>
                        </m:r>
                      </m:sub>
                    </m:sSub>
                  </m:e>
                </m:d>
                <m:r>
                  <a:rPr>
                    <a:latin typeface="Cambria Math" panose="02040503050406030204" pitchFamily="18" charset="0"/>
                  </a:rPr>
                  <m:t>/</m:t>
                </m:r>
                <m:d>
                  <m:dPr>
                    <m:ctrlPr>
                      <a:rPr i="1">
                        <a:latin typeface="Cambria Math" panose="02040503050406030204" pitchFamily="18" charset="0"/>
                      </a:rPr>
                    </m:ctrlPr>
                  </m:dPr>
                  <m:e>
                    <m:sSub>
                      <m:sSubPr>
                        <m:ctrlPr>
                          <a:rPr i="1">
                            <a:latin typeface="Cambria Math" panose="02040503050406030204" pitchFamily="18" charset="0"/>
                          </a:rPr>
                        </m:ctrlPr>
                      </m:sSubPr>
                      <m:e>
                        <m:r>
                          <a:rPr>
                            <a:latin typeface="Cambria Math" panose="02040503050406030204" pitchFamily="18" charset="0"/>
                          </a:rPr>
                          <m:t>𝑛</m:t>
                        </m:r>
                      </m:e>
                      <m:sub>
                        <m:r>
                          <a:rPr>
                            <a:latin typeface="Cambria Math" panose="02040503050406030204" pitchFamily="18" charset="0"/>
                          </a:rPr>
                          <m:t>1</m:t>
                        </m:r>
                      </m:sub>
                    </m:sSub>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𝑛</m:t>
                        </m:r>
                      </m:e>
                      <m:sub>
                        <m:r>
                          <a:rPr>
                            <a:latin typeface="Cambria Math" panose="02040503050406030204" pitchFamily="18" charset="0"/>
                          </a:rPr>
                          <m:t>2</m:t>
                        </m:r>
                      </m:sub>
                    </m:sSub>
                  </m:e>
                </m:d>
              </m:oMath>
            </a14:m>
            <a:r>
              <a:t>, the proportion in the 2 groups combined.</a:t>
            </a:r>
          </a:p>
          <a:p>
            <a:pPr lvl="0"/>
            <a:r>
              <a:t>Hypotheses</a:t>
            </a:r>
          </a:p>
          <a:p>
            <a:pPr marL="0" lvl="0" indent="0">
              <a:buNone/>
            </a:pPr>
            <a14:m xmlns:a14="http://schemas.microsoft.com/office/drawing/2010/main">
              <m:oMathPara xmlns:m="http://schemas.openxmlformats.org/officeDocument/2006/math">
                <m:oMathParaPr>
                  <m:jc m:val="center"/>
                </m:oMathParaPr>
                <m:oMath xmlns:m="http://schemas.openxmlformats.org/officeDocument/2006/math">
                  <m:m>
                    <m:mPr>
                      <m:plcHide m:val="on"/>
                      <m:mcs>
                        <m:mc>
                          <m:mcPr>
                            <m:count m:val="2"/>
                            <m:mcJc m:val="center"/>
                          </m:mcPr>
                        </m:mc>
                      </m:mcs>
                      <m:ctrlPr>
                        <a:rPr>
                          <a:latin typeface="Cambria Math" panose="02040503050406030204" pitchFamily="18" charset="0"/>
                        </a:rPr>
                      </m:ctrlPr>
                    </m:mPr>
                    <m:mr>
                      <m:e>
                        <m:sSub>
                          <m:sSubPr>
                            <m:ctrlPr>
                              <a:rPr>
                                <a:latin typeface="Cambria Math" panose="02040503050406030204" pitchFamily="18" charset="0"/>
                              </a:rPr>
                            </m:ctrlPr>
                          </m:sSubPr>
                          <m:e>
                            <m:r>
                              <a:rPr>
                                <a:latin typeface="Cambria Math" panose="02040503050406030204" pitchFamily="18" charset="0"/>
                              </a:rPr>
                              <m:t>𝐻</m:t>
                            </m:r>
                          </m:e>
                          <m:sub>
                            <m:r>
                              <a:rPr>
                                <a:latin typeface="Cambria Math" panose="02040503050406030204" pitchFamily="18" charset="0"/>
                              </a:rPr>
                              <m:t>0</m:t>
                            </m:r>
                          </m:sub>
                        </m:sSub>
                        <m:r>
                          <a:rPr>
                            <a:latin typeface="Cambria Math" panose="02040503050406030204" pitchFamily="18" charset="0"/>
                          </a:rPr>
                          <m:t>:</m:t>
                        </m:r>
                      </m:e>
                      <m:e>
                        <m:r>
                          <a:rPr>
                            <a:latin typeface="Cambria Math" panose="02040503050406030204" pitchFamily="18" charset="0"/>
                          </a:rPr>
                          <m:t> </m:t>
                        </m:r>
                        <m:sSub>
                          <m:sSubPr>
                            <m:ctrlPr>
                              <a:rPr i="1">
                                <a:latin typeface="Cambria Math" panose="02040503050406030204" pitchFamily="18" charset="0"/>
                              </a:rPr>
                            </m:ctrlPr>
                          </m:sSubPr>
                          <m:e>
                            <m:r>
                              <a:rPr>
                                <a:latin typeface="Cambria Math" panose="02040503050406030204" pitchFamily="18" charset="0"/>
                              </a:rPr>
                              <m:t>𝑝</m:t>
                            </m:r>
                          </m:e>
                          <m:sub>
                            <m:r>
                              <a:rPr>
                                <a:latin typeface="Cambria Math" panose="02040503050406030204" pitchFamily="18" charset="0"/>
                              </a:rPr>
                              <m:t>1</m:t>
                            </m:r>
                          </m:sub>
                        </m:sSub>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𝑝</m:t>
                            </m:r>
                          </m:e>
                          <m:sub>
                            <m:r>
                              <a:rPr>
                                <a:latin typeface="Cambria Math" panose="02040503050406030204" pitchFamily="18" charset="0"/>
                              </a:rPr>
                              <m:t>2</m:t>
                            </m:r>
                          </m:sub>
                        </m:sSub>
                      </m:e>
                    </m:mr>
                    <m:mr>
                      <m:e>
                        <m:sSub>
                          <m:sSubPr>
                            <m:ctrlPr>
                              <a:rPr i="1">
                                <a:latin typeface="Cambria Math" panose="02040503050406030204" pitchFamily="18" charset="0"/>
                              </a:rPr>
                            </m:ctrlPr>
                          </m:sSubPr>
                          <m:e>
                            <m:r>
                              <a:rPr>
                                <a:latin typeface="Cambria Math" panose="02040503050406030204" pitchFamily="18" charset="0"/>
                              </a:rPr>
                              <m:t>𝐻</m:t>
                            </m:r>
                          </m:e>
                          <m:sub>
                            <m:r>
                              <a:rPr>
                                <a:latin typeface="Cambria Math" panose="02040503050406030204" pitchFamily="18" charset="0"/>
                              </a:rPr>
                              <m:t>1</m:t>
                            </m:r>
                          </m:sub>
                        </m:sSub>
                        <m:r>
                          <a:rPr>
                            <a:latin typeface="Cambria Math" panose="02040503050406030204" pitchFamily="18" charset="0"/>
                          </a:rPr>
                          <m:t>:</m:t>
                        </m:r>
                      </m:e>
                      <m:e>
                        <m:r>
                          <a:rPr>
                            <a:latin typeface="Cambria Math" panose="02040503050406030204" pitchFamily="18" charset="0"/>
                          </a:rPr>
                          <m:t> </m:t>
                        </m:r>
                        <m:sSub>
                          <m:sSubPr>
                            <m:ctrlPr>
                              <a:rPr i="1">
                                <a:latin typeface="Cambria Math" panose="02040503050406030204" pitchFamily="18" charset="0"/>
                              </a:rPr>
                            </m:ctrlPr>
                          </m:sSubPr>
                          <m:e>
                            <m:r>
                              <a:rPr>
                                <a:latin typeface="Cambria Math" panose="02040503050406030204" pitchFamily="18" charset="0"/>
                              </a:rPr>
                              <m:t>𝑝</m:t>
                            </m:r>
                          </m:e>
                          <m:sub>
                            <m:r>
                              <a:rPr>
                                <a:latin typeface="Cambria Math" panose="02040503050406030204" pitchFamily="18" charset="0"/>
                              </a:rPr>
                              <m:t>1</m:t>
                            </m:r>
                          </m:sub>
                        </m:sSub>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𝑝</m:t>
                            </m:r>
                          </m:e>
                          <m:sub>
                            <m:r>
                              <a:rPr>
                                <a:latin typeface="Cambria Math" panose="02040503050406030204" pitchFamily="18" charset="0"/>
                              </a:rPr>
                              <m:t>2</m:t>
                            </m:r>
                          </m:sub>
                        </m:sSub>
                      </m:e>
                    </m:mr>
                  </m:m>
                </m:oMath>
              </m:oMathPara>
            </a14:m>
            <a:endParaRPr/>
          </a:p>
          <a:p>
            <a:pPr lvl="0"/>
            <a:r>
              <a:t>Test statistic (normal approximation)</a:t>
            </a:r>
          </a:p>
          <a:p>
            <a:pPr marL="0" lvl="0" indent="0">
              <a:buNone/>
            </a:pPr>
            <a14:m xmlns:a14="http://schemas.microsoft.com/office/drawing/2010/main">
              <m:oMathPara xmlns:m="http://schemas.openxmlformats.org/officeDocument/2006/math">
                <m:oMathParaPr>
                  <m:jc m:val="center"/>
                </m:oMathParaPr>
                <m:oMath xmlns:m="http://schemas.openxmlformats.org/officeDocument/2006/math">
                  <m:r>
                    <a:rPr>
                      <a:latin typeface="Cambria Math" panose="02040503050406030204" pitchFamily="18" charset="0"/>
                    </a:rPr>
                    <m:t>𝑇</m:t>
                  </m:r>
                  <m:r>
                    <a:rPr>
                      <a:latin typeface="Cambria Math" panose="02040503050406030204" pitchFamily="18" charset="0"/>
                    </a:rPr>
                    <m:t>=</m:t>
                  </m:r>
                  <m:f>
                    <m:fPr>
                      <m:ctrlPr>
                        <a:rPr i="1">
                          <a:latin typeface="Cambria Math" panose="02040503050406030204" pitchFamily="18" charset="0"/>
                        </a:rPr>
                      </m:ctrlPr>
                    </m:fPr>
                    <m:num>
                      <m:sSub>
                        <m:sSubPr>
                          <m:ctrlPr>
                            <a:rPr i="1">
                              <a:latin typeface="Cambria Math" panose="02040503050406030204" pitchFamily="18" charset="0"/>
                            </a:rPr>
                          </m:ctrlPr>
                        </m:sSubPr>
                        <m:e>
                          <m:r>
                            <a:rPr>
                              <a:latin typeface="Cambria Math" panose="02040503050406030204" pitchFamily="18" charset="0"/>
                            </a:rPr>
                            <m:t>𝑝</m:t>
                          </m:r>
                        </m:e>
                        <m:sub>
                          <m:r>
                            <a:rPr>
                              <a:latin typeface="Cambria Math" panose="02040503050406030204" pitchFamily="18" charset="0"/>
                            </a:rPr>
                            <m:t>1</m:t>
                          </m:r>
                        </m:sub>
                      </m:sSub>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𝑝</m:t>
                          </m:r>
                        </m:e>
                        <m:sub>
                          <m:r>
                            <a:rPr>
                              <a:latin typeface="Cambria Math" panose="02040503050406030204" pitchFamily="18" charset="0"/>
                            </a:rPr>
                            <m:t>2</m:t>
                          </m:r>
                        </m:sub>
                      </m:sSub>
                    </m:num>
                    <m:den>
                      <m:rad>
                        <m:radPr>
                          <m:degHide m:val="on"/>
                          <m:ctrlPr>
                            <a:rPr i="1">
                              <a:latin typeface="Cambria Math" panose="02040503050406030204" pitchFamily="18" charset="0"/>
                            </a:rPr>
                          </m:ctrlPr>
                        </m:radPr>
                        <m:deg/>
                        <m:e>
                          <m:r>
                            <a:rPr>
                              <a:latin typeface="Cambria Math" panose="02040503050406030204" pitchFamily="18" charset="0"/>
                            </a:rPr>
                            <m:t>𝑝</m:t>
                          </m:r>
                          <m:d>
                            <m:dPr>
                              <m:ctrlPr>
                                <a:rPr i="1">
                                  <a:latin typeface="Cambria Math" panose="02040503050406030204" pitchFamily="18" charset="0"/>
                                </a:rPr>
                              </m:ctrlPr>
                            </m:dPr>
                            <m:e>
                              <m:r>
                                <a:rPr>
                                  <a:latin typeface="Cambria Math" panose="02040503050406030204" pitchFamily="18" charset="0"/>
                                </a:rPr>
                                <m:t>1−</m:t>
                              </m:r>
                              <m:r>
                                <a:rPr>
                                  <a:latin typeface="Cambria Math" panose="02040503050406030204" pitchFamily="18" charset="0"/>
                                </a:rPr>
                                <m:t>𝑝</m:t>
                              </m:r>
                            </m:e>
                          </m:d>
                          <m:d>
                            <m:dPr>
                              <m:ctrlPr>
                                <a:rPr i="1">
                                  <a:latin typeface="Cambria Math" panose="02040503050406030204" pitchFamily="18" charset="0"/>
                                </a:rPr>
                              </m:ctrlPr>
                            </m:dPr>
                            <m:e>
                              <m:r>
                                <a:rPr>
                                  <a:latin typeface="Cambria Math" panose="02040503050406030204" pitchFamily="18" charset="0"/>
                                </a:rPr>
                                <m:t>1/</m:t>
                              </m:r>
                              <m:sSub>
                                <m:sSubPr>
                                  <m:ctrlPr>
                                    <a:rPr i="1">
                                      <a:latin typeface="Cambria Math" panose="02040503050406030204" pitchFamily="18" charset="0"/>
                                    </a:rPr>
                                  </m:ctrlPr>
                                </m:sSubPr>
                                <m:e>
                                  <m:r>
                                    <a:rPr>
                                      <a:latin typeface="Cambria Math" panose="02040503050406030204" pitchFamily="18" charset="0"/>
                                    </a:rPr>
                                    <m:t>𝑛</m:t>
                                  </m:r>
                                </m:e>
                                <m:sub>
                                  <m:r>
                                    <a:rPr>
                                      <a:latin typeface="Cambria Math" panose="02040503050406030204" pitchFamily="18" charset="0"/>
                                    </a:rPr>
                                    <m:t>1</m:t>
                                  </m:r>
                                </m:sub>
                              </m:sSub>
                              <m:r>
                                <a:rPr>
                                  <a:latin typeface="Cambria Math" panose="02040503050406030204" pitchFamily="18" charset="0"/>
                                </a:rPr>
                                <m:t>+1/</m:t>
                              </m:r>
                              <m:sSub>
                                <m:sSubPr>
                                  <m:ctrlPr>
                                    <a:rPr i="1">
                                      <a:latin typeface="Cambria Math" panose="02040503050406030204" pitchFamily="18" charset="0"/>
                                    </a:rPr>
                                  </m:ctrlPr>
                                </m:sSubPr>
                                <m:e>
                                  <m:r>
                                    <a:rPr>
                                      <a:latin typeface="Cambria Math" panose="02040503050406030204" pitchFamily="18" charset="0"/>
                                    </a:rPr>
                                    <m:t>𝑛</m:t>
                                  </m:r>
                                </m:e>
                                <m:sub>
                                  <m:r>
                                    <a:rPr>
                                      <a:latin typeface="Cambria Math" panose="02040503050406030204" pitchFamily="18" charset="0"/>
                                    </a:rPr>
                                    <m:t>2</m:t>
                                  </m:r>
                                </m:sub>
                              </m:sSub>
                            </m:e>
                          </m:d>
                        </m:e>
                      </m:rad>
                    </m:den>
                  </m:f>
                  <m:r>
                    <a:rPr>
                      <a:latin typeface="Cambria Math" panose="02040503050406030204" pitchFamily="18" charset="0"/>
                    </a:rPr>
                    <m:t>∼</m:t>
                  </m:r>
                  <m:r>
                    <a:rPr>
                      <a:latin typeface="Cambria Math" panose="02040503050406030204" pitchFamily="18" charset="0"/>
                    </a:rPr>
                    <m:t>𝑁</m:t>
                  </m:r>
                  <m:d>
                    <m:dPr>
                      <m:ctrlPr>
                        <a:rPr i="1">
                          <a:latin typeface="Cambria Math" panose="02040503050406030204" pitchFamily="18" charset="0"/>
                        </a:rPr>
                      </m:ctrlPr>
                    </m:dPr>
                    <m:e>
                      <m:r>
                        <a:rPr>
                          <a:latin typeface="Cambria Math" panose="02040503050406030204" pitchFamily="18" charset="0"/>
                        </a:rPr>
                        <m:t>0,1</m:t>
                      </m:r>
                    </m:e>
                  </m:d>
                  <m:r>
                    <a:rPr>
                      <a:latin typeface="Cambria Math" panose="02040503050406030204" pitchFamily="18" charset="0"/>
                    </a:rPr>
                    <m:t> </m:t>
                  </m:r>
                  <m:r>
                    <m:rPr>
                      <m:nor/>
                    </m:rPr>
                    <a:rPr/>
                    <m:t> </m:t>
                  </m:r>
                  <m:r>
                    <m:rPr>
                      <m:nor/>
                    </m:rPr>
                    <a:rPr/>
                    <m:t>under</m:t>
                  </m:r>
                  <m:r>
                    <m:rPr>
                      <m:nor/>
                    </m:rPr>
                    <a:rPr/>
                    <m:t> </m:t>
                  </m:r>
                  <m:sSub>
                    <m:sSubPr>
                      <m:ctrlPr>
                        <a:rPr i="1">
                          <a:latin typeface="Cambria Math" panose="02040503050406030204" pitchFamily="18" charset="0"/>
                        </a:rPr>
                      </m:ctrlPr>
                    </m:sSubPr>
                    <m:e>
                      <m:r>
                        <a:rPr>
                          <a:latin typeface="Cambria Math" panose="02040503050406030204" pitchFamily="18" charset="0"/>
                        </a:rPr>
                        <m:t>𝐻</m:t>
                      </m:r>
                    </m:e>
                    <m:sub>
                      <m:r>
                        <a:rPr>
                          <a:latin typeface="Cambria Math" panose="02040503050406030204" pitchFamily="18" charset="0"/>
                        </a:rPr>
                        <m:t>0</m:t>
                      </m:r>
                    </m:sub>
                  </m:sSub>
                </m:oMath>
              </m:oMathPara>
            </a14:m>
            <a:endParaRPr/>
          </a:p>
          <a:p>
            <a:pPr marL="0" lvl="0" indent="0">
              <a:buNone/>
            </a:pPr>
            <a:r>
              <a:t>* In R: we still use </a:t>
            </a:r>
            <a:r>
              <a:rPr>
                <a:latin typeface="Courier"/>
              </a:rPr>
              <a:t>prop.test()</a:t>
            </a:r>
            <a:r>
              <a:t>.</a:t>
            </a:r>
          </a:p>
        </p:txBody>
      </p:sp>
      <p:sp>
        <p:nvSpPr>
          <p:cNvPr id="6" name="Slide Number Placeholder 5">
            <a:extLst>
              <a:ext uri="{FF2B5EF4-FFF2-40B4-BE49-F238E27FC236}">
                <a16:creationId xmlns:a16="http://schemas.microsoft.com/office/drawing/2014/main" id="{C03F998A-2A5E-471F-9FEB-2559B0A7F93D}"/>
              </a:ext>
            </a:extLst>
          </p:cNvPr>
          <p:cNvSpPr>
            <a:spLocks noGrp="1"/>
          </p:cNvSpPr>
          <p:nvPr>
            <p:ph type="sldNum" sz="quarter" idx="12"/>
          </p:nvPr>
        </p:nvSpPr>
        <p:spPr/>
        <p:txBody>
          <a:bodyPr/>
          <a:lstStyle/>
          <a:p>
            <a:fld id="{E1C5CB42-CF14-4293-8971-6DCD1AAE8BE7}" type="slidenum">
              <a:rPr lang="en-GB" smtClean="0"/>
              <a:t>63</a:t>
            </a:fld>
            <a:endParaRPr lang="en-GB"/>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marL="0" lvl="0" indent="0">
              <a:buNone/>
            </a:pPr>
            <a:r>
              <a:t>Comparing proportions: two samples</a:t>
            </a:r>
          </a:p>
        </p:txBody>
      </p:sp>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p:txBody>
          <a:bodyPr/>
          <a:lstStyle/>
          <a:p>
            <a:pPr marL="0" lvl="0" indent="0">
              <a:buNone/>
            </a:pPr>
            <a:r>
              <a:t>Example: We would like to investigate whether there is enough evidence that the proportion of HIV cases is different between men and women</a:t>
            </a:r>
          </a:p>
          <a:p>
            <a:pPr marL="0" lvl="0" indent="0">
              <a:buNone/>
            </a:pPr>
            <a14:m xmlns:a14="http://schemas.microsoft.com/office/drawing/2010/main">
              <m:oMathPara xmlns:m="http://schemas.openxmlformats.org/officeDocument/2006/math">
                <m:oMathParaPr>
                  <m:jc m:val="center"/>
                </m:oMathParaPr>
                <m:oMath xmlns:m="http://schemas.openxmlformats.org/officeDocument/2006/math">
                  <m:m>
                    <m:mPr>
                      <m:plcHide m:val="on"/>
                      <m:mcs>
                        <m:mc>
                          <m:mcPr>
                            <m:count m:val="2"/>
                            <m:mcJc m:val="center"/>
                          </m:mcPr>
                        </m:mc>
                      </m:mcs>
                      <m:ctrlPr>
                        <a:rPr>
                          <a:latin typeface="Cambria Math" panose="02040503050406030204" pitchFamily="18" charset="0"/>
                        </a:rPr>
                      </m:ctrlPr>
                    </m:mPr>
                    <m:mr>
                      <m:e>
                        <m:sSub>
                          <m:sSubPr>
                            <m:ctrlPr>
                              <a:rPr>
                                <a:latin typeface="Cambria Math" panose="02040503050406030204" pitchFamily="18" charset="0"/>
                              </a:rPr>
                            </m:ctrlPr>
                          </m:sSubPr>
                          <m:e>
                            <m:r>
                              <a:rPr>
                                <a:latin typeface="Cambria Math" panose="02040503050406030204" pitchFamily="18" charset="0"/>
                              </a:rPr>
                              <m:t>𝐻</m:t>
                            </m:r>
                          </m:e>
                          <m:sub>
                            <m:r>
                              <a:rPr>
                                <a:latin typeface="Cambria Math" panose="02040503050406030204" pitchFamily="18" charset="0"/>
                              </a:rPr>
                              <m:t>0</m:t>
                            </m:r>
                          </m:sub>
                        </m:sSub>
                        <m:r>
                          <a:rPr>
                            <a:latin typeface="Cambria Math" panose="02040503050406030204" pitchFamily="18" charset="0"/>
                          </a:rPr>
                          <m:t>:</m:t>
                        </m:r>
                      </m:e>
                      <m:e>
                        <m:r>
                          <a:rPr>
                            <a:latin typeface="Cambria Math" panose="02040503050406030204" pitchFamily="18" charset="0"/>
                          </a:rPr>
                          <m:t> </m:t>
                        </m:r>
                        <m:sSub>
                          <m:sSubPr>
                            <m:ctrlPr>
                              <a:rPr i="1">
                                <a:latin typeface="Cambria Math" panose="02040503050406030204" pitchFamily="18" charset="0"/>
                              </a:rPr>
                            </m:ctrlPr>
                          </m:sSubPr>
                          <m:e>
                            <m:r>
                              <a:rPr>
                                <a:latin typeface="Cambria Math" panose="02040503050406030204" pitchFamily="18" charset="0"/>
                              </a:rPr>
                              <m:t>𝑝</m:t>
                            </m:r>
                          </m:e>
                          <m:sub>
                            <m:r>
                              <a:rPr>
                                <a:latin typeface="Cambria Math" panose="02040503050406030204" pitchFamily="18" charset="0"/>
                              </a:rPr>
                              <m:t>1</m:t>
                            </m:r>
                          </m:sub>
                        </m:sSub>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𝑝</m:t>
                            </m:r>
                          </m:e>
                          <m:sub>
                            <m:r>
                              <a:rPr>
                                <a:latin typeface="Cambria Math" panose="02040503050406030204" pitchFamily="18" charset="0"/>
                              </a:rPr>
                              <m:t>2</m:t>
                            </m:r>
                          </m:sub>
                        </m:sSub>
                      </m:e>
                    </m:mr>
                    <m:mr>
                      <m:e>
                        <m:sSub>
                          <m:sSubPr>
                            <m:ctrlPr>
                              <a:rPr i="1">
                                <a:latin typeface="Cambria Math" panose="02040503050406030204" pitchFamily="18" charset="0"/>
                              </a:rPr>
                            </m:ctrlPr>
                          </m:sSubPr>
                          <m:e>
                            <m:r>
                              <a:rPr>
                                <a:latin typeface="Cambria Math" panose="02040503050406030204" pitchFamily="18" charset="0"/>
                              </a:rPr>
                              <m:t>𝐻</m:t>
                            </m:r>
                          </m:e>
                          <m:sub>
                            <m:r>
                              <a:rPr>
                                <a:latin typeface="Cambria Math" panose="02040503050406030204" pitchFamily="18" charset="0"/>
                              </a:rPr>
                              <m:t>1</m:t>
                            </m:r>
                          </m:sub>
                        </m:sSub>
                        <m:r>
                          <a:rPr>
                            <a:latin typeface="Cambria Math" panose="02040503050406030204" pitchFamily="18" charset="0"/>
                          </a:rPr>
                          <m:t>:</m:t>
                        </m:r>
                      </m:e>
                      <m:e>
                        <m:r>
                          <a:rPr>
                            <a:latin typeface="Cambria Math" panose="02040503050406030204" pitchFamily="18" charset="0"/>
                          </a:rPr>
                          <m:t> </m:t>
                        </m:r>
                        <m:sSub>
                          <m:sSubPr>
                            <m:ctrlPr>
                              <a:rPr i="1">
                                <a:latin typeface="Cambria Math" panose="02040503050406030204" pitchFamily="18" charset="0"/>
                              </a:rPr>
                            </m:ctrlPr>
                          </m:sSubPr>
                          <m:e>
                            <m:r>
                              <a:rPr>
                                <a:latin typeface="Cambria Math" panose="02040503050406030204" pitchFamily="18" charset="0"/>
                              </a:rPr>
                              <m:t>𝑝</m:t>
                            </m:r>
                          </m:e>
                          <m:sub>
                            <m:r>
                              <a:rPr>
                                <a:latin typeface="Cambria Math" panose="02040503050406030204" pitchFamily="18" charset="0"/>
                              </a:rPr>
                              <m:t>1</m:t>
                            </m:r>
                          </m:sub>
                        </m:sSub>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𝑝</m:t>
                            </m:r>
                          </m:e>
                          <m:sub>
                            <m:r>
                              <a:rPr>
                                <a:latin typeface="Cambria Math" panose="02040503050406030204" pitchFamily="18" charset="0"/>
                              </a:rPr>
                              <m:t>2</m:t>
                            </m:r>
                          </m:sub>
                        </m:sSub>
                      </m:e>
                    </m:mr>
                  </m:m>
                </m:oMath>
              </m:oMathPara>
            </a14:m>
            <a:endParaRPr/>
          </a:p>
          <a:p>
            <a:pPr lvl="0"/>
            <a:r>
              <a:t>We need to calculate the proportions in each group before doing the test.</a:t>
            </a:r>
          </a:p>
          <a:p>
            <a:pPr lvl="0"/>
            <a:r>
              <a:t>Proportion of men that tested positive; </a:t>
            </a:r>
            <a14:m xmlns:a14="http://schemas.microsoft.com/office/drawing/2010/main">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𝑝</m:t>
                    </m:r>
                  </m:e>
                  <m:sub>
                    <m:r>
                      <a:rPr>
                        <a:latin typeface="Cambria Math" panose="02040503050406030204" pitchFamily="18" charset="0"/>
                      </a:rPr>
                      <m:t>1</m:t>
                    </m:r>
                  </m:sub>
                </m:sSub>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𝑛</m:t>
                    </m:r>
                  </m:e>
                  <m:sub>
                    <m:r>
                      <a:rPr>
                        <a:latin typeface="Cambria Math" panose="02040503050406030204" pitchFamily="18" charset="0"/>
                      </a:rPr>
                      <m:t>1</m:t>
                    </m:r>
                  </m:sub>
                </m:sSub>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𝑁</m:t>
                    </m:r>
                  </m:e>
                  <m:sub>
                    <m:r>
                      <a:rPr>
                        <a:latin typeface="Cambria Math" panose="02040503050406030204" pitchFamily="18" charset="0"/>
                      </a:rPr>
                      <m:t>1</m:t>
                    </m:r>
                  </m:sub>
                </m:sSub>
              </m:oMath>
            </a14:m>
            <a:endParaRPr/>
          </a:p>
          <a:p>
            <a:pPr lvl="0"/>
            <a:r>
              <a:t>Proportion of women that tested positive; </a:t>
            </a:r>
            <a14:m xmlns:a14="http://schemas.microsoft.com/office/drawing/2010/main">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𝑝</m:t>
                    </m:r>
                  </m:e>
                  <m:sub>
                    <m:r>
                      <a:rPr>
                        <a:latin typeface="Cambria Math" panose="02040503050406030204" pitchFamily="18" charset="0"/>
                      </a:rPr>
                      <m:t>2</m:t>
                    </m:r>
                  </m:sub>
                </m:sSub>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𝑛</m:t>
                    </m:r>
                  </m:e>
                  <m:sub>
                    <m:r>
                      <a:rPr>
                        <a:latin typeface="Cambria Math" panose="02040503050406030204" pitchFamily="18" charset="0"/>
                      </a:rPr>
                      <m:t>2</m:t>
                    </m:r>
                  </m:sub>
                </m:sSub>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𝑁</m:t>
                    </m:r>
                  </m:e>
                  <m:sub>
                    <m:r>
                      <a:rPr>
                        <a:latin typeface="Cambria Math" panose="02040503050406030204" pitchFamily="18" charset="0"/>
                      </a:rPr>
                      <m:t>2</m:t>
                    </m:r>
                  </m:sub>
                </m:sSub>
              </m:oMath>
            </a14:m>
            <a:endParaRPr/>
          </a:p>
        </p:txBody>
      </p:sp>
      <p:sp>
        <p:nvSpPr>
          <p:cNvPr id="6" name="Slide Number Placeholder 5">
            <a:extLst>
              <a:ext uri="{FF2B5EF4-FFF2-40B4-BE49-F238E27FC236}">
                <a16:creationId xmlns:a16="http://schemas.microsoft.com/office/drawing/2014/main" id="{C03F998A-2A5E-471F-9FEB-2559B0A7F93D}"/>
              </a:ext>
            </a:extLst>
          </p:cNvPr>
          <p:cNvSpPr>
            <a:spLocks noGrp="1"/>
          </p:cNvSpPr>
          <p:nvPr>
            <p:ph type="sldNum" sz="quarter" idx="12"/>
          </p:nvPr>
        </p:nvSpPr>
        <p:spPr/>
        <p:txBody>
          <a:bodyPr/>
          <a:lstStyle/>
          <a:p>
            <a:fld id="{E1C5CB42-CF14-4293-8971-6DCD1AAE8BE7}" type="slidenum">
              <a:rPr lang="en-GB" smtClean="0"/>
              <a:t>64</a:t>
            </a:fld>
            <a:endParaRPr lang="en-GB"/>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marL="0" lvl="0" indent="0">
              <a:buNone/>
            </a:pPr>
            <a:r>
              <a:t>Comparing proportions: two samples</a:t>
            </a:r>
          </a:p>
        </p:txBody>
      </p:sp>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a:xfrm>
            <a:off x="838200" y="1690688"/>
            <a:ext cx="10515600" cy="4667250"/>
          </a:xfrm>
        </p:spPr>
        <p:txBody>
          <a:bodyPr>
            <a:normAutofit fontScale="92500" lnSpcReduction="10000"/>
          </a:bodyPr>
          <a:lstStyle/>
          <a:p>
            <a:pPr lvl="0" indent="0">
              <a:buNone/>
            </a:pPr>
            <a:r>
              <a:rPr dirty="0">
                <a:solidFill>
                  <a:srgbClr val="06287E"/>
                </a:solidFill>
                <a:latin typeface="Courier"/>
              </a:rPr>
              <a:t>table</a:t>
            </a:r>
            <a:r>
              <a:rPr dirty="0">
                <a:latin typeface="Courier"/>
              </a:rPr>
              <a:t>(df1</a:t>
            </a:r>
            <a:r>
              <a:rPr dirty="0">
                <a:solidFill>
                  <a:srgbClr val="4070A0"/>
                </a:solidFill>
                <a:latin typeface="Courier"/>
              </a:rPr>
              <a:t>$</a:t>
            </a:r>
            <a:r>
              <a:rPr dirty="0">
                <a:latin typeface="Courier"/>
              </a:rPr>
              <a:t>sex,df1</a:t>
            </a:r>
            <a:r>
              <a:rPr dirty="0">
                <a:solidFill>
                  <a:srgbClr val="4070A0"/>
                </a:solidFill>
                <a:latin typeface="Courier"/>
              </a:rPr>
              <a:t>$</a:t>
            </a:r>
            <a:r>
              <a:rPr dirty="0">
                <a:latin typeface="Courier"/>
              </a:rPr>
              <a:t>hiv)</a:t>
            </a:r>
            <a:br>
              <a:rPr dirty="0"/>
            </a:br>
            <a:r>
              <a:rPr i="1" dirty="0">
                <a:solidFill>
                  <a:srgbClr val="BA2121"/>
                </a:solidFill>
                <a:latin typeface="Courier"/>
              </a:rPr>
              <a:t>##    </a:t>
            </a:r>
            <a:br>
              <a:rPr dirty="0"/>
            </a:br>
            <a:r>
              <a:rPr i="1" dirty="0">
                <a:solidFill>
                  <a:srgbClr val="BA2121"/>
                </a:solidFill>
                <a:latin typeface="Courier"/>
              </a:rPr>
              <a:t>##        0    1</a:t>
            </a:r>
            <a:br>
              <a:rPr dirty="0"/>
            </a:br>
            <a:r>
              <a:rPr i="1" dirty="0">
                <a:solidFill>
                  <a:srgbClr val="BA2121"/>
                </a:solidFill>
                <a:latin typeface="Courier"/>
              </a:rPr>
              <a:t>##   1 1204  262</a:t>
            </a:r>
            <a:br>
              <a:rPr dirty="0"/>
            </a:br>
            <a:r>
              <a:rPr i="1" dirty="0">
                <a:solidFill>
                  <a:srgbClr val="BA2121"/>
                </a:solidFill>
                <a:latin typeface="Courier"/>
              </a:rPr>
              <a:t>##   2 1236  298</a:t>
            </a:r>
            <a:br>
              <a:rPr dirty="0"/>
            </a:br>
            <a:r>
              <a:rPr dirty="0" err="1">
                <a:solidFill>
                  <a:srgbClr val="06287E"/>
                </a:solidFill>
                <a:latin typeface="Courier"/>
              </a:rPr>
              <a:t>prop.test</a:t>
            </a:r>
            <a:r>
              <a:rPr dirty="0">
                <a:latin typeface="Courier"/>
              </a:rPr>
              <a:t>(</a:t>
            </a:r>
            <a:r>
              <a:rPr dirty="0">
                <a:solidFill>
                  <a:srgbClr val="7D9029"/>
                </a:solidFill>
                <a:latin typeface="Courier"/>
              </a:rPr>
              <a:t>x=</a:t>
            </a:r>
            <a:r>
              <a:rPr dirty="0">
                <a:solidFill>
                  <a:srgbClr val="06287E"/>
                </a:solidFill>
                <a:latin typeface="Courier"/>
              </a:rPr>
              <a:t>c</a:t>
            </a:r>
            <a:r>
              <a:rPr dirty="0">
                <a:latin typeface="Courier"/>
              </a:rPr>
              <a:t>(</a:t>
            </a:r>
            <a:r>
              <a:rPr dirty="0">
                <a:solidFill>
                  <a:srgbClr val="40A070"/>
                </a:solidFill>
                <a:latin typeface="Courier"/>
              </a:rPr>
              <a:t>262</a:t>
            </a:r>
            <a:r>
              <a:rPr dirty="0">
                <a:latin typeface="Courier"/>
              </a:rPr>
              <a:t>,</a:t>
            </a:r>
            <a:r>
              <a:rPr dirty="0">
                <a:solidFill>
                  <a:srgbClr val="40A070"/>
                </a:solidFill>
                <a:latin typeface="Courier"/>
              </a:rPr>
              <a:t>298</a:t>
            </a:r>
            <a:r>
              <a:rPr dirty="0">
                <a:latin typeface="Courier"/>
              </a:rPr>
              <a:t>),</a:t>
            </a:r>
            <a:r>
              <a:rPr dirty="0">
                <a:solidFill>
                  <a:srgbClr val="7D9029"/>
                </a:solidFill>
                <a:latin typeface="Courier"/>
              </a:rPr>
              <a:t>n=</a:t>
            </a:r>
            <a:r>
              <a:rPr dirty="0">
                <a:solidFill>
                  <a:srgbClr val="06287E"/>
                </a:solidFill>
                <a:latin typeface="Courier"/>
              </a:rPr>
              <a:t>c</a:t>
            </a:r>
            <a:r>
              <a:rPr dirty="0">
                <a:latin typeface="Courier"/>
              </a:rPr>
              <a:t>(</a:t>
            </a:r>
            <a:r>
              <a:rPr dirty="0">
                <a:solidFill>
                  <a:srgbClr val="40A070"/>
                </a:solidFill>
                <a:latin typeface="Courier"/>
              </a:rPr>
              <a:t>1466</a:t>
            </a:r>
            <a:r>
              <a:rPr dirty="0">
                <a:latin typeface="Courier"/>
              </a:rPr>
              <a:t>,</a:t>
            </a:r>
            <a:r>
              <a:rPr dirty="0">
                <a:solidFill>
                  <a:srgbClr val="40A070"/>
                </a:solidFill>
                <a:latin typeface="Courier"/>
              </a:rPr>
              <a:t>1534</a:t>
            </a:r>
            <a:r>
              <a:rPr dirty="0">
                <a:latin typeface="Courier"/>
              </a:rPr>
              <a:t>))</a:t>
            </a:r>
            <a:br>
              <a:rPr dirty="0"/>
            </a:br>
            <a:r>
              <a:rPr i="1" dirty="0">
                <a:solidFill>
                  <a:srgbClr val="BA2121"/>
                </a:solidFill>
                <a:latin typeface="Courier"/>
              </a:rPr>
              <a:t>## </a:t>
            </a:r>
            <a:br>
              <a:rPr dirty="0"/>
            </a:br>
            <a:r>
              <a:rPr i="1" dirty="0">
                <a:solidFill>
                  <a:srgbClr val="BA2121"/>
                </a:solidFill>
                <a:latin typeface="Courier"/>
              </a:rPr>
              <a:t>##  2-sample test for equality of proportions with continuity correction</a:t>
            </a:r>
            <a:br>
              <a:rPr dirty="0"/>
            </a:br>
            <a:r>
              <a:rPr i="1" dirty="0">
                <a:solidFill>
                  <a:srgbClr val="BA2121"/>
                </a:solidFill>
                <a:latin typeface="Courier"/>
              </a:rPr>
              <a:t>## </a:t>
            </a:r>
            <a:br>
              <a:rPr dirty="0"/>
            </a:br>
            <a:r>
              <a:rPr i="1" dirty="0">
                <a:solidFill>
                  <a:srgbClr val="BA2121"/>
                </a:solidFill>
                <a:latin typeface="Courier"/>
              </a:rPr>
              <a:t>## data:  c(262, 298) out of c(1466, 1534)</a:t>
            </a:r>
            <a:br>
              <a:rPr dirty="0"/>
            </a:br>
            <a:r>
              <a:rPr i="1" dirty="0">
                <a:solidFill>
                  <a:srgbClr val="BA2121"/>
                </a:solidFill>
                <a:latin typeface="Courier"/>
              </a:rPr>
              <a:t>## X-squared = 1.093, </a:t>
            </a:r>
            <a:r>
              <a:rPr i="1" dirty="0" err="1">
                <a:solidFill>
                  <a:srgbClr val="BA2121"/>
                </a:solidFill>
                <a:latin typeface="Courier"/>
              </a:rPr>
              <a:t>df</a:t>
            </a:r>
            <a:r>
              <a:rPr i="1" dirty="0">
                <a:solidFill>
                  <a:srgbClr val="BA2121"/>
                </a:solidFill>
                <a:latin typeface="Courier"/>
              </a:rPr>
              <a:t> = 1, p-value = 0.2958</a:t>
            </a:r>
            <a:br>
              <a:rPr dirty="0"/>
            </a:br>
            <a:r>
              <a:rPr i="1" dirty="0">
                <a:solidFill>
                  <a:srgbClr val="BA2121"/>
                </a:solidFill>
                <a:latin typeface="Courier"/>
              </a:rPr>
              <a:t>## alternative hypothesis: </a:t>
            </a:r>
            <a:r>
              <a:rPr i="1" dirty="0" err="1">
                <a:solidFill>
                  <a:srgbClr val="BA2121"/>
                </a:solidFill>
                <a:latin typeface="Courier"/>
              </a:rPr>
              <a:t>two.sided</a:t>
            </a:r>
            <a:br>
              <a:rPr dirty="0"/>
            </a:br>
            <a:r>
              <a:rPr i="1" dirty="0">
                <a:solidFill>
                  <a:srgbClr val="BA2121"/>
                </a:solidFill>
                <a:latin typeface="Courier"/>
              </a:rPr>
              <a:t>## 95 percent confidence interval:</a:t>
            </a:r>
            <a:br>
              <a:rPr dirty="0"/>
            </a:br>
            <a:r>
              <a:rPr i="1" dirty="0">
                <a:solidFill>
                  <a:srgbClr val="BA2121"/>
                </a:solidFill>
                <a:latin typeface="Courier"/>
              </a:rPr>
              <a:t>##  -0.04408002  0.01298849</a:t>
            </a:r>
            <a:br>
              <a:rPr dirty="0"/>
            </a:br>
            <a:r>
              <a:rPr i="1" dirty="0">
                <a:solidFill>
                  <a:srgbClr val="BA2121"/>
                </a:solidFill>
                <a:latin typeface="Courier"/>
              </a:rPr>
              <a:t>## sample estimates:</a:t>
            </a:r>
            <a:br>
              <a:rPr dirty="0"/>
            </a:br>
            <a:r>
              <a:rPr i="1" dirty="0">
                <a:solidFill>
                  <a:srgbClr val="BA2121"/>
                </a:solidFill>
                <a:latin typeface="Courier"/>
              </a:rPr>
              <a:t>##    prop 1    prop 2 </a:t>
            </a:r>
            <a:br>
              <a:rPr dirty="0"/>
            </a:br>
            <a:r>
              <a:rPr i="1" dirty="0">
                <a:solidFill>
                  <a:srgbClr val="BA2121"/>
                </a:solidFill>
                <a:latin typeface="Courier"/>
              </a:rPr>
              <a:t>## 0.1787176 0.1942634</a:t>
            </a:r>
          </a:p>
        </p:txBody>
      </p:sp>
      <p:sp>
        <p:nvSpPr>
          <p:cNvPr id="6" name="Slide Number Placeholder 5">
            <a:extLst>
              <a:ext uri="{FF2B5EF4-FFF2-40B4-BE49-F238E27FC236}">
                <a16:creationId xmlns:a16="http://schemas.microsoft.com/office/drawing/2014/main" id="{C03F998A-2A5E-471F-9FEB-2559B0A7F93D}"/>
              </a:ext>
            </a:extLst>
          </p:cNvPr>
          <p:cNvSpPr>
            <a:spLocks noGrp="1"/>
          </p:cNvSpPr>
          <p:nvPr>
            <p:ph type="sldNum" sz="quarter" idx="12"/>
          </p:nvPr>
        </p:nvSpPr>
        <p:spPr/>
        <p:txBody>
          <a:bodyPr/>
          <a:lstStyle/>
          <a:p>
            <a:fld id="{E1C5CB42-CF14-4293-8971-6DCD1AAE8BE7}" type="slidenum">
              <a:rPr lang="en-GB" smtClean="0"/>
              <a:t>65</a:t>
            </a:fld>
            <a:endParaRPr lang="en-GB"/>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marL="0" lvl="0" indent="0">
              <a:buNone/>
            </a:pPr>
            <a:r>
              <a:t>Comparing proportions: two samples</a:t>
            </a:r>
          </a:p>
        </p:txBody>
      </p:sp>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a:xfrm>
            <a:off x="838200" y="1782759"/>
            <a:ext cx="10515600" cy="4667250"/>
          </a:xfrm>
        </p:spPr>
        <p:txBody>
          <a:bodyPr>
            <a:normAutofit fontScale="85000" lnSpcReduction="20000"/>
          </a:bodyPr>
          <a:lstStyle/>
          <a:p>
            <a:pPr marL="0" lvl="0" indent="0">
              <a:buNone/>
            </a:pPr>
            <a:r>
              <a:rPr dirty="0"/>
              <a:t>There are 2 alternative ways to do the same test - one of which does not involve making the normal approximation:</a:t>
            </a:r>
          </a:p>
          <a:p>
            <a:pPr lvl="0" indent="0">
              <a:buNone/>
            </a:pPr>
            <a:r>
              <a:rPr dirty="0" err="1">
                <a:solidFill>
                  <a:srgbClr val="06287E"/>
                </a:solidFill>
                <a:latin typeface="Courier"/>
              </a:rPr>
              <a:t>chisq.test</a:t>
            </a:r>
            <a:r>
              <a:rPr dirty="0">
                <a:latin typeface="Courier"/>
              </a:rPr>
              <a:t>(</a:t>
            </a:r>
            <a:r>
              <a:rPr dirty="0">
                <a:solidFill>
                  <a:srgbClr val="06287E"/>
                </a:solidFill>
                <a:latin typeface="Courier"/>
              </a:rPr>
              <a:t>table</a:t>
            </a:r>
            <a:r>
              <a:rPr dirty="0">
                <a:latin typeface="Courier"/>
              </a:rPr>
              <a:t>(df1</a:t>
            </a:r>
            <a:r>
              <a:rPr dirty="0">
                <a:solidFill>
                  <a:srgbClr val="4070A0"/>
                </a:solidFill>
                <a:latin typeface="Courier"/>
              </a:rPr>
              <a:t>$</a:t>
            </a:r>
            <a:r>
              <a:rPr dirty="0">
                <a:latin typeface="Courier"/>
              </a:rPr>
              <a:t>sex,df1</a:t>
            </a:r>
            <a:r>
              <a:rPr dirty="0">
                <a:solidFill>
                  <a:srgbClr val="4070A0"/>
                </a:solidFill>
                <a:latin typeface="Courier"/>
              </a:rPr>
              <a:t>$</a:t>
            </a:r>
            <a:r>
              <a:rPr dirty="0">
                <a:latin typeface="Courier"/>
              </a:rPr>
              <a:t>hiv)) </a:t>
            </a:r>
            <a:r>
              <a:rPr i="1" dirty="0">
                <a:solidFill>
                  <a:srgbClr val="60A0B0"/>
                </a:solidFill>
                <a:latin typeface="Courier"/>
              </a:rPr>
              <a:t># normal approximation</a:t>
            </a:r>
            <a:br>
              <a:rPr dirty="0"/>
            </a:br>
            <a:r>
              <a:rPr i="1" dirty="0">
                <a:solidFill>
                  <a:srgbClr val="BA2121"/>
                </a:solidFill>
                <a:latin typeface="Courier"/>
              </a:rPr>
              <a:t>## </a:t>
            </a:r>
            <a:br>
              <a:rPr dirty="0"/>
            </a:br>
            <a:r>
              <a:rPr i="1" dirty="0">
                <a:solidFill>
                  <a:srgbClr val="BA2121"/>
                </a:solidFill>
                <a:latin typeface="Courier"/>
              </a:rPr>
              <a:t>##  Pearson's Chi-squared test with Yates' continuity correction</a:t>
            </a:r>
            <a:br>
              <a:rPr dirty="0"/>
            </a:br>
            <a:r>
              <a:rPr i="1" dirty="0">
                <a:solidFill>
                  <a:srgbClr val="BA2121"/>
                </a:solidFill>
                <a:latin typeface="Courier"/>
              </a:rPr>
              <a:t>## </a:t>
            </a:r>
            <a:br>
              <a:rPr dirty="0"/>
            </a:br>
            <a:r>
              <a:rPr i="1" dirty="0">
                <a:solidFill>
                  <a:srgbClr val="BA2121"/>
                </a:solidFill>
                <a:latin typeface="Courier"/>
              </a:rPr>
              <a:t>## data:  table(df1$sex, df1$hiv)</a:t>
            </a:r>
            <a:br>
              <a:rPr dirty="0"/>
            </a:br>
            <a:r>
              <a:rPr i="1" dirty="0">
                <a:solidFill>
                  <a:srgbClr val="BA2121"/>
                </a:solidFill>
                <a:latin typeface="Courier"/>
              </a:rPr>
              <a:t>## X-squared = 1.093, </a:t>
            </a:r>
            <a:r>
              <a:rPr i="1" dirty="0" err="1">
                <a:solidFill>
                  <a:srgbClr val="BA2121"/>
                </a:solidFill>
                <a:latin typeface="Courier"/>
              </a:rPr>
              <a:t>df</a:t>
            </a:r>
            <a:r>
              <a:rPr i="1" dirty="0">
                <a:solidFill>
                  <a:srgbClr val="BA2121"/>
                </a:solidFill>
                <a:latin typeface="Courier"/>
              </a:rPr>
              <a:t> = 1, p-value = 0.2958</a:t>
            </a:r>
            <a:br>
              <a:rPr dirty="0"/>
            </a:br>
            <a:r>
              <a:rPr dirty="0" err="1">
                <a:solidFill>
                  <a:srgbClr val="06287E"/>
                </a:solidFill>
                <a:latin typeface="Courier"/>
              </a:rPr>
              <a:t>fisher.test</a:t>
            </a:r>
            <a:r>
              <a:rPr dirty="0">
                <a:latin typeface="Courier"/>
              </a:rPr>
              <a:t>(</a:t>
            </a:r>
            <a:r>
              <a:rPr dirty="0">
                <a:solidFill>
                  <a:srgbClr val="06287E"/>
                </a:solidFill>
                <a:latin typeface="Courier"/>
              </a:rPr>
              <a:t>table</a:t>
            </a:r>
            <a:r>
              <a:rPr dirty="0">
                <a:latin typeface="Courier"/>
              </a:rPr>
              <a:t>(df1</a:t>
            </a:r>
            <a:r>
              <a:rPr dirty="0">
                <a:solidFill>
                  <a:srgbClr val="4070A0"/>
                </a:solidFill>
                <a:latin typeface="Courier"/>
              </a:rPr>
              <a:t>$</a:t>
            </a:r>
            <a:r>
              <a:rPr dirty="0">
                <a:latin typeface="Courier"/>
              </a:rPr>
              <a:t>sex,df1</a:t>
            </a:r>
            <a:r>
              <a:rPr dirty="0">
                <a:solidFill>
                  <a:srgbClr val="4070A0"/>
                </a:solidFill>
                <a:latin typeface="Courier"/>
              </a:rPr>
              <a:t>$</a:t>
            </a:r>
            <a:r>
              <a:rPr dirty="0">
                <a:latin typeface="Courier"/>
              </a:rPr>
              <a:t>hiv)) </a:t>
            </a:r>
            <a:r>
              <a:rPr i="1" dirty="0">
                <a:solidFill>
                  <a:srgbClr val="60A0B0"/>
                </a:solidFill>
                <a:latin typeface="Courier"/>
              </a:rPr>
              <a:t># exact Fisher test (see later: non-parametric tests)</a:t>
            </a:r>
            <a:br>
              <a:rPr dirty="0"/>
            </a:br>
            <a:r>
              <a:rPr i="1" dirty="0">
                <a:solidFill>
                  <a:srgbClr val="BA2121"/>
                </a:solidFill>
                <a:latin typeface="Courier"/>
              </a:rPr>
              <a:t>## </a:t>
            </a:r>
            <a:br>
              <a:rPr dirty="0"/>
            </a:br>
            <a:r>
              <a:rPr i="1" dirty="0">
                <a:solidFill>
                  <a:srgbClr val="BA2121"/>
                </a:solidFill>
                <a:latin typeface="Courier"/>
              </a:rPr>
              <a:t>##  Fisher's Exact Test for Count Data</a:t>
            </a:r>
            <a:br>
              <a:rPr dirty="0"/>
            </a:br>
            <a:r>
              <a:rPr i="1" dirty="0">
                <a:solidFill>
                  <a:srgbClr val="BA2121"/>
                </a:solidFill>
                <a:latin typeface="Courier"/>
              </a:rPr>
              <a:t>## </a:t>
            </a:r>
            <a:br>
              <a:rPr dirty="0"/>
            </a:br>
            <a:r>
              <a:rPr i="1" dirty="0">
                <a:solidFill>
                  <a:srgbClr val="BA2121"/>
                </a:solidFill>
                <a:latin typeface="Courier"/>
              </a:rPr>
              <a:t>## data:  table(df1$sex, df1$hiv)</a:t>
            </a:r>
            <a:br>
              <a:rPr dirty="0"/>
            </a:br>
            <a:r>
              <a:rPr i="1" dirty="0">
                <a:solidFill>
                  <a:srgbClr val="BA2121"/>
                </a:solidFill>
                <a:latin typeface="Courier"/>
              </a:rPr>
              <a:t>## p-value = 0.2813</a:t>
            </a:r>
            <a:br>
              <a:rPr dirty="0"/>
            </a:br>
            <a:r>
              <a:rPr i="1" dirty="0">
                <a:solidFill>
                  <a:srgbClr val="BA2121"/>
                </a:solidFill>
                <a:latin typeface="Courier"/>
              </a:rPr>
              <a:t>## alternative hypothesis: true odds ratio is not equal to 1</a:t>
            </a:r>
            <a:br>
              <a:rPr dirty="0"/>
            </a:br>
            <a:r>
              <a:rPr i="1" dirty="0">
                <a:solidFill>
                  <a:srgbClr val="BA2121"/>
                </a:solidFill>
                <a:latin typeface="Courier"/>
              </a:rPr>
              <a:t>## 95 percent confidence interval:</a:t>
            </a:r>
            <a:br>
              <a:rPr dirty="0"/>
            </a:br>
            <a:r>
              <a:rPr i="1" dirty="0">
                <a:solidFill>
                  <a:srgbClr val="BA2121"/>
                </a:solidFill>
                <a:latin typeface="Courier"/>
              </a:rPr>
              <a:t>##  0.9178971 1.3377516</a:t>
            </a:r>
            <a:br>
              <a:rPr dirty="0"/>
            </a:br>
            <a:r>
              <a:rPr i="1" dirty="0">
                <a:solidFill>
                  <a:srgbClr val="BA2121"/>
                </a:solidFill>
                <a:latin typeface="Courier"/>
              </a:rPr>
              <a:t>## sample estimates:</a:t>
            </a:r>
            <a:br>
              <a:rPr dirty="0"/>
            </a:br>
            <a:r>
              <a:rPr i="1" dirty="0">
                <a:solidFill>
                  <a:srgbClr val="BA2121"/>
                </a:solidFill>
                <a:latin typeface="Courier"/>
              </a:rPr>
              <a:t>## odds ratio </a:t>
            </a:r>
            <a:br>
              <a:rPr dirty="0"/>
            </a:br>
            <a:r>
              <a:rPr i="1" dirty="0">
                <a:solidFill>
                  <a:srgbClr val="BA2121"/>
                </a:solidFill>
                <a:latin typeface="Courier"/>
              </a:rPr>
              <a:t>##   1.107919</a:t>
            </a:r>
          </a:p>
        </p:txBody>
      </p:sp>
      <p:sp>
        <p:nvSpPr>
          <p:cNvPr id="6" name="Slide Number Placeholder 5">
            <a:extLst>
              <a:ext uri="{FF2B5EF4-FFF2-40B4-BE49-F238E27FC236}">
                <a16:creationId xmlns:a16="http://schemas.microsoft.com/office/drawing/2014/main" id="{C03F998A-2A5E-471F-9FEB-2559B0A7F93D}"/>
              </a:ext>
            </a:extLst>
          </p:cNvPr>
          <p:cNvSpPr>
            <a:spLocks noGrp="1"/>
          </p:cNvSpPr>
          <p:nvPr>
            <p:ph type="sldNum" sz="quarter" idx="12"/>
          </p:nvPr>
        </p:nvSpPr>
        <p:spPr/>
        <p:txBody>
          <a:bodyPr/>
          <a:lstStyle/>
          <a:p>
            <a:fld id="{E1C5CB42-CF14-4293-8971-6DCD1AAE8BE7}" type="slidenum">
              <a:rPr lang="en-GB" smtClean="0"/>
              <a:t>66</a:t>
            </a:fld>
            <a:endParaRPr lang="en-GB"/>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marL="0" lvl="0" indent="0">
              <a:buNone/>
            </a:pPr>
            <a:r>
              <a:t>Comparing proportions: chi-squared</a:t>
            </a:r>
          </a:p>
        </p:txBody>
      </p:sp>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p:txBody>
          <a:bodyPr/>
          <a:lstStyle/>
          <a:p>
            <a:pPr marL="0" lvl="0" indent="0">
              <a:buNone/>
            </a:pPr>
            <a:r>
              <a:t>Chi-squared tests can be used to test whether 2 categorical variables are independent or not.</a:t>
            </a:r>
          </a:p>
          <a:p>
            <a:pPr marL="0" lvl="0" indent="0">
              <a:buNone/>
            </a:pPr>
            <a:r>
              <a:t>Given 2 categorical variables </a:t>
            </a:r>
            <a14:m xmlns:a14="http://schemas.microsoft.com/office/drawing/2010/main">
              <m:oMath xmlns:m="http://schemas.openxmlformats.org/officeDocument/2006/math">
                <m:r>
                  <a:rPr>
                    <a:latin typeface="Cambria Math" panose="02040503050406030204" pitchFamily="18" charset="0"/>
                  </a:rPr>
                  <m:t>𝑉</m:t>
                </m:r>
                <m:r>
                  <a:rPr>
                    <a:latin typeface="Cambria Math" panose="02040503050406030204" pitchFamily="18" charset="0"/>
                  </a:rPr>
                  <m:t>1</m:t>
                </m:r>
              </m:oMath>
            </a14:m>
            <a:r>
              <a:t> (taking </a:t>
            </a:r>
            <a14:m xmlns:a14="http://schemas.microsoft.com/office/drawing/2010/main">
              <m:oMath xmlns:m="http://schemas.openxmlformats.org/officeDocument/2006/math">
                <m:r>
                  <a:rPr>
                    <a:latin typeface="Cambria Math" panose="02040503050406030204" pitchFamily="18" charset="0"/>
                  </a:rPr>
                  <m:t>𝑐</m:t>
                </m:r>
              </m:oMath>
            </a14:m>
            <a:r>
              <a:t> different values) and </a:t>
            </a:r>
            <a14:m xmlns:a14="http://schemas.microsoft.com/office/drawing/2010/main">
              <m:oMath xmlns:m="http://schemas.openxmlformats.org/officeDocument/2006/math">
                <m:r>
                  <a:rPr>
                    <a:latin typeface="Cambria Math" panose="02040503050406030204" pitchFamily="18" charset="0"/>
                  </a:rPr>
                  <m:t>𝑉</m:t>
                </m:r>
                <m:r>
                  <a:rPr>
                    <a:latin typeface="Cambria Math" panose="02040503050406030204" pitchFamily="18" charset="0"/>
                  </a:rPr>
                  <m:t>2</m:t>
                </m:r>
              </m:oMath>
            </a14:m>
            <a:r>
              <a:t> (taking </a:t>
            </a:r>
            <a14:m xmlns:a14="http://schemas.microsoft.com/office/drawing/2010/main">
              <m:oMath xmlns:m="http://schemas.openxmlformats.org/officeDocument/2006/math">
                <m:r>
                  <a:rPr>
                    <a:latin typeface="Cambria Math" panose="02040503050406030204" pitchFamily="18" charset="0"/>
                  </a:rPr>
                  <m:t>𝑟</m:t>
                </m:r>
              </m:oMath>
            </a14:m>
            <a:r>
              <a:t> different values) we can compute an </a:t>
            </a:r>
            <a14:m xmlns:a14="http://schemas.microsoft.com/office/drawing/2010/main">
              <m:oMath xmlns:m="http://schemas.openxmlformats.org/officeDocument/2006/math">
                <m:r>
                  <a:rPr>
                    <a:latin typeface="Cambria Math" panose="02040503050406030204" pitchFamily="18" charset="0"/>
                  </a:rPr>
                  <m:t>𝑟</m:t>
                </m:r>
                <m:r>
                  <a:rPr>
                    <a:latin typeface="Cambria Math" panose="02040503050406030204" pitchFamily="18" charset="0"/>
                  </a:rPr>
                  <m:t>×</m:t>
                </m:r>
                <m:r>
                  <a:rPr>
                    <a:latin typeface="Cambria Math" panose="02040503050406030204" pitchFamily="18" charset="0"/>
                  </a:rPr>
                  <m:t>𝑐</m:t>
                </m:r>
              </m:oMath>
            </a14:m>
            <a:r>
              <a:t> contingency table (i.e. we cross-tabulate the 2 variables) of the </a:t>
            </a:r>
            <a:r>
              <a:rPr b="1"/>
              <a:t>observed</a:t>
            </a:r>
            <a:r>
              <a:t> values.</a:t>
            </a:r>
          </a:p>
          <a:p>
            <a:pPr marL="0" lvl="0" indent="0">
              <a:buNone/>
            </a:pPr>
            <a14:m xmlns:a14="http://schemas.microsoft.com/office/drawing/2010/main">
              <m:oMathPara xmlns:m="http://schemas.openxmlformats.org/officeDocument/2006/math">
                <m:oMathParaPr>
                  <m:jc m:val="center"/>
                </m:oMathParaPr>
                <m:oMath xmlns:m="http://schemas.openxmlformats.org/officeDocument/2006/math">
                  <m:r>
                    <a:rPr>
                      <a:latin typeface="Cambria Math" panose="02040503050406030204" pitchFamily="18" charset="0"/>
                    </a:rPr>
                    <m:t> </m:t>
                  </m:r>
                </m:oMath>
              </m:oMathPara>
            </a14:m>
            <a:endParaRPr/>
          </a:p>
          <a:p>
            <a:pPr marL="0" lvl="0" indent="0">
              <a:buNone/>
            </a:pPr>
            <a14:m xmlns:a14="http://schemas.microsoft.com/office/drawing/2010/main">
              <m:oMathPara xmlns:m="http://schemas.openxmlformats.org/officeDocument/2006/math">
                <m:oMathParaPr>
                  <m:jc m:val="center"/>
                </m:oMathParaPr>
                <m:oMath xmlns:m="http://schemas.openxmlformats.org/officeDocument/2006/math">
                  <m:m>
                    <m:mPr>
                      <m:plcHide m:val="on"/>
                      <m:mcs>
                        <m:mc>
                          <m:mcPr>
                            <m:count m:val="6"/>
                            <m:mcJc m:val="center"/>
                          </m:mcPr>
                        </m:mc>
                      </m:mcs>
                      <m:ctrlPr>
                        <a:rPr>
                          <a:latin typeface="Cambria Math" panose="02040503050406030204" pitchFamily="18" charset="0"/>
                        </a:rPr>
                      </m:ctrlPr>
                    </m:mPr>
                    <m:mr>
                      <m:e/>
                      <m:e/>
                      <m:e/>
                      <m:e/>
                      <m:e>
                        <m:r>
                          <a:rPr>
                            <a:latin typeface="Cambria Math" panose="02040503050406030204" pitchFamily="18" charset="0"/>
                          </a:rPr>
                          <m:t>𝑉</m:t>
                        </m:r>
                        <m:r>
                          <a:rPr>
                            <a:latin typeface="Cambria Math" panose="02040503050406030204" pitchFamily="18" charset="0"/>
                          </a:rPr>
                          <m:t>1</m:t>
                        </m:r>
                      </m:e>
                      <m:e/>
                    </m:mr>
                    <m:mr>
                      <m:e/>
                      <m:e/>
                      <m:e>
                        <m:sSub>
                          <m:sSubPr>
                            <m:ctrlPr>
                              <a:rPr i="1">
                                <a:latin typeface="Cambria Math" panose="02040503050406030204" pitchFamily="18" charset="0"/>
                              </a:rPr>
                            </m:ctrlPr>
                          </m:sSubPr>
                          <m:e>
                            <m:r>
                              <a:rPr>
                                <a:latin typeface="Cambria Math" panose="02040503050406030204" pitchFamily="18" charset="0"/>
                              </a:rPr>
                              <m:t>𝑂</m:t>
                            </m:r>
                          </m:e>
                          <m:sub>
                            <m:r>
                              <a:rPr>
                                <a:latin typeface="Cambria Math" panose="02040503050406030204" pitchFamily="18" charset="0"/>
                              </a:rPr>
                              <m:t>11</m:t>
                            </m:r>
                          </m:sub>
                        </m:sSub>
                      </m:e>
                      <m:e>
                        <m:sSub>
                          <m:sSubPr>
                            <m:ctrlPr>
                              <a:rPr i="1">
                                <a:latin typeface="Cambria Math" panose="02040503050406030204" pitchFamily="18" charset="0"/>
                              </a:rPr>
                            </m:ctrlPr>
                          </m:sSubPr>
                          <m:e>
                            <m:r>
                              <a:rPr>
                                <a:latin typeface="Cambria Math" panose="02040503050406030204" pitchFamily="18" charset="0"/>
                              </a:rPr>
                              <m:t>𝑂</m:t>
                            </m:r>
                          </m:e>
                          <m:sub>
                            <m:r>
                              <a:rPr>
                                <a:latin typeface="Cambria Math" panose="02040503050406030204" pitchFamily="18" charset="0"/>
                              </a:rPr>
                              <m:t>12</m:t>
                            </m:r>
                          </m:sub>
                        </m:sSub>
                      </m:e>
                      <m:e>
                        <m:r>
                          <a:rPr>
                            <a:latin typeface="Cambria Math" panose="02040503050406030204" pitchFamily="18" charset="0"/>
                          </a:rPr>
                          <m:t>…</m:t>
                        </m:r>
                      </m:e>
                      <m:e>
                        <m:sSub>
                          <m:sSubPr>
                            <m:ctrlPr>
                              <a:rPr i="1">
                                <a:latin typeface="Cambria Math" panose="02040503050406030204" pitchFamily="18" charset="0"/>
                              </a:rPr>
                            </m:ctrlPr>
                          </m:sSubPr>
                          <m:e>
                            <m:r>
                              <a:rPr>
                                <a:latin typeface="Cambria Math" panose="02040503050406030204" pitchFamily="18" charset="0"/>
                              </a:rPr>
                              <m:t>𝑂</m:t>
                            </m:r>
                          </m:e>
                          <m:sub>
                            <m:r>
                              <a:rPr>
                                <a:latin typeface="Cambria Math" panose="02040503050406030204" pitchFamily="18" charset="0"/>
                              </a:rPr>
                              <m:t>1</m:t>
                            </m:r>
                            <m:r>
                              <a:rPr>
                                <a:latin typeface="Cambria Math" panose="02040503050406030204" pitchFamily="18" charset="0"/>
                              </a:rPr>
                              <m:t>𝑐</m:t>
                            </m:r>
                          </m:sub>
                        </m:sSub>
                      </m:e>
                    </m:mr>
                    <m:mr>
                      <m:e/>
                      <m:e/>
                      <m:e>
                        <m:sSub>
                          <m:sSubPr>
                            <m:ctrlPr>
                              <a:rPr i="1">
                                <a:latin typeface="Cambria Math" panose="02040503050406030204" pitchFamily="18" charset="0"/>
                              </a:rPr>
                            </m:ctrlPr>
                          </m:sSubPr>
                          <m:e>
                            <m:r>
                              <a:rPr>
                                <a:latin typeface="Cambria Math" panose="02040503050406030204" pitchFamily="18" charset="0"/>
                              </a:rPr>
                              <m:t>𝑂</m:t>
                            </m:r>
                          </m:e>
                          <m:sub>
                            <m:r>
                              <a:rPr>
                                <a:latin typeface="Cambria Math" panose="02040503050406030204" pitchFamily="18" charset="0"/>
                              </a:rPr>
                              <m:t>21</m:t>
                            </m:r>
                          </m:sub>
                        </m:sSub>
                      </m:e>
                      <m:e>
                        <m:sSub>
                          <m:sSubPr>
                            <m:ctrlPr>
                              <a:rPr i="1">
                                <a:latin typeface="Cambria Math" panose="02040503050406030204" pitchFamily="18" charset="0"/>
                              </a:rPr>
                            </m:ctrlPr>
                          </m:sSubPr>
                          <m:e>
                            <m:r>
                              <a:rPr>
                                <a:latin typeface="Cambria Math" panose="02040503050406030204" pitchFamily="18" charset="0"/>
                              </a:rPr>
                              <m:t>𝑂</m:t>
                            </m:r>
                          </m:e>
                          <m:sub>
                            <m:r>
                              <a:rPr>
                                <a:latin typeface="Cambria Math" panose="02040503050406030204" pitchFamily="18" charset="0"/>
                              </a:rPr>
                              <m:t>22</m:t>
                            </m:r>
                          </m:sub>
                        </m:sSub>
                      </m:e>
                      <m:e>
                        <m:r>
                          <a:rPr>
                            <a:latin typeface="Cambria Math" panose="02040503050406030204" pitchFamily="18" charset="0"/>
                          </a:rPr>
                          <m:t>…</m:t>
                        </m:r>
                      </m:e>
                      <m:e>
                        <m:sSub>
                          <m:sSubPr>
                            <m:ctrlPr>
                              <a:rPr i="1">
                                <a:latin typeface="Cambria Math" panose="02040503050406030204" pitchFamily="18" charset="0"/>
                              </a:rPr>
                            </m:ctrlPr>
                          </m:sSubPr>
                          <m:e>
                            <m:r>
                              <a:rPr>
                                <a:latin typeface="Cambria Math" panose="02040503050406030204" pitchFamily="18" charset="0"/>
                              </a:rPr>
                              <m:t>𝑂</m:t>
                            </m:r>
                          </m:e>
                          <m:sub>
                            <m:r>
                              <a:rPr>
                                <a:latin typeface="Cambria Math" panose="02040503050406030204" pitchFamily="18" charset="0"/>
                              </a:rPr>
                              <m:t>2</m:t>
                            </m:r>
                            <m:r>
                              <a:rPr>
                                <a:latin typeface="Cambria Math" panose="02040503050406030204" pitchFamily="18" charset="0"/>
                              </a:rPr>
                              <m:t>𝑐</m:t>
                            </m:r>
                          </m:sub>
                        </m:sSub>
                      </m:e>
                    </m:mr>
                    <m:mr>
                      <m:e>
                        <m:r>
                          <a:rPr>
                            <a:latin typeface="Cambria Math" panose="02040503050406030204" pitchFamily="18" charset="0"/>
                          </a:rPr>
                          <m:t>𝑉</m:t>
                        </m:r>
                        <m:r>
                          <a:rPr>
                            <a:latin typeface="Cambria Math" panose="02040503050406030204" pitchFamily="18" charset="0"/>
                          </a:rPr>
                          <m:t>2</m:t>
                        </m:r>
                      </m:e>
                      <m:e/>
                      <m:e>
                        <m:r>
                          <a:rPr>
                            <a:latin typeface="Cambria Math" panose="02040503050406030204" pitchFamily="18" charset="0"/>
                          </a:rPr>
                          <m:t>…</m:t>
                        </m:r>
                      </m:e>
                      <m:e/>
                      <m:e>
                        <m:r>
                          <a:rPr>
                            <a:latin typeface="Cambria Math" panose="02040503050406030204" pitchFamily="18" charset="0"/>
                          </a:rPr>
                          <m:t>…</m:t>
                        </m:r>
                      </m:e>
                      <m:e>
                        <m:r>
                          <a:rPr>
                            <a:latin typeface="Cambria Math" panose="02040503050406030204" pitchFamily="18" charset="0"/>
                          </a:rPr>
                          <m:t>…</m:t>
                        </m:r>
                      </m:e>
                    </m:mr>
                    <m:mr>
                      <m:e/>
                      <m:e/>
                      <m:e>
                        <m:sSub>
                          <m:sSubPr>
                            <m:ctrlPr>
                              <a:rPr i="1">
                                <a:latin typeface="Cambria Math" panose="02040503050406030204" pitchFamily="18" charset="0"/>
                              </a:rPr>
                            </m:ctrlPr>
                          </m:sSubPr>
                          <m:e>
                            <m:r>
                              <a:rPr>
                                <a:latin typeface="Cambria Math" panose="02040503050406030204" pitchFamily="18" charset="0"/>
                              </a:rPr>
                              <m:t>𝑂</m:t>
                            </m:r>
                          </m:e>
                          <m:sub>
                            <m:r>
                              <a:rPr>
                                <a:latin typeface="Cambria Math" panose="02040503050406030204" pitchFamily="18" charset="0"/>
                              </a:rPr>
                              <m:t>𝑟</m:t>
                            </m:r>
                            <m:r>
                              <a:rPr>
                                <a:latin typeface="Cambria Math" panose="02040503050406030204" pitchFamily="18" charset="0"/>
                              </a:rPr>
                              <m:t>1</m:t>
                            </m:r>
                          </m:sub>
                        </m:sSub>
                      </m:e>
                      <m:e>
                        <m:sSub>
                          <m:sSubPr>
                            <m:ctrlPr>
                              <a:rPr i="1">
                                <a:latin typeface="Cambria Math" panose="02040503050406030204" pitchFamily="18" charset="0"/>
                              </a:rPr>
                            </m:ctrlPr>
                          </m:sSubPr>
                          <m:e>
                            <m:r>
                              <a:rPr>
                                <a:latin typeface="Cambria Math" panose="02040503050406030204" pitchFamily="18" charset="0"/>
                              </a:rPr>
                              <m:t>𝑂</m:t>
                            </m:r>
                          </m:e>
                          <m:sub>
                            <m:r>
                              <a:rPr>
                                <a:latin typeface="Cambria Math" panose="02040503050406030204" pitchFamily="18" charset="0"/>
                              </a:rPr>
                              <m:t>𝑟</m:t>
                            </m:r>
                            <m:r>
                              <a:rPr>
                                <a:latin typeface="Cambria Math" panose="02040503050406030204" pitchFamily="18" charset="0"/>
                              </a:rPr>
                              <m:t>2</m:t>
                            </m:r>
                          </m:sub>
                        </m:sSub>
                      </m:e>
                      <m:e>
                        <m:r>
                          <a:rPr>
                            <a:latin typeface="Cambria Math" panose="02040503050406030204" pitchFamily="18" charset="0"/>
                          </a:rPr>
                          <m:t>…</m:t>
                        </m:r>
                      </m:e>
                      <m:e>
                        <m:sSub>
                          <m:sSubPr>
                            <m:ctrlPr>
                              <a:rPr i="1">
                                <a:latin typeface="Cambria Math" panose="02040503050406030204" pitchFamily="18" charset="0"/>
                              </a:rPr>
                            </m:ctrlPr>
                          </m:sSubPr>
                          <m:e>
                            <m:r>
                              <a:rPr>
                                <a:latin typeface="Cambria Math" panose="02040503050406030204" pitchFamily="18" charset="0"/>
                              </a:rPr>
                              <m:t>𝑂</m:t>
                            </m:r>
                          </m:e>
                          <m:sub>
                            <m:r>
                              <a:rPr>
                                <a:latin typeface="Cambria Math" panose="02040503050406030204" pitchFamily="18" charset="0"/>
                              </a:rPr>
                              <m:t>𝑟𝑐</m:t>
                            </m:r>
                          </m:sub>
                        </m:sSub>
                      </m:e>
                    </m:mr>
                    <m:mr>
                      <m:e/>
                      <m:e/>
                      <m:e/>
                      <m:e/>
                      <m:e/>
                      <m:e/>
                    </m:mr>
                  </m:m>
                </m:oMath>
              </m:oMathPara>
            </a14:m>
            <a:endParaRPr/>
          </a:p>
        </p:txBody>
      </p:sp>
      <p:sp>
        <p:nvSpPr>
          <p:cNvPr id="6" name="Slide Number Placeholder 5">
            <a:extLst>
              <a:ext uri="{FF2B5EF4-FFF2-40B4-BE49-F238E27FC236}">
                <a16:creationId xmlns:a16="http://schemas.microsoft.com/office/drawing/2014/main" id="{C03F998A-2A5E-471F-9FEB-2559B0A7F93D}"/>
              </a:ext>
            </a:extLst>
          </p:cNvPr>
          <p:cNvSpPr>
            <a:spLocks noGrp="1"/>
          </p:cNvSpPr>
          <p:nvPr>
            <p:ph type="sldNum" sz="quarter" idx="12"/>
          </p:nvPr>
        </p:nvSpPr>
        <p:spPr/>
        <p:txBody>
          <a:bodyPr/>
          <a:lstStyle/>
          <a:p>
            <a:fld id="{E1C5CB42-CF14-4293-8971-6DCD1AAE8BE7}" type="slidenum">
              <a:rPr lang="en-GB" smtClean="0"/>
              <a:t>67</a:t>
            </a:fld>
            <a:endParaRPr lang="en-GB"/>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marL="0" lvl="0" indent="0">
              <a:buNone/>
            </a:pPr>
            <a:r>
              <a:t>Comparing proportions: chi-squared</a:t>
            </a:r>
          </a:p>
        </p:txBody>
      </p:sp>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p:txBody>
          <a:bodyPr/>
          <a:lstStyle/>
          <a:p>
            <a:pPr marL="0" lvl="0" indent="0">
              <a:buNone/>
            </a:pPr>
            <a:r>
              <a:t>The principle to test whether the 2 variables are associated or not, is to compare the </a:t>
            </a:r>
            <a:r>
              <a:rPr b="1"/>
              <a:t>observed</a:t>
            </a:r>
            <a:r>
              <a:t> counts to the counts </a:t>
            </a:r>
            <a:r>
              <a:rPr b="1"/>
              <a:t>expected</a:t>
            </a:r>
            <a:r>
              <a:t> under the assumption of no association (the null hypothesis).</a:t>
            </a:r>
          </a:p>
          <a:p>
            <a:pPr marL="0" lvl="0" indent="0">
              <a:buNone/>
            </a:pPr>
            <a:r>
              <a:t>Define:</a:t>
            </a:r>
          </a:p>
          <a:p>
            <a:pPr lvl="0"/>
            <a14:m xmlns:a14="http://schemas.microsoft.com/office/drawing/2010/main">
              <m:oMath xmlns:m="http://schemas.openxmlformats.org/officeDocument/2006/math">
                <m:r>
                  <a:rPr>
                    <a:latin typeface="Cambria Math" panose="02040503050406030204" pitchFamily="18" charset="0"/>
                  </a:rPr>
                  <m:t>𝑛</m:t>
                </m:r>
                <m:r>
                  <a:rPr>
                    <a:latin typeface="Cambria Math" panose="02040503050406030204" pitchFamily="18" charset="0"/>
                  </a:rPr>
                  <m:t>=</m:t>
                </m:r>
              </m:oMath>
            </a14:m>
            <a:r>
              <a:t> the total number of observations (calculated as </a:t>
            </a:r>
            <a14:m xmlns:a14="http://schemas.microsoft.com/office/drawing/2010/main">
              <m:oMath xmlns:m="http://schemas.openxmlformats.org/officeDocument/2006/math">
                <m:nary>
                  <m:naryPr>
                    <m:chr m:val="∑"/>
                    <m:limLoc m:val="undOvr"/>
                    <m:ctrlPr>
                      <a:rPr>
                        <a:latin typeface="Cambria Math" panose="02040503050406030204" pitchFamily="18" charset="0"/>
                      </a:rPr>
                    </m:ctrlPr>
                  </m:naryPr>
                  <m:sub>
                    <m:r>
                      <a:rPr>
                        <a:latin typeface="Cambria Math" panose="02040503050406030204" pitchFamily="18" charset="0"/>
                      </a:rPr>
                      <m:t>𝑖</m:t>
                    </m:r>
                  </m:sub>
                  <m:sup>
                    <m:r>
                      <a:rPr>
                        <a:latin typeface="Cambria Math" panose="02040503050406030204" pitchFamily="18" charset="0"/>
                      </a:rPr>
                      <m:t>​</m:t>
                    </m:r>
                  </m:sup>
                  <m:e>
                    <m:nary>
                      <m:naryPr>
                        <m:chr m:val="∑"/>
                        <m:limLoc m:val="undOvr"/>
                        <m:ctrlPr>
                          <a:rPr i="1">
                            <a:latin typeface="Cambria Math" panose="02040503050406030204" pitchFamily="18" charset="0"/>
                          </a:rPr>
                        </m:ctrlPr>
                      </m:naryPr>
                      <m:sub>
                        <m:r>
                          <a:rPr>
                            <a:latin typeface="Cambria Math" panose="02040503050406030204" pitchFamily="18" charset="0"/>
                          </a:rPr>
                          <m:t>𝑗</m:t>
                        </m:r>
                      </m:sub>
                      <m:sup>
                        <m:r>
                          <a:rPr>
                            <a:latin typeface="Cambria Math" panose="02040503050406030204" pitchFamily="18" charset="0"/>
                          </a:rPr>
                          <m:t>​</m:t>
                        </m:r>
                      </m:sup>
                      <m:e>
                        <m:sSub>
                          <m:sSubPr>
                            <m:ctrlPr>
                              <a:rPr i="1">
                                <a:latin typeface="Cambria Math" panose="02040503050406030204" pitchFamily="18" charset="0"/>
                              </a:rPr>
                            </m:ctrlPr>
                          </m:sSubPr>
                          <m:e>
                            <m:r>
                              <a:rPr>
                                <a:latin typeface="Cambria Math" panose="02040503050406030204" pitchFamily="18" charset="0"/>
                              </a:rPr>
                              <m:t>𝑂</m:t>
                            </m:r>
                          </m:e>
                          <m:sub>
                            <m:r>
                              <a:rPr>
                                <a:latin typeface="Cambria Math" panose="02040503050406030204" pitchFamily="18" charset="0"/>
                              </a:rPr>
                              <m:t>𝑖𝑗</m:t>
                            </m:r>
                          </m:sub>
                        </m:sSub>
                      </m:e>
                    </m:nary>
                  </m:e>
                </m:nary>
              </m:oMath>
            </a14:m>
            <a:r>
              <a:t>)</a:t>
            </a:r>
          </a:p>
          <a:p>
            <a:pPr lvl="0"/>
            <a14:m xmlns:a14="http://schemas.microsoft.com/office/drawing/2010/main">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𝑝</m:t>
                    </m:r>
                  </m:e>
                  <m:sub>
                    <m:r>
                      <a:rPr>
                        <a:latin typeface="Cambria Math" panose="02040503050406030204" pitchFamily="18" charset="0"/>
                      </a:rPr>
                      <m:t>𝑖</m:t>
                    </m:r>
                    <m:r>
                      <a:rPr>
                        <a:latin typeface="Cambria Math" panose="02040503050406030204" pitchFamily="18" charset="0"/>
                      </a:rPr>
                      <m:t>.</m:t>
                    </m:r>
                  </m:sub>
                </m:sSub>
                <m:r>
                  <a:rPr>
                    <a:latin typeface="Cambria Math" panose="02040503050406030204" pitchFamily="18" charset="0"/>
                  </a:rPr>
                  <m:t>=</m:t>
                </m:r>
              </m:oMath>
            </a14:m>
            <a:r>
              <a:t> the marginal proportion of row </a:t>
            </a:r>
            <a14:m xmlns:a14="http://schemas.microsoft.com/office/drawing/2010/main">
              <m:oMath xmlns:m="http://schemas.openxmlformats.org/officeDocument/2006/math">
                <m:r>
                  <a:rPr>
                    <a:latin typeface="Cambria Math" panose="02040503050406030204" pitchFamily="18" charset="0"/>
                  </a:rPr>
                  <m:t>𝑖</m:t>
                </m:r>
              </m:oMath>
            </a14:m>
            <a:r>
              <a:t> (calculated as </a:t>
            </a:r>
            <a14:m xmlns:a14="http://schemas.microsoft.com/office/drawing/2010/main">
              <m:oMath xmlns:m="http://schemas.openxmlformats.org/officeDocument/2006/math">
                <m:f>
                  <m:fPr>
                    <m:ctrlPr>
                      <a:rPr>
                        <a:latin typeface="Cambria Math" panose="02040503050406030204" pitchFamily="18" charset="0"/>
                      </a:rPr>
                    </m:ctrlPr>
                  </m:fPr>
                  <m:num>
                    <m:r>
                      <a:rPr>
                        <a:latin typeface="Cambria Math" panose="02040503050406030204" pitchFamily="18" charset="0"/>
                      </a:rPr>
                      <m:t>1</m:t>
                    </m:r>
                  </m:num>
                  <m:den>
                    <m:r>
                      <a:rPr>
                        <a:latin typeface="Cambria Math" panose="02040503050406030204" pitchFamily="18" charset="0"/>
                      </a:rPr>
                      <m:t>𝑛</m:t>
                    </m:r>
                  </m:den>
                </m:f>
                <m:nary>
                  <m:naryPr>
                    <m:chr m:val="∑"/>
                    <m:limLoc m:val="undOvr"/>
                    <m:ctrlPr>
                      <a:rPr i="1">
                        <a:latin typeface="Cambria Math" panose="02040503050406030204" pitchFamily="18" charset="0"/>
                      </a:rPr>
                    </m:ctrlPr>
                  </m:naryPr>
                  <m:sub>
                    <m:r>
                      <a:rPr>
                        <a:latin typeface="Cambria Math" panose="02040503050406030204" pitchFamily="18" charset="0"/>
                      </a:rPr>
                      <m:t>𝑗</m:t>
                    </m:r>
                  </m:sub>
                  <m:sup>
                    <m:r>
                      <a:rPr>
                        <a:latin typeface="Cambria Math" panose="02040503050406030204" pitchFamily="18" charset="0"/>
                      </a:rPr>
                      <m:t>​</m:t>
                    </m:r>
                  </m:sup>
                  <m:e>
                    <m:sSub>
                      <m:sSubPr>
                        <m:ctrlPr>
                          <a:rPr i="1">
                            <a:latin typeface="Cambria Math" panose="02040503050406030204" pitchFamily="18" charset="0"/>
                          </a:rPr>
                        </m:ctrlPr>
                      </m:sSubPr>
                      <m:e>
                        <m:r>
                          <a:rPr>
                            <a:latin typeface="Cambria Math" panose="02040503050406030204" pitchFamily="18" charset="0"/>
                          </a:rPr>
                          <m:t>𝑂</m:t>
                        </m:r>
                      </m:e>
                      <m:sub>
                        <m:r>
                          <a:rPr>
                            <a:latin typeface="Cambria Math" panose="02040503050406030204" pitchFamily="18" charset="0"/>
                          </a:rPr>
                          <m:t>𝑖𝑗</m:t>
                        </m:r>
                      </m:sub>
                    </m:sSub>
                  </m:e>
                </m:nary>
              </m:oMath>
            </a14:m>
            <a:r>
              <a:t>)</a:t>
            </a:r>
          </a:p>
          <a:p>
            <a:pPr lvl="0"/>
            <a14:m xmlns:a14="http://schemas.microsoft.com/office/drawing/2010/main">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𝑝</m:t>
                    </m:r>
                  </m:e>
                  <m:sub>
                    <m:r>
                      <a:rPr>
                        <a:latin typeface="Cambria Math" panose="02040503050406030204" pitchFamily="18" charset="0"/>
                      </a:rPr>
                      <m:t>.</m:t>
                    </m:r>
                    <m:r>
                      <a:rPr>
                        <a:latin typeface="Cambria Math" panose="02040503050406030204" pitchFamily="18" charset="0"/>
                      </a:rPr>
                      <m:t>𝑗</m:t>
                    </m:r>
                  </m:sub>
                </m:sSub>
                <m:r>
                  <a:rPr>
                    <a:latin typeface="Cambria Math" panose="02040503050406030204" pitchFamily="18" charset="0"/>
                  </a:rPr>
                  <m:t>=</m:t>
                </m:r>
              </m:oMath>
            </a14:m>
            <a:r>
              <a:t> the marginal proportion of column </a:t>
            </a:r>
            <a14:m xmlns:a14="http://schemas.microsoft.com/office/drawing/2010/main">
              <m:oMath xmlns:m="http://schemas.openxmlformats.org/officeDocument/2006/math">
                <m:r>
                  <a:rPr>
                    <a:latin typeface="Cambria Math" panose="02040503050406030204" pitchFamily="18" charset="0"/>
                  </a:rPr>
                  <m:t>𝑗</m:t>
                </m:r>
              </m:oMath>
            </a14:m>
            <a:r>
              <a:t> (calculated as </a:t>
            </a:r>
            <a14:m xmlns:a14="http://schemas.microsoft.com/office/drawing/2010/main">
              <m:oMath xmlns:m="http://schemas.openxmlformats.org/officeDocument/2006/math">
                <m:f>
                  <m:fPr>
                    <m:ctrlPr>
                      <a:rPr>
                        <a:latin typeface="Cambria Math" panose="02040503050406030204" pitchFamily="18" charset="0"/>
                      </a:rPr>
                    </m:ctrlPr>
                  </m:fPr>
                  <m:num>
                    <m:r>
                      <a:rPr>
                        <a:latin typeface="Cambria Math" panose="02040503050406030204" pitchFamily="18" charset="0"/>
                      </a:rPr>
                      <m:t>1</m:t>
                    </m:r>
                  </m:num>
                  <m:den>
                    <m:r>
                      <a:rPr>
                        <a:latin typeface="Cambria Math" panose="02040503050406030204" pitchFamily="18" charset="0"/>
                      </a:rPr>
                      <m:t>𝑛</m:t>
                    </m:r>
                  </m:den>
                </m:f>
                <m:nary>
                  <m:naryPr>
                    <m:chr m:val="∑"/>
                    <m:limLoc m:val="undOvr"/>
                    <m:ctrlPr>
                      <a:rPr i="1">
                        <a:latin typeface="Cambria Math" panose="02040503050406030204" pitchFamily="18" charset="0"/>
                      </a:rPr>
                    </m:ctrlPr>
                  </m:naryPr>
                  <m:sub>
                    <m:r>
                      <a:rPr>
                        <a:latin typeface="Cambria Math" panose="02040503050406030204" pitchFamily="18" charset="0"/>
                      </a:rPr>
                      <m:t>𝑖</m:t>
                    </m:r>
                  </m:sub>
                  <m:sup>
                    <m:r>
                      <a:rPr>
                        <a:latin typeface="Cambria Math" panose="02040503050406030204" pitchFamily="18" charset="0"/>
                      </a:rPr>
                      <m:t>​</m:t>
                    </m:r>
                  </m:sup>
                  <m:e>
                    <m:sSub>
                      <m:sSubPr>
                        <m:ctrlPr>
                          <a:rPr i="1">
                            <a:latin typeface="Cambria Math" panose="02040503050406030204" pitchFamily="18" charset="0"/>
                          </a:rPr>
                        </m:ctrlPr>
                      </m:sSubPr>
                      <m:e>
                        <m:r>
                          <a:rPr>
                            <a:latin typeface="Cambria Math" panose="02040503050406030204" pitchFamily="18" charset="0"/>
                          </a:rPr>
                          <m:t>𝑂</m:t>
                        </m:r>
                      </m:e>
                      <m:sub>
                        <m:r>
                          <a:rPr>
                            <a:latin typeface="Cambria Math" panose="02040503050406030204" pitchFamily="18" charset="0"/>
                          </a:rPr>
                          <m:t>𝑖𝑗</m:t>
                        </m:r>
                      </m:sub>
                    </m:sSub>
                  </m:e>
                </m:nary>
              </m:oMath>
            </a14:m>
            <a:r>
              <a:t>)</a:t>
            </a:r>
          </a:p>
          <a:p>
            <a:pPr lvl="0"/>
            <a14:m xmlns:a14="http://schemas.microsoft.com/office/drawing/2010/main">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𝐸</m:t>
                    </m:r>
                  </m:e>
                  <m:sub>
                    <m:r>
                      <a:rPr>
                        <a:latin typeface="Cambria Math" panose="02040503050406030204" pitchFamily="18" charset="0"/>
                      </a:rPr>
                      <m:t>𝑖𝑗</m:t>
                    </m:r>
                  </m:sub>
                </m:sSub>
                <m:r>
                  <a:rPr>
                    <a:latin typeface="Cambria Math" panose="02040503050406030204" pitchFamily="18" charset="0"/>
                  </a:rPr>
                  <m:t>=</m:t>
                </m:r>
              </m:oMath>
            </a14:m>
            <a:r>
              <a:t> the expected counts in each cell (calculated as </a:t>
            </a:r>
            <a14:m xmlns:a14="http://schemas.microsoft.com/office/drawing/2010/main">
              <m:oMath xmlns:m="http://schemas.openxmlformats.org/officeDocument/2006/math">
                <m:r>
                  <a:rPr>
                    <a:latin typeface="Cambria Math" panose="02040503050406030204" pitchFamily="18" charset="0"/>
                  </a:rPr>
                  <m:t>𝑛</m:t>
                </m:r>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𝑝</m:t>
                    </m:r>
                  </m:e>
                  <m:sub>
                    <m:r>
                      <a:rPr>
                        <a:latin typeface="Cambria Math" panose="02040503050406030204" pitchFamily="18" charset="0"/>
                      </a:rPr>
                      <m:t>𝑖</m:t>
                    </m:r>
                    <m:r>
                      <a:rPr>
                        <a:latin typeface="Cambria Math" panose="02040503050406030204" pitchFamily="18" charset="0"/>
                      </a:rPr>
                      <m:t>.</m:t>
                    </m:r>
                  </m:sub>
                </m:sSub>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𝑝</m:t>
                    </m:r>
                  </m:e>
                  <m:sub>
                    <m:r>
                      <a:rPr>
                        <a:latin typeface="Cambria Math" panose="02040503050406030204" pitchFamily="18" charset="0"/>
                      </a:rPr>
                      <m:t>𝑗</m:t>
                    </m:r>
                    <m:r>
                      <a:rPr>
                        <a:latin typeface="Cambria Math" panose="02040503050406030204" pitchFamily="18" charset="0"/>
                      </a:rPr>
                      <m:t>.</m:t>
                    </m:r>
                  </m:sub>
                </m:sSub>
              </m:oMath>
            </a14:m>
            <a:r>
              <a:t>)</a:t>
            </a:r>
          </a:p>
          <a:p>
            <a:pPr marL="0" lvl="0" indent="0">
              <a:buNone/>
            </a:pPr>
            <a14:m xmlns:a14="http://schemas.microsoft.com/office/drawing/2010/main">
              <m:oMathPara xmlns:m="http://schemas.openxmlformats.org/officeDocument/2006/math">
                <m:oMathParaPr>
                  <m:jc m:val="center"/>
                </m:oMathParaPr>
                <m:oMath xmlns:m="http://schemas.openxmlformats.org/officeDocument/2006/math">
                  <m:r>
                    <a:rPr>
                      <a:latin typeface="Cambria Math" panose="02040503050406030204" pitchFamily="18" charset="0"/>
                    </a:rPr>
                    <m:t> </m:t>
                  </m:r>
                </m:oMath>
              </m:oMathPara>
            </a14:m>
            <a:endParaRPr/>
          </a:p>
          <a:p>
            <a:pPr marL="0" lvl="0" indent="0">
              <a:buNone/>
            </a:pPr>
            <a:r>
              <a:t>Note </a:t>
            </a:r>
            <a:r>
              <a:rPr b="1"/>
              <a:t>expected counts</a:t>
            </a:r>
            <a:r>
              <a:t> = expected under the assumption of no association.</a:t>
            </a:r>
          </a:p>
        </p:txBody>
      </p:sp>
      <p:sp>
        <p:nvSpPr>
          <p:cNvPr id="6" name="Slide Number Placeholder 5">
            <a:extLst>
              <a:ext uri="{FF2B5EF4-FFF2-40B4-BE49-F238E27FC236}">
                <a16:creationId xmlns:a16="http://schemas.microsoft.com/office/drawing/2014/main" id="{C03F998A-2A5E-471F-9FEB-2559B0A7F93D}"/>
              </a:ext>
            </a:extLst>
          </p:cNvPr>
          <p:cNvSpPr>
            <a:spLocks noGrp="1"/>
          </p:cNvSpPr>
          <p:nvPr>
            <p:ph type="sldNum" sz="quarter" idx="12"/>
          </p:nvPr>
        </p:nvSpPr>
        <p:spPr/>
        <p:txBody>
          <a:bodyPr/>
          <a:lstStyle/>
          <a:p>
            <a:fld id="{E1C5CB42-CF14-4293-8971-6DCD1AAE8BE7}" type="slidenum">
              <a:rPr lang="en-GB" smtClean="0"/>
              <a:t>68</a:t>
            </a:fld>
            <a:endParaRPr lang="en-GB"/>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marL="0" lvl="0" indent="0">
              <a:buNone/>
            </a:pPr>
            <a:r>
              <a:t>Comparing proportions: chi-squared</a:t>
            </a:r>
          </a:p>
        </p:txBody>
      </p:sp>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p:txBody>
          <a:bodyPr/>
          <a:lstStyle/>
          <a:p>
            <a:pPr marL="0" lvl="0" indent="0">
              <a:buNone/>
            </a:pPr>
            <a:r>
              <a:t>We can then calculate the </a:t>
            </a:r>
            <a14:m xmlns:a14="http://schemas.microsoft.com/office/drawing/2010/main">
              <m:oMath xmlns:m="http://schemas.openxmlformats.org/officeDocument/2006/math">
                <m:sSup>
                  <m:sSupPr>
                    <m:ctrlPr>
                      <a:rPr>
                        <a:latin typeface="Cambria Math" panose="02040503050406030204" pitchFamily="18" charset="0"/>
                      </a:rPr>
                    </m:ctrlPr>
                  </m:sSupPr>
                  <m:e>
                    <m:r>
                      <a:rPr>
                        <a:latin typeface="Cambria Math" panose="02040503050406030204" pitchFamily="18" charset="0"/>
                      </a:rPr>
                      <m:t>𝜒</m:t>
                    </m:r>
                  </m:e>
                  <m:sup>
                    <m:r>
                      <a:rPr>
                        <a:latin typeface="Cambria Math" panose="02040503050406030204" pitchFamily="18" charset="0"/>
                      </a:rPr>
                      <m:t>2</m:t>
                    </m:r>
                  </m:sup>
                </m:sSup>
              </m:oMath>
            </a14:m>
            <a:r>
              <a:t> statistic for this table:</a:t>
            </a:r>
          </a:p>
          <a:p>
            <a:pPr marL="0" lvl="0" indent="0">
              <a:buNone/>
            </a:pPr>
            <a14:m xmlns:a14="http://schemas.microsoft.com/office/drawing/2010/main">
              <m:oMathPara xmlns:m="http://schemas.openxmlformats.org/officeDocument/2006/math">
                <m:oMathParaPr>
                  <m:jc m:val="center"/>
                </m:oMathParaPr>
                <m:oMath xmlns:m="http://schemas.openxmlformats.org/officeDocument/2006/math">
                  <m:r>
                    <a:rPr>
                      <a:latin typeface="Cambria Math" panose="02040503050406030204" pitchFamily="18" charset="0"/>
                    </a:rPr>
                    <m:t> </m:t>
                  </m:r>
                </m:oMath>
              </m:oMathPara>
            </a14:m>
            <a:endParaRPr/>
          </a:p>
          <a:p>
            <a:pPr marL="0" lvl="0" indent="0">
              <a:buNone/>
            </a:pPr>
            <a14:m xmlns:a14="http://schemas.microsoft.com/office/drawing/2010/main">
              <m:oMathPara xmlns:m="http://schemas.openxmlformats.org/officeDocument/2006/math">
                <m:oMathParaPr>
                  <m:jc m:val="center"/>
                </m:oMathParaPr>
                <m:oMath xmlns:m="http://schemas.openxmlformats.org/officeDocument/2006/math">
                  <m:sSup>
                    <m:sSupPr>
                      <m:ctrlPr>
                        <a:rPr>
                          <a:latin typeface="Cambria Math" panose="02040503050406030204" pitchFamily="18" charset="0"/>
                        </a:rPr>
                      </m:ctrlPr>
                    </m:sSupPr>
                    <m:e>
                      <m:r>
                        <a:rPr>
                          <a:latin typeface="Cambria Math" panose="02040503050406030204" pitchFamily="18" charset="0"/>
                        </a:rPr>
                        <m:t>𝜒</m:t>
                      </m:r>
                    </m:e>
                    <m:sup>
                      <m:r>
                        <a:rPr>
                          <a:latin typeface="Cambria Math" panose="02040503050406030204" pitchFamily="18" charset="0"/>
                        </a:rPr>
                        <m:t>2</m:t>
                      </m:r>
                    </m:sup>
                  </m:sSup>
                  <m:r>
                    <a:rPr>
                      <a:latin typeface="Cambria Math" panose="02040503050406030204" pitchFamily="18" charset="0"/>
                    </a:rPr>
                    <m:t>=</m:t>
                  </m:r>
                  <m:nary>
                    <m:naryPr>
                      <m:chr m:val="∑"/>
                      <m:limLoc m:val="undOvr"/>
                      <m:ctrlPr>
                        <a:rPr i="1">
                          <a:latin typeface="Cambria Math" panose="02040503050406030204" pitchFamily="18" charset="0"/>
                        </a:rPr>
                      </m:ctrlPr>
                    </m:naryPr>
                    <m:sub>
                      <m:r>
                        <a:rPr>
                          <a:latin typeface="Cambria Math" panose="02040503050406030204" pitchFamily="18" charset="0"/>
                        </a:rPr>
                        <m:t>𝑖</m:t>
                      </m:r>
                    </m:sub>
                    <m:sup>
                      <m:r>
                        <a:rPr>
                          <a:latin typeface="Cambria Math" panose="02040503050406030204" pitchFamily="18" charset="0"/>
                        </a:rPr>
                        <m:t>​</m:t>
                      </m:r>
                    </m:sup>
                    <m:e>
                      <m:nary>
                        <m:naryPr>
                          <m:chr m:val="∑"/>
                          <m:limLoc m:val="undOvr"/>
                          <m:ctrlPr>
                            <a:rPr i="1">
                              <a:latin typeface="Cambria Math" panose="02040503050406030204" pitchFamily="18" charset="0"/>
                            </a:rPr>
                          </m:ctrlPr>
                        </m:naryPr>
                        <m:sub>
                          <m:r>
                            <a:rPr>
                              <a:latin typeface="Cambria Math" panose="02040503050406030204" pitchFamily="18" charset="0"/>
                            </a:rPr>
                            <m:t>𝑗</m:t>
                          </m:r>
                        </m:sub>
                        <m:sup>
                          <m:r>
                            <a:rPr>
                              <a:latin typeface="Cambria Math" panose="02040503050406030204" pitchFamily="18" charset="0"/>
                            </a:rPr>
                            <m:t>​</m:t>
                          </m:r>
                        </m:sup>
                        <m:e>
                          <m:f>
                            <m:fPr>
                              <m:ctrlPr>
                                <a:rPr i="1">
                                  <a:latin typeface="Cambria Math" panose="02040503050406030204" pitchFamily="18" charset="0"/>
                                </a:rPr>
                              </m:ctrlPr>
                            </m:fPr>
                            <m:num>
                              <m:sSup>
                                <m:sSupPr>
                                  <m:ctrlPr>
                                    <a:rPr i="1">
                                      <a:latin typeface="Cambria Math" panose="02040503050406030204" pitchFamily="18" charset="0"/>
                                    </a:rPr>
                                  </m:ctrlPr>
                                </m:sSupPr>
                                <m:e>
                                  <m:d>
                                    <m:dPr>
                                      <m:ctrlPr>
                                        <a:rPr i="1">
                                          <a:latin typeface="Cambria Math" panose="02040503050406030204" pitchFamily="18" charset="0"/>
                                        </a:rPr>
                                      </m:ctrlPr>
                                    </m:dPr>
                                    <m:e>
                                      <m:sSub>
                                        <m:sSubPr>
                                          <m:ctrlPr>
                                            <a:rPr i="1">
                                              <a:latin typeface="Cambria Math" panose="02040503050406030204" pitchFamily="18" charset="0"/>
                                            </a:rPr>
                                          </m:ctrlPr>
                                        </m:sSubPr>
                                        <m:e>
                                          <m:r>
                                            <a:rPr>
                                              <a:latin typeface="Cambria Math" panose="02040503050406030204" pitchFamily="18" charset="0"/>
                                            </a:rPr>
                                            <m:t>𝑂</m:t>
                                          </m:r>
                                        </m:e>
                                        <m:sub>
                                          <m:r>
                                            <a:rPr>
                                              <a:latin typeface="Cambria Math" panose="02040503050406030204" pitchFamily="18" charset="0"/>
                                            </a:rPr>
                                            <m:t>𝑖𝑗</m:t>
                                          </m:r>
                                        </m:sub>
                                      </m:sSub>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𝐸</m:t>
                                          </m:r>
                                        </m:e>
                                        <m:sub>
                                          <m:r>
                                            <a:rPr>
                                              <a:latin typeface="Cambria Math" panose="02040503050406030204" pitchFamily="18" charset="0"/>
                                            </a:rPr>
                                            <m:t>𝑖𝑗</m:t>
                                          </m:r>
                                        </m:sub>
                                      </m:sSub>
                                    </m:e>
                                  </m:d>
                                </m:e>
                                <m:sup>
                                  <m:r>
                                    <a:rPr>
                                      <a:latin typeface="Cambria Math" panose="02040503050406030204" pitchFamily="18" charset="0"/>
                                    </a:rPr>
                                    <m:t>2</m:t>
                                  </m:r>
                                </m:sup>
                              </m:sSup>
                            </m:num>
                            <m:den>
                              <m:sSub>
                                <m:sSubPr>
                                  <m:ctrlPr>
                                    <a:rPr i="1">
                                      <a:latin typeface="Cambria Math" panose="02040503050406030204" pitchFamily="18" charset="0"/>
                                    </a:rPr>
                                  </m:ctrlPr>
                                </m:sSubPr>
                                <m:e>
                                  <m:r>
                                    <a:rPr>
                                      <a:latin typeface="Cambria Math" panose="02040503050406030204" pitchFamily="18" charset="0"/>
                                    </a:rPr>
                                    <m:t>𝐸</m:t>
                                  </m:r>
                                </m:e>
                                <m:sub>
                                  <m:r>
                                    <a:rPr>
                                      <a:latin typeface="Cambria Math" panose="02040503050406030204" pitchFamily="18" charset="0"/>
                                    </a:rPr>
                                    <m:t>𝑖𝑗</m:t>
                                  </m:r>
                                </m:sub>
                              </m:sSub>
                            </m:den>
                          </m:f>
                        </m:e>
                      </m:nary>
                    </m:e>
                  </m:nary>
                </m:oMath>
              </m:oMathPara>
            </a14:m>
            <a:endParaRPr/>
          </a:p>
          <a:p>
            <a:pPr marL="0" lvl="0" indent="0">
              <a:buNone/>
            </a:pPr>
            <a14:m xmlns:a14="http://schemas.microsoft.com/office/drawing/2010/main">
              <m:oMathPara xmlns:m="http://schemas.openxmlformats.org/officeDocument/2006/math">
                <m:oMathParaPr>
                  <m:jc m:val="center"/>
                </m:oMathParaPr>
                <m:oMath xmlns:m="http://schemas.openxmlformats.org/officeDocument/2006/math">
                  <m:r>
                    <a:rPr>
                      <a:latin typeface="Cambria Math" panose="02040503050406030204" pitchFamily="18" charset="0"/>
                    </a:rPr>
                    <m:t> </m:t>
                  </m:r>
                </m:oMath>
              </m:oMathPara>
            </a14:m>
            <a:endParaRPr/>
          </a:p>
          <a:p>
            <a:pPr marL="0" lvl="0" indent="0">
              <a:buNone/>
            </a:pPr>
            <a:r>
              <a:t>(</a:t>
            </a:r>
            <a14:m xmlns:a14="http://schemas.microsoft.com/office/drawing/2010/main">
              <m:oMath xmlns:m="http://schemas.openxmlformats.org/officeDocument/2006/math">
                <m:r>
                  <a:rPr>
                    <a:latin typeface="Cambria Math" panose="02040503050406030204" pitchFamily="18" charset="0"/>
                  </a:rPr>
                  <m:t>𝑖</m:t>
                </m:r>
              </m:oMath>
            </a14:m>
            <a:r>
              <a:t> sums over rows, </a:t>
            </a:r>
            <a14:m xmlns:a14="http://schemas.microsoft.com/office/drawing/2010/main">
              <m:oMath xmlns:m="http://schemas.openxmlformats.org/officeDocument/2006/math">
                <m:r>
                  <a:rPr>
                    <a:latin typeface="Cambria Math" panose="02040503050406030204" pitchFamily="18" charset="0"/>
                  </a:rPr>
                  <m:t>𝑗</m:t>
                </m:r>
              </m:oMath>
            </a14:m>
            <a:r>
              <a:t> sums over columns)</a:t>
            </a:r>
          </a:p>
          <a:p>
            <a:pPr marL="0" lvl="0" indent="0">
              <a:buNone/>
            </a:pPr>
            <a14:m xmlns:a14="http://schemas.microsoft.com/office/drawing/2010/main">
              <m:oMathPara xmlns:m="http://schemas.openxmlformats.org/officeDocument/2006/math">
                <m:oMathParaPr>
                  <m:jc m:val="center"/>
                </m:oMathParaPr>
                <m:oMath xmlns:m="http://schemas.openxmlformats.org/officeDocument/2006/math">
                  <m:r>
                    <a:rPr>
                      <a:latin typeface="Cambria Math" panose="02040503050406030204" pitchFamily="18" charset="0"/>
                    </a:rPr>
                    <m:t> </m:t>
                  </m:r>
                </m:oMath>
              </m:oMathPara>
            </a14:m>
            <a:endParaRPr/>
          </a:p>
          <a:p>
            <a:pPr marL="0" lvl="0" indent="0">
              <a:buNone/>
            </a:pPr>
            <a:r>
              <a:t>Under the null hypothesis H</a:t>
            </a:r>
            <a:r>
              <a:rPr baseline="-25000"/>
              <a:t>0</a:t>
            </a:r>
            <a:r>
              <a:t> of no association between the 2 variables, </a:t>
            </a:r>
            <a14:m xmlns:a14="http://schemas.microsoft.com/office/drawing/2010/main">
              <m:oMath xmlns:m="http://schemas.openxmlformats.org/officeDocument/2006/math">
                <m:sSup>
                  <m:sSupPr>
                    <m:ctrlPr>
                      <a:rPr>
                        <a:latin typeface="Cambria Math" panose="02040503050406030204" pitchFamily="18" charset="0"/>
                      </a:rPr>
                    </m:ctrlPr>
                  </m:sSupPr>
                  <m:e>
                    <m:r>
                      <a:rPr>
                        <a:latin typeface="Cambria Math" panose="02040503050406030204" pitchFamily="18" charset="0"/>
                      </a:rPr>
                      <m:t>𝜒</m:t>
                    </m:r>
                  </m:e>
                  <m:sup>
                    <m:r>
                      <a:rPr>
                        <a:latin typeface="Cambria Math" panose="02040503050406030204" pitchFamily="18" charset="0"/>
                      </a:rPr>
                      <m:t>2</m:t>
                    </m:r>
                  </m:sup>
                </m:sSup>
              </m:oMath>
            </a14:m>
            <a:r>
              <a:t> follows a chi-squared distribution with </a:t>
            </a:r>
            <a14:m xmlns:a14="http://schemas.microsoft.com/office/drawing/2010/main">
              <m:oMath xmlns:m="http://schemas.openxmlformats.org/officeDocument/2006/math">
                <m:d>
                  <m:dPr>
                    <m:ctrlPr>
                      <a:rPr>
                        <a:latin typeface="Cambria Math" panose="02040503050406030204" pitchFamily="18" charset="0"/>
                      </a:rPr>
                    </m:ctrlPr>
                  </m:dPr>
                  <m:e>
                    <m:r>
                      <a:rPr>
                        <a:latin typeface="Cambria Math" panose="02040503050406030204" pitchFamily="18" charset="0"/>
                      </a:rPr>
                      <m:t>𝑟</m:t>
                    </m:r>
                    <m:r>
                      <a:rPr>
                        <a:latin typeface="Cambria Math" panose="02040503050406030204" pitchFamily="18" charset="0"/>
                      </a:rPr>
                      <m:t>−1</m:t>
                    </m:r>
                  </m:e>
                </m:d>
                <m:d>
                  <m:dPr>
                    <m:ctrlPr>
                      <a:rPr i="1">
                        <a:latin typeface="Cambria Math" panose="02040503050406030204" pitchFamily="18" charset="0"/>
                      </a:rPr>
                    </m:ctrlPr>
                  </m:dPr>
                  <m:e>
                    <m:r>
                      <a:rPr>
                        <a:latin typeface="Cambria Math" panose="02040503050406030204" pitchFamily="18" charset="0"/>
                      </a:rPr>
                      <m:t>𝑐</m:t>
                    </m:r>
                    <m:r>
                      <a:rPr>
                        <a:latin typeface="Cambria Math" panose="02040503050406030204" pitchFamily="18" charset="0"/>
                      </a:rPr>
                      <m:t>−1</m:t>
                    </m:r>
                  </m:e>
                </m:d>
              </m:oMath>
            </a14:m>
            <a:r>
              <a:t> degrees of freedom. This can be used to compute p-values.</a:t>
            </a:r>
          </a:p>
        </p:txBody>
      </p:sp>
      <p:sp>
        <p:nvSpPr>
          <p:cNvPr id="6" name="Slide Number Placeholder 5">
            <a:extLst>
              <a:ext uri="{FF2B5EF4-FFF2-40B4-BE49-F238E27FC236}">
                <a16:creationId xmlns:a16="http://schemas.microsoft.com/office/drawing/2014/main" id="{C03F998A-2A5E-471F-9FEB-2559B0A7F93D}"/>
              </a:ext>
            </a:extLst>
          </p:cNvPr>
          <p:cNvSpPr>
            <a:spLocks noGrp="1"/>
          </p:cNvSpPr>
          <p:nvPr>
            <p:ph type="sldNum" sz="quarter" idx="12"/>
          </p:nvPr>
        </p:nvSpPr>
        <p:spPr/>
        <p:txBody>
          <a:bodyPr/>
          <a:lstStyle/>
          <a:p>
            <a:fld id="{E1C5CB42-CF14-4293-8971-6DCD1AAE8BE7}" type="slidenum">
              <a:rPr lang="en-GB" smtClean="0"/>
              <a:t>69</a:t>
            </a:fld>
            <a:endParaRPr lang="en-GB"/>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marL="0" lvl="0" indent="0">
              <a:buNone/>
            </a:pPr>
            <a:r>
              <a:t>Comparing proportions: chi-squared</a:t>
            </a:r>
          </a:p>
        </p:txBody>
      </p:sp>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p:txBody>
          <a:bodyPr/>
          <a:lstStyle/>
          <a:p>
            <a:pPr marL="0" lvl="0" indent="0">
              <a:buNone/>
            </a:pPr>
            <a:r>
              <a:t>In R, you can do a chi-squared test using the </a:t>
            </a:r>
            <a:r>
              <a:rPr>
                <a:latin typeface="Courier"/>
              </a:rPr>
              <a:t>chisq.test()</a:t>
            </a:r>
            <a:r>
              <a:t> function.</a:t>
            </a:r>
          </a:p>
          <a:p>
            <a:pPr marL="0" lvl="0" indent="0">
              <a:buNone/>
            </a:pPr>
            <a:r>
              <a:t>For example we can check if there is an association between stunting and mortality in the adolescent dataset:</a:t>
            </a:r>
          </a:p>
          <a:p>
            <a:pPr lvl="0" indent="0">
              <a:buNone/>
            </a:pPr>
            <a:r>
              <a:rPr>
                <a:latin typeface="Courier"/>
              </a:rPr>
              <a:t>ctest</a:t>
            </a:r>
            <a:r>
              <a:rPr>
                <a:solidFill>
                  <a:srgbClr val="007020"/>
                </a:solidFill>
                <a:latin typeface="Courier"/>
              </a:rPr>
              <a:t>&lt;-</a:t>
            </a:r>
            <a:r>
              <a:rPr>
                <a:solidFill>
                  <a:srgbClr val="06287E"/>
                </a:solidFill>
                <a:latin typeface="Courier"/>
              </a:rPr>
              <a:t>chisq.test</a:t>
            </a:r>
            <a:r>
              <a:rPr>
                <a:latin typeface="Courier"/>
              </a:rPr>
              <a:t>(</a:t>
            </a:r>
            <a:r>
              <a:rPr>
                <a:solidFill>
                  <a:srgbClr val="06287E"/>
                </a:solidFill>
                <a:latin typeface="Courier"/>
              </a:rPr>
              <a:t>table</a:t>
            </a:r>
            <a:r>
              <a:rPr>
                <a:latin typeface="Courier"/>
              </a:rPr>
              <a:t>(df2</a:t>
            </a:r>
            <a:r>
              <a:rPr>
                <a:solidFill>
                  <a:srgbClr val="4070A0"/>
                </a:solidFill>
                <a:latin typeface="Courier"/>
              </a:rPr>
              <a:t>$</a:t>
            </a:r>
            <a:r>
              <a:rPr>
                <a:latin typeface="Courier"/>
              </a:rPr>
              <a:t>stunt,df2</a:t>
            </a:r>
            <a:r>
              <a:rPr>
                <a:solidFill>
                  <a:srgbClr val="4070A0"/>
                </a:solidFill>
                <a:latin typeface="Courier"/>
              </a:rPr>
              <a:t>$</a:t>
            </a:r>
            <a:r>
              <a:rPr>
                <a:latin typeface="Courier"/>
              </a:rPr>
              <a:t>died))</a:t>
            </a:r>
            <a:br/>
            <a:r>
              <a:rPr>
                <a:latin typeface="Courier"/>
              </a:rPr>
              <a:t>ctest</a:t>
            </a:r>
            <a:br/>
            <a:r>
              <a:rPr i="1">
                <a:solidFill>
                  <a:srgbClr val="BA2121"/>
                </a:solidFill>
                <a:latin typeface="Courier"/>
              </a:rPr>
              <a:t>## </a:t>
            </a:r>
            <a:br/>
            <a:r>
              <a:rPr i="1">
                <a:solidFill>
                  <a:srgbClr val="BA2121"/>
                </a:solidFill>
                <a:latin typeface="Courier"/>
              </a:rPr>
              <a:t>##  Pearson's Chi-squared test with Yates' continuity correction</a:t>
            </a:r>
            <a:br/>
            <a:r>
              <a:rPr i="1">
                <a:solidFill>
                  <a:srgbClr val="BA2121"/>
                </a:solidFill>
                <a:latin typeface="Courier"/>
              </a:rPr>
              <a:t>## </a:t>
            </a:r>
            <a:br/>
            <a:r>
              <a:rPr i="1">
                <a:solidFill>
                  <a:srgbClr val="BA2121"/>
                </a:solidFill>
                <a:latin typeface="Courier"/>
              </a:rPr>
              <a:t>## data:  table(df2$stunt, df2$died)</a:t>
            </a:r>
            <a:br/>
            <a:r>
              <a:rPr i="1">
                <a:solidFill>
                  <a:srgbClr val="BA2121"/>
                </a:solidFill>
                <a:latin typeface="Courier"/>
              </a:rPr>
              <a:t>## X-squared = 7.0641, df = 1, p-value = 0.007864</a:t>
            </a:r>
          </a:p>
          <a:p>
            <a:pPr marL="0" lvl="0" indent="0">
              <a:buNone/>
            </a:pPr>
            <a:r>
              <a:t>The p-value is 0.0078644 &lt; 0.05, so we reject the null hypothesis of no association at the 5% significance level.</a:t>
            </a:r>
          </a:p>
        </p:txBody>
      </p:sp>
      <p:sp>
        <p:nvSpPr>
          <p:cNvPr id="6" name="Slide Number Placeholder 5">
            <a:extLst>
              <a:ext uri="{FF2B5EF4-FFF2-40B4-BE49-F238E27FC236}">
                <a16:creationId xmlns:a16="http://schemas.microsoft.com/office/drawing/2014/main" id="{C03F998A-2A5E-471F-9FEB-2559B0A7F93D}"/>
              </a:ext>
            </a:extLst>
          </p:cNvPr>
          <p:cNvSpPr>
            <a:spLocks noGrp="1"/>
          </p:cNvSpPr>
          <p:nvPr>
            <p:ph type="sldNum" sz="quarter" idx="12"/>
          </p:nvPr>
        </p:nvSpPr>
        <p:spPr/>
        <p:txBody>
          <a:bodyPr/>
          <a:lstStyle/>
          <a:p>
            <a:fld id="{E1C5CB42-CF14-4293-8971-6DCD1AAE8BE7}" type="slidenum">
              <a:rPr lang="en-GB" smtClean="0"/>
              <a:t>70</a:t>
            </a:fld>
            <a:endParaRPr lang="en-GB"/>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marL="0" lvl="0" indent="0">
              <a:buNone/>
            </a:pPr>
            <a:r>
              <a:t>Comparing proportions: chi-squared</a:t>
            </a:r>
          </a:p>
        </p:txBody>
      </p:sp>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p:txBody>
          <a:bodyPr/>
          <a:lstStyle/>
          <a:p>
            <a:pPr marL="0" lvl="0" indent="0">
              <a:buNone/>
            </a:pPr>
            <a:r>
              <a:t>Or we can test the null hypothesis of no association between socio-economic status and hospital in the Blantyre TB dataset:</a:t>
            </a:r>
          </a:p>
          <a:p>
            <a:pPr lvl="0" indent="0">
              <a:buNone/>
            </a:pPr>
            <a:r>
              <a:rPr>
                <a:latin typeface="Courier"/>
              </a:rPr>
              <a:t>ctest</a:t>
            </a:r>
            <a:r>
              <a:rPr>
                <a:solidFill>
                  <a:srgbClr val="007020"/>
                </a:solidFill>
                <a:latin typeface="Courier"/>
              </a:rPr>
              <a:t>&lt;-</a:t>
            </a:r>
            <a:r>
              <a:rPr>
                <a:solidFill>
                  <a:srgbClr val="06287E"/>
                </a:solidFill>
                <a:latin typeface="Courier"/>
              </a:rPr>
              <a:t>chisq.test</a:t>
            </a:r>
            <a:r>
              <a:rPr>
                <a:latin typeface="Courier"/>
              </a:rPr>
              <a:t>(</a:t>
            </a:r>
            <a:r>
              <a:rPr>
                <a:solidFill>
                  <a:srgbClr val="06287E"/>
                </a:solidFill>
                <a:latin typeface="Courier"/>
              </a:rPr>
              <a:t>table</a:t>
            </a:r>
            <a:r>
              <a:rPr>
                <a:latin typeface="Courier"/>
              </a:rPr>
              <a:t>(df1</a:t>
            </a:r>
            <a:r>
              <a:rPr>
                <a:solidFill>
                  <a:srgbClr val="4070A0"/>
                </a:solidFill>
                <a:latin typeface="Courier"/>
              </a:rPr>
              <a:t>$</a:t>
            </a:r>
            <a:r>
              <a:rPr>
                <a:latin typeface="Courier"/>
              </a:rPr>
              <a:t>ses,df1</a:t>
            </a:r>
            <a:r>
              <a:rPr>
                <a:solidFill>
                  <a:srgbClr val="4070A0"/>
                </a:solidFill>
                <a:latin typeface="Courier"/>
              </a:rPr>
              <a:t>$</a:t>
            </a:r>
            <a:r>
              <a:rPr>
                <a:latin typeface="Courier"/>
              </a:rPr>
              <a:t>hosp))</a:t>
            </a:r>
            <a:br/>
            <a:r>
              <a:rPr>
                <a:latin typeface="Courier"/>
              </a:rPr>
              <a:t>ctest</a:t>
            </a:r>
            <a:br/>
            <a:r>
              <a:rPr i="1">
                <a:solidFill>
                  <a:srgbClr val="BA2121"/>
                </a:solidFill>
                <a:latin typeface="Courier"/>
              </a:rPr>
              <a:t>## </a:t>
            </a:r>
            <a:br/>
            <a:r>
              <a:rPr i="1">
                <a:solidFill>
                  <a:srgbClr val="BA2121"/>
                </a:solidFill>
                <a:latin typeface="Courier"/>
              </a:rPr>
              <a:t>##  Pearson's Chi-squared test</a:t>
            </a:r>
            <a:br/>
            <a:r>
              <a:rPr i="1">
                <a:solidFill>
                  <a:srgbClr val="BA2121"/>
                </a:solidFill>
                <a:latin typeface="Courier"/>
              </a:rPr>
              <a:t>## </a:t>
            </a:r>
            <a:br/>
            <a:r>
              <a:rPr i="1">
                <a:solidFill>
                  <a:srgbClr val="BA2121"/>
                </a:solidFill>
                <a:latin typeface="Courier"/>
              </a:rPr>
              <a:t>## data:  table(df1$ses, df1$hosp)</a:t>
            </a:r>
            <a:br/>
            <a:r>
              <a:rPr i="1">
                <a:solidFill>
                  <a:srgbClr val="BA2121"/>
                </a:solidFill>
                <a:latin typeface="Courier"/>
              </a:rPr>
              <a:t>## X-squared = 7.864, df = 16, p-value = 0.9528</a:t>
            </a:r>
          </a:p>
          <a:p>
            <a:pPr marL="0" lvl="0" indent="0">
              <a:buNone/>
            </a:pPr>
            <a:r>
              <a:t>Note how the degrees of freedom has changed now. Here the p-value is 0.9528113 &gt; 0.05, so we do not reject H</a:t>
            </a:r>
            <a:r>
              <a:rPr baseline="-25000"/>
              <a:t>0</a:t>
            </a:r>
            <a:r>
              <a:t>.</a:t>
            </a:r>
          </a:p>
        </p:txBody>
      </p:sp>
      <p:sp>
        <p:nvSpPr>
          <p:cNvPr id="6" name="Slide Number Placeholder 5">
            <a:extLst>
              <a:ext uri="{FF2B5EF4-FFF2-40B4-BE49-F238E27FC236}">
                <a16:creationId xmlns:a16="http://schemas.microsoft.com/office/drawing/2014/main" id="{C03F998A-2A5E-471F-9FEB-2559B0A7F93D}"/>
              </a:ext>
            </a:extLst>
          </p:cNvPr>
          <p:cNvSpPr>
            <a:spLocks noGrp="1"/>
          </p:cNvSpPr>
          <p:nvPr>
            <p:ph type="sldNum" sz="quarter" idx="12"/>
          </p:nvPr>
        </p:nvSpPr>
        <p:spPr/>
        <p:txBody>
          <a:bodyPr/>
          <a:lstStyle/>
          <a:p>
            <a:fld id="{E1C5CB42-CF14-4293-8971-6DCD1AAE8BE7}" type="slidenum">
              <a:rPr lang="en-GB" smtClean="0"/>
              <a:t>71</a:t>
            </a:fld>
            <a:endParaRPr lang="en-GB"/>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511042-BDFA-4708-84AB-F848A1D5D4A0}"/>
              </a:ext>
            </a:extLst>
          </p:cNvPr>
          <p:cNvSpPr>
            <a:spLocks noGrp="1"/>
          </p:cNvSpPr>
          <p:nvPr>
            <p:ph type="title"/>
          </p:nvPr>
        </p:nvSpPr>
        <p:spPr>
          <a:xfrm>
            <a:off x="831850" y="1709738"/>
            <a:ext cx="10515600" cy="2852737"/>
          </a:xfrm>
        </p:spPr>
        <p:txBody>
          <a:bodyPr/>
          <a:lstStyle/>
          <a:p>
            <a:pPr marL="0" lvl="0" indent="0">
              <a:buNone/>
            </a:pPr>
            <a:r>
              <a:t>Non-parametric tests</a:t>
            </a:r>
          </a:p>
        </p:txBody>
      </p:sp>
      <p:sp>
        <p:nvSpPr>
          <p:cNvPr id="6" name="Slide Number Placeholder 5">
            <a:extLst>
              <a:ext uri="{FF2B5EF4-FFF2-40B4-BE49-F238E27FC236}">
                <a16:creationId xmlns:a16="http://schemas.microsoft.com/office/drawing/2014/main" id="{910AAC92-EEED-4232-ACDE-84003A6476BB}"/>
              </a:ext>
            </a:extLst>
          </p:cNvPr>
          <p:cNvSpPr>
            <a:spLocks noGrp="1"/>
          </p:cNvSpPr>
          <p:nvPr>
            <p:ph type="sldNum" sz="quarter" idx="12"/>
          </p:nvPr>
        </p:nvSpPr>
        <p:spPr/>
        <p:txBody>
          <a:bodyPr/>
          <a:lstStyle/>
          <a:p>
            <a:fld id="{E1C5CB42-CF14-4293-8971-6DCD1AAE8BE7}" type="slidenum">
              <a:rPr lang="en-GB" smtClean="0"/>
              <a:t>72</a:t>
            </a:fld>
            <a:endParaRPr lang="en-GB"/>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marL="0" lvl="0" indent="0">
              <a:buNone/>
            </a:pPr>
            <a:r>
              <a:t>Non-parametric tests</a:t>
            </a:r>
          </a:p>
        </p:txBody>
      </p:sp>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p:txBody>
          <a:bodyPr/>
          <a:lstStyle/>
          <a:p>
            <a:pPr lvl="0"/>
            <a:r>
              <a:t>When we cannot make distributional assumptions about the test statistic (i.e. typically when the assumption of normality is not met).</a:t>
            </a:r>
          </a:p>
          <a:p>
            <a:pPr lvl="0"/>
            <a:r>
              <a:t>Have non-parametric equivalent for most parametric tests.</a:t>
            </a:r>
          </a:p>
          <a:p>
            <a:pPr lvl="0"/>
            <a:r>
              <a:t>These tests still assume randomly sampled, independent and identically distributed observations. It is only the distributional assumption that is no longer made.</a:t>
            </a:r>
          </a:p>
        </p:txBody>
      </p:sp>
      <p:sp>
        <p:nvSpPr>
          <p:cNvPr id="6" name="Slide Number Placeholder 5">
            <a:extLst>
              <a:ext uri="{FF2B5EF4-FFF2-40B4-BE49-F238E27FC236}">
                <a16:creationId xmlns:a16="http://schemas.microsoft.com/office/drawing/2014/main" id="{C03F998A-2A5E-471F-9FEB-2559B0A7F93D}"/>
              </a:ext>
            </a:extLst>
          </p:cNvPr>
          <p:cNvSpPr>
            <a:spLocks noGrp="1"/>
          </p:cNvSpPr>
          <p:nvPr>
            <p:ph type="sldNum" sz="quarter" idx="12"/>
          </p:nvPr>
        </p:nvSpPr>
        <p:spPr/>
        <p:txBody>
          <a:bodyPr/>
          <a:lstStyle/>
          <a:p>
            <a:fld id="{E1C5CB42-CF14-4293-8971-6DCD1AAE8BE7}" type="slidenum">
              <a:rPr lang="en-GB" smtClean="0"/>
              <a:t>73</a:t>
            </a:fld>
            <a:endParaRPr lang="en-GB"/>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marL="0" lvl="0" indent="0">
              <a:buNone/>
            </a:pPr>
            <a:r>
              <a:t>Wilcoxon one-sample signed rank test</a:t>
            </a:r>
          </a:p>
        </p:txBody>
      </p:sp>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p:txBody>
          <a:bodyPr/>
          <a:lstStyle/>
          <a:p>
            <a:pPr lvl="0"/>
            <a:r>
              <a:t>When assumption of normality of sample mean in the one-sample t-test is violated.</a:t>
            </a:r>
          </a:p>
          <a:p>
            <a:pPr lvl="0"/>
            <a:r>
              <a:t>This test compares the median (not the mean) against a fixed value.</a:t>
            </a:r>
          </a:p>
          <a:p>
            <a:pPr lvl="0"/>
            <a:r>
              <a:t>Hypotheses (two-sided case):</a:t>
            </a:r>
          </a:p>
          <a:p>
            <a:pPr marL="0" lvl="0" indent="0">
              <a:buNone/>
            </a:pPr>
            <a14:m xmlns:a14="http://schemas.microsoft.com/office/drawing/2010/main">
              <m:oMathPara xmlns:m="http://schemas.openxmlformats.org/officeDocument/2006/math">
                <m:oMathParaPr>
                  <m:jc m:val="center"/>
                </m:oMathParaPr>
                <m:oMath xmlns:m="http://schemas.openxmlformats.org/officeDocument/2006/math">
                  <m:m>
                    <m:mPr>
                      <m:plcHide m:val="on"/>
                      <m:mcs>
                        <m:mc>
                          <m:mcPr>
                            <m:count m:val="2"/>
                            <m:mcJc m:val="center"/>
                          </m:mcPr>
                        </m:mc>
                      </m:mcs>
                      <m:ctrlPr>
                        <a:rPr>
                          <a:latin typeface="Cambria Math" panose="02040503050406030204" pitchFamily="18" charset="0"/>
                        </a:rPr>
                      </m:ctrlPr>
                    </m:mPr>
                    <m:mr>
                      <m:e>
                        <m:sSub>
                          <m:sSubPr>
                            <m:ctrlPr>
                              <a:rPr>
                                <a:latin typeface="Cambria Math" panose="02040503050406030204" pitchFamily="18" charset="0"/>
                              </a:rPr>
                            </m:ctrlPr>
                          </m:sSubPr>
                          <m:e>
                            <m:r>
                              <a:rPr>
                                <a:latin typeface="Cambria Math" panose="02040503050406030204" pitchFamily="18" charset="0"/>
                              </a:rPr>
                              <m:t>𝐻</m:t>
                            </m:r>
                          </m:e>
                          <m:sub>
                            <m:r>
                              <a:rPr>
                                <a:latin typeface="Cambria Math" panose="02040503050406030204" pitchFamily="18" charset="0"/>
                              </a:rPr>
                              <m:t>0</m:t>
                            </m:r>
                          </m:sub>
                        </m:sSub>
                        <m:r>
                          <a:rPr>
                            <a:latin typeface="Cambria Math" panose="02040503050406030204" pitchFamily="18" charset="0"/>
                          </a:rPr>
                          <m:t>:</m:t>
                        </m:r>
                      </m:e>
                      <m:e>
                        <m:r>
                          <a:rPr>
                            <a:latin typeface="Cambria Math" panose="02040503050406030204" pitchFamily="18" charset="0"/>
                          </a:rPr>
                          <m:t> </m:t>
                        </m:r>
                        <m:r>
                          <m:rPr>
                            <m:nor/>
                          </m:rPr>
                          <a:rPr/>
                          <m:t> </m:t>
                        </m:r>
                        <m:r>
                          <m:rPr>
                            <m:nor/>
                          </m:rPr>
                          <a:rPr/>
                          <m:t>median</m:t>
                        </m:r>
                        <m:r>
                          <a:rPr>
                            <a:latin typeface="Cambria Math" panose="02040503050406030204" pitchFamily="18" charset="0"/>
                          </a:rPr>
                          <m:t>=</m:t>
                        </m:r>
                        <m:r>
                          <a:rPr>
                            <a:latin typeface="Cambria Math" panose="02040503050406030204" pitchFamily="18" charset="0"/>
                          </a:rPr>
                          <m:t>𝑚</m:t>
                        </m:r>
                      </m:e>
                    </m:mr>
                    <m:mr>
                      <m:e>
                        <m:sSub>
                          <m:sSubPr>
                            <m:ctrlPr>
                              <a:rPr i="1">
                                <a:latin typeface="Cambria Math" panose="02040503050406030204" pitchFamily="18" charset="0"/>
                              </a:rPr>
                            </m:ctrlPr>
                          </m:sSubPr>
                          <m:e>
                            <m:r>
                              <a:rPr>
                                <a:latin typeface="Cambria Math" panose="02040503050406030204" pitchFamily="18" charset="0"/>
                              </a:rPr>
                              <m:t>𝐻</m:t>
                            </m:r>
                          </m:e>
                          <m:sub>
                            <m:r>
                              <a:rPr>
                                <a:latin typeface="Cambria Math" panose="02040503050406030204" pitchFamily="18" charset="0"/>
                              </a:rPr>
                              <m:t>1</m:t>
                            </m:r>
                          </m:sub>
                        </m:sSub>
                        <m:r>
                          <a:rPr>
                            <a:latin typeface="Cambria Math" panose="02040503050406030204" pitchFamily="18" charset="0"/>
                          </a:rPr>
                          <m:t>:</m:t>
                        </m:r>
                      </m:e>
                      <m:e>
                        <m:r>
                          <a:rPr>
                            <a:latin typeface="Cambria Math" panose="02040503050406030204" pitchFamily="18" charset="0"/>
                          </a:rPr>
                          <m:t> </m:t>
                        </m:r>
                        <m:r>
                          <m:rPr>
                            <m:nor/>
                          </m:rPr>
                          <a:rPr/>
                          <m:t> </m:t>
                        </m:r>
                        <m:r>
                          <m:rPr>
                            <m:nor/>
                          </m:rPr>
                          <a:rPr/>
                          <m:t>median</m:t>
                        </m:r>
                        <m:r>
                          <a:rPr>
                            <a:latin typeface="Cambria Math" panose="02040503050406030204" pitchFamily="18" charset="0"/>
                          </a:rPr>
                          <m:t>≠</m:t>
                        </m:r>
                        <m:r>
                          <a:rPr>
                            <a:latin typeface="Cambria Math" panose="02040503050406030204" pitchFamily="18" charset="0"/>
                          </a:rPr>
                          <m:t>𝑚</m:t>
                        </m:r>
                      </m:e>
                    </m:mr>
                  </m:m>
                </m:oMath>
              </m:oMathPara>
            </a14:m>
            <a:endParaRPr/>
          </a:p>
          <a:p>
            <a:pPr lvl="0"/>
            <a:r>
              <a:t>In R: </a:t>
            </a:r>
            <a:r>
              <a:rPr>
                <a:latin typeface="Courier"/>
              </a:rPr>
              <a:t>wilcox.test()</a:t>
            </a:r>
            <a:r>
              <a:t>.</a:t>
            </a:r>
          </a:p>
        </p:txBody>
      </p:sp>
      <p:sp>
        <p:nvSpPr>
          <p:cNvPr id="6" name="Slide Number Placeholder 5">
            <a:extLst>
              <a:ext uri="{FF2B5EF4-FFF2-40B4-BE49-F238E27FC236}">
                <a16:creationId xmlns:a16="http://schemas.microsoft.com/office/drawing/2014/main" id="{C03F998A-2A5E-471F-9FEB-2559B0A7F93D}"/>
              </a:ext>
            </a:extLst>
          </p:cNvPr>
          <p:cNvSpPr>
            <a:spLocks noGrp="1"/>
          </p:cNvSpPr>
          <p:nvPr>
            <p:ph type="sldNum" sz="quarter" idx="12"/>
          </p:nvPr>
        </p:nvSpPr>
        <p:spPr/>
        <p:txBody>
          <a:bodyPr/>
          <a:lstStyle/>
          <a:p>
            <a:fld id="{E1C5CB42-CF14-4293-8971-6DCD1AAE8BE7}" type="slidenum">
              <a:rPr lang="en-GB" smtClean="0"/>
              <a:t>74</a:t>
            </a:fld>
            <a:endParaRPr lang="en-GB"/>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marL="0" lvl="0" indent="0">
              <a:buNone/>
            </a:pPr>
            <a:r>
              <a:t>Wilcoxon one-sample signed rank test</a:t>
            </a:r>
          </a:p>
        </p:txBody>
      </p:sp>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p:txBody>
          <a:bodyPr/>
          <a:lstStyle/>
          <a:p>
            <a:pPr marL="0" lvl="0" indent="0">
              <a:buNone/>
            </a:pPr>
            <a:r>
              <a:t>To compute the test statistic, we first need to rank the data </a:t>
            </a:r>
            <a14:m xmlns:a14="http://schemas.microsoft.com/office/drawing/2010/main">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𝑋</m:t>
                    </m:r>
                  </m:e>
                  <m:sub>
                    <m:r>
                      <a:rPr>
                        <a:latin typeface="Cambria Math" panose="02040503050406030204" pitchFamily="18" charset="0"/>
                      </a:rPr>
                      <m:t>1</m:t>
                    </m:r>
                  </m:sub>
                </m:sSub>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𝑋</m:t>
                    </m:r>
                  </m:e>
                  <m:sub>
                    <m:r>
                      <a:rPr>
                        <a:latin typeface="Cambria Math" panose="02040503050406030204" pitchFamily="18" charset="0"/>
                      </a:rPr>
                      <m:t>𝑛</m:t>
                    </m:r>
                  </m:sub>
                </m:sSub>
              </m:oMath>
            </a14:m>
            <a:r>
              <a:t> from smallest to largest and assign the corresponding ranks </a:t>
            </a:r>
            <a14:m xmlns:a14="http://schemas.microsoft.com/office/drawing/2010/main">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𝑅</m:t>
                    </m:r>
                  </m:e>
                  <m:sub>
                    <m:r>
                      <a:rPr>
                        <a:latin typeface="Cambria Math" panose="02040503050406030204" pitchFamily="18" charset="0"/>
                      </a:rPr>
                      <m:t>1</m:t>
                    </m:r>
                  </m:sub>
                </m:sSub>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𝑅</m:t>
                    </m:r>
                  </m:e>
                  <m:sub>
                    <m:r>
                      <a:rPr>
                        <a:latin typeface="Cambria Math" panose="02040503050406030204" pitchFamily="18" charset="0"/>
                      </a:rPr>
                      <m:t>𝑛</m:t>
                    </m:r>
                  </m:sub>
                </m:sSub>
              </m:oMath>
            </a14:m>
            <a:r>
              <a:t>.</a:t>
            </a:r>
          </a:p>
          <a:p>
            <a:pPr marL="0" lvl="0" indent="0">
              <a:buNone/>
            </a:pPr>
            <a:r>
              <a:t>The test statistic is then:</a:t>
            </a:r>
          </a:p>
          <a:p>
            <a:pPr marL="0" lvl="0" indent="0">
              <a:buNone/>
            </a:pPr>
            <a14:m xmlns:a14="http://schemas.microsoft.com/office/drawing/2010/main">
              <m:oMathPara xmlns:m="http://schemas.openxmlformats.org/officeDocument/2006/math">
                <m:oMathParaPr>
                  <m:jc m:val="center"/>
                </m:oMathParaPr>
                <m:oMath xmlns:m="http://schemas.openxmlformats.org/officeDocument/2006/math">
                  <m:r>
                    <a:rPr>
                      <a:latin typeface="Cambria Math" panose="02040503050406030204" pitchFamily="18" charset="0"/>
                    </a:rPr>
                    <m:t> </m:t>
                  </m:r>
                </m:oMath>
              </m:oMathPara>
            </a14:m>
            <a:endParaRPr/>
          </a:p>
          <a:p>
            <a:pPr marL="0" lvl="0" indent="0">
              <a:buNone/>
            </a:pPr>
            <a14:m xmlns:a14="http://schemas.microsoft.com/office/drawing/2010/main">
              <m:oMathPara xmlns:m="http://schemas.openxmlformats.org/officeDocument/2006/math">
                <m:oMathParaPr>
                  <m:jc m:val="center"/>
                </m:oMathParaPr>
                <m:oMath xmlns:m="http://schemas.openxmlformats.org/officeDocument/2006/math">
                  <m:r>
                    <a:rPr>
                      <a:latin typeface="Cambria Math" panose="02040503050406030204" pitchFamily="18" charset="0"/>
                    </a:rPr>
                    <m:t>𝑇</m:t>
                  </m:r>
                  <m:r>
                    <a:rPr>
                      <a:latin typeface="Cambria Math" panose="02040503050406030204" pitchFamily="18" charset="0"/>
                    </a:rPr>
                    <m:t>=</m:t>
                  </m:r>
                  <m:nary>
                    <m:naryPr>
                      <m:chr m:val="∑"/>
                      <m:limLoc m:val="undOvr"/>
                      <m:ctrlPr>
                        <a:rPr i="1">
                          <a:latin typeface="Cambria Math" panose="02040503050406030204" pitchFamily="18" charset="0"/>
                        </a:rPr>
                      </m:ctrlPr>
                    </m:naryPr>
                    <m:sub>
                      <m:r>
                        <a:rPr>
                          <a:latin typeface="Cambria Math" panose="02040503050406030204" pitchFamily="18" charset="0"/>
                        </a:rPr>
                        <m:t>𝑖</m:t>
                      </m:r>
                    </m:sub>
                    <m:sup>
                      <m:r>
                        <a:rPr>
                          <a:latin typeface="Cambria Math" panose="02040503050406030204" pitchFamily="18" charset="0"/>
                        </a:rPr>
                        <m:t>​</m:t>
                      </m:r>
                    </m:sup>
                    <m:e>
                      <m:r>
                        <m:rPr>
                          <m:nor/>
                        </m:rPr>
                        <a:rPr/>
                        <m:t>sgn</m:t>
                      </m:r>
                    </m:e>
                  </m:nary>
                  <m:d>
                    <m:dPr>
                      <m:ctrlPr>
                        <a:rPr i="1">
                          <a:latin typeface="Cambria Math" panose="02040503050406030204" pitchFamily="18" charset="0"/>
                        </a:rPr>
                      </m:ctrlPr>
                    </m:dPr>
                    <m:e>
                      <m:sSub>
                        <m:sSubPr>
                          <m:ctrlPr>
                            <a:rPr i="1">
                              <a:latin typeface="Cambria Math" panose="02040503050406030204" pitchFamily="18" charset="0"/>
                            </a:rPr>
                          </m:ctrlPr>
                        </m:sSubPr>
                        <m:e>
                          <m:r>
                            <a:rPr>
                              <a:latin typeface="Cambria Math" panose="02040503050406030204" pitchFamily="18" charset="0"/>
                            </a:rPr>
                            <m:t>𝑋</m:t>
                          </m:r>
                        </m:e>
                        <m:sub>
                          <m:r>
                            <a:rPr>
                              <a:latin typeface="Cambria Math" panose="02040503050406030204" pitchFamily="18" charset="0"/>
                            </a:rPr>
                            <m:t>𝑖</m:t>
                          </m:r>
                        </m:sub>
                      </m:sSub>
                      <m:r>
                        <a:rPr>
                          <a:latin typeface="Cambria Math" panose="02040503050406030204" pitchFamily="18" charset="0"/>
                        </a:rPr>
                        <m:t>−</m:t>
                      </m:r>
                      <m:r>
                        <a:rPr>
                          <a:latin typeface="Cambria Math" panose="02040503050406030204" pitchFamily="18" charset="0"/>
                        </a:rPr>
                        <m:t>𝑚</m:t>
                      </m:r>
                    </m:e>
                  </m:d>
                  <m:sSub>
                    <m:sSubPr>
                      <m:ctrlPr>
                        <a:rPr i="1">
                          <a:latin typeface="Cambria Math" panose="02040503050406030204" pitchFamily="18" charset="0"/>
                        </a:rPr>
                      </m:ctrlPr>
                    </m:sSubPr>
                    <m:e>
                      <m:r>
                        <a:rPr>
                          <a:latin typeface="Cambria Math" panose="02040503050406030204" pitchFamily="18" charset="0"/>
                        </a:rPr>
                        <m:t>𝑅</m:t>
                      </m:r>
                    </m:e>
                    <m:sub>
                      <m:r>
                        <a:rPr>
                          <a:latin typeface="Cambria Math" panose="02040503050406030204" pitchFamily="18" charset="0"/>
                        </a:rPr>
                        <m:t>𝑖</m:t>
                      </m:r>
                    </m:sub>
                  </m:sSub>
                  <m:r>
                    <a:rPr>
                      <a:latin typeface="Cambria Math" panose="02040503050406030204" pitchFamily="18" charset="0"/>
                    </a:rPr>
                    <m:t>∼</m:t>
                  </m:r>
                  <m:r>
                    <a:rPr>
                      <a:latin typeface="Cambria Math" panose="02040503050406030204" pitchFamily="18" charset="0"/>
                    </a:rPr>
                    <m:t>𝐹</m:t>
                  </m:r>
                  <m:r>
                    <a:rPr>
                      <a:latin typeface="Cambria Math" panose="02040503050406030204" pitchFamily="18" charset="0"/>
                    </a:rPr>
                    <m:t> </m:t>
                  </m:r>
                  <m:r>
                    <m:rPr>
                      <m:nor/>
                    </m:rPr>
                    <a:rPr/>
                    <m:t> </m:t>
                  </m:r>
                  <m:r>
                    <m:rPr>
                      <m:nor/>
                    </m:rPr>
                    <a:rPr/>
                    <m:t>under</m:t>
                  </m:r>
                  <m:r>
                    <m:rPr>
                      <m:nor/>
                    </m:rPr>
                    <a:rPr/>
                    <m:t> </m:t>
                  </m:r>
                  <m:sSub>
                    <m:sSubPr>
                      <m:ctrlPr>
                        <a:rPr i="1">
                          <a:latin typeface="Cambria Math" panose="02040503050406030204" pitchFamily="18" charset="0"/>
                        </a:rPr>
                      </m:ctrlPr>
                    </m:sSubPr>
                    <m:e>
                      <m:r>
                        <a:rPr>
                          <a:latin typeface="Cambria Math" panose="02040503050406030204" pitchFamily="18" charset="0"/>
                        </a:rPr>
                        <m:t>𝐻</m:t>
                      </m:r>
                    </m:e>
                    <m:sub>
                      <m:r>
                        <a:rPr>
                          <a:latin typeface="Cambria Math" panose="02040503050406030204" pitchFamily="18" charset="0"/>
                        </a:rPr>
                        <m:t>0</m:t>
                      </m:r>
                    </m:sub>
                  </m:sSub>
                </m:oMath>
              </m:oMathPara>
            </a14:m>
            <a:endParaRPr/>
          </a:p>
          <a:p>
            <a:pPr marL="0" lvl="0" indent="0">
              <a:buNone/>
            </a:pPr>
            <a:r>
              <a:t>The distribution </a:t>
            </a:r>
            <a14:m xmlns:a14="http://schemas.microsoft.com/office/drawing/2010/main">
              <m:oMath xmlns:m="http://schemas.openxmlformats.org/officeDocument/2006/math">
                <m:r>
                  <a:rPr>
                    <a:latin typeface="Cambria Math" panose="02040503050406030204" pitchFamily="18" charset="0"/>
                  </a:rPr>
                  <m:t>𝐹</m:t>
                </m:r>
              </m:oMath>
            </a14:m>
            <a:r>
              <a:t> of the test statistic has no closed form solution and p-values need to be computed using a computer. The main feature is that under </a:t>
            </a:r>
            <a14:m xmlns:a14="http://schemas.microsoft.com/office/drawing/2010/main">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𝐻</m:t>
                    </m:r>
                  </m:e>
                  <m:sub>
                    <m:r>
                      <a:rPr>
                        <a:latin typeface="Cambria Math" panose="02040503050406030204" pitchFamily="18" charset="0"/>
                      </a:rPr>
                      <m:t>0</m:t>
                    </m:r>
                  </m:sub>
                </m:sSub>
              </m:oMath>
            </a14:m>
            <a:r>
              <a:t>, observations </a:t>
            </a:r>
            <a14:m xmlns:a14="http://schemas.microsoft.com/office/drawing/2010/main">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𝑥</m:t>
                    </m:r>
                  </m:e>
                  <m:sub>
                    <m:r>
                      <a:rPr>
                        <a:latin typeface="Cambria Math" panose="02040503050406030204" pitchFamily="18" charset="0"/>
                      </a:rPr>
                      <m:t>𝑖</m:t>
                    </m:r>
                  </m:sub>
                </m:sSub>
              </m:oMath>
            </a14:m>
            <a:r>
              <a:t> smaller than </a:t>
            </a:r>
            <a14:m xmlns:a14="http://schemas.microsoft.com/office/drawing/2010/main">
              <m:oMath xmlns:m="http://schemas.openxmlformats.org/officeDocument/2006/math">
                <m:r>
                  <a:rPr>
                    <a:latin typeface="Cambria Math" panose="02040503050406030204" pitchFamily="18" charset="0"/>
                  </a:rPr>
                  <m:t>𝑚</m:t>
                </m:r>
              </m:oMath>
            </a14:m>
            <a:r>
              <a:t> should have ranks that are on average similar to those from observations </a:t>
            </a:r>
            <a14:m xmlns:a14="http://schemas.microsoft.com/office/drawing/2010/main">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𝑥</m:t>
                    </m:r>
                  </m:e>
                  <m:sub>
                    <m:r>
                      <a:rPr>
                        <a:latin typeface="Cambria Math" panose="02040503050406030204" pitchFamily="18" charset="0"/>
                      </a:rPr>
                      <m:t>𝑖</m:t>
                    </m:r>
                  </m:sub>
                </m:sSub>
              </m:oMath>
            </a14:m>
            <a:r>
              <a:t> larger than </a:t>
            </a:r>
            <a14:m xmlns:a14="http://schemas.microsoft.com/office/drawing/2010/main">
              <m:oMath xmlns:m="http://schemas.openxmlformats.org/officeDocument/2006/math">
                <m:r>
                  <a:rPr>
                    <a:latin typeface="Cambria Math" panose="02040503050406030204" pitchFamily="18" charset="0"/>
                  </a:rPr>
                  <m:t>𝑚</m:t>
                </m:r>
              </m:oMath>
            </a14:m>
            <a:r>
              <a:t>.</a:t>
            </a:r>
          </a:p>
        </p:txBody>
      </p:sp>
      <p:sp>
        <p:nvSpPr>
          <p:cNvPr id="6" name="Slide Number Placeholder 5">
            <a:extLst>
              <a:ext uri="{FF2B5EF4-FFF2-40B4-BE49-F238E27FC236}">
                <a16:creationId xmlns:a16="http://schemas.microsoft.com/office/drawing/2014/main" id="{C03F998A-2A5E-471F-9FEB-2559B0A7F93D}"/>
              </a:ext>
            </a:extLst>
          </p:cNvPr>
          <p:cNvSpPr>
            <a:spLocks noGrp="1"/>
          </p:cNvSpPr>
          <p:nvPr>
            <p:ph type="sldNum" sz="quarter" idx="12"/>
          </p:nvPr>
        </p:nvSpPr>
        <p:spPr/>
        <p:txBody>
          <a:bodyPr/>
          <a:lstStyle/>
          <a:p>
            <a:fld id="{E1C5CB42-CF14-4293-8971-6DCD1AAE8BE7}" type="slidenum">
              <a:rPr lang="en-GB" smtClean="0"/>
              <a:t>75</a:t>
            </a:fld>
            <a:endParaRPr lang="en-GB"/>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marL="0" lvl="0" indent="0">
              <a:buNone/>
            </a:pPr>
            <a:r>
              <a:t>Wilcoxon one-sample signed rank test</a:t>
            </a:r>
          </a:p>
        </p:txBody>
      </p:sp>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p:txBody>
          <a:bodyPr/>
          <a:lstStyle/>
          <a:p>
            <a:pPr marL="0" lvl="0" indent="0">
              <a:buNone/>
            </a:pPr>
            <a:r>
              <a:t>For example, for the adolescent dataset, we can test the null hypothesis that the median weight in the study population is 38kg.</a:t>
            </a:r>
          </a:p>
          <a:p>
            <a:pPr lvl="0" indent="0">
              <a:buNone/>
            </a:pPr>
            <a:r>
              <a:rPr>
                <a:solidFill>
                  <a:srgbClr val="06287E"/>
                </a:solidFill>
                <a:latin typeface="Courier"/>
              </a:rPr>
              <a:t>wilcox.test</a:t>
            </a:r>
            <a:r>
              <a:rPr>
                <a:latin typeface="Courier"/>
              </a:rPr>
              <a:t>(df2</a:t>
            </a:r>
            <a:r>
              <a:rPr>
                <a:solidFill>
                  <a:srgbClr val="4070A0"/>
                </a:solidFill>
                <a:latin typeface="Courier"/>
              </a:rPr>
              <a:t>$</a:t>
            </a:r>
            <a:r>
              <a:rPr>
                <a:latin typeface="Courier"/>
              </a:rPr>
              <a:t>a104wt,</a:t>
            </a:r>
            <a:r>
              <a:rPr>
                <a:solidFill>
                  <a:srgbClr val="7D9029"/>
                </a:solidFill>
                <a:latin typeface="Courier"/>
              </a:rPr>
              <a:t>mu=</a:t>
            </a:r>
            <a:r>
              <a:rPr>
                <a:solidFill>
                  <a:srgbClr val="40A070"/>
                </a:solidFill>
                <a:latin typeface="Courier"/>
              </a:rPr>
              <a:t>38</a:t>
            </a:r>
            <a:r>
              <a:rPr>
                <a:latin typeface="Courier"/>
              </a:rPr>
              <a:t>)</a:t>
            </a:r>
            <a:br/>
            <a:r>
              <a:rPr i="1">
                <a:solidFill>
                  <a:srgbClr val="BA2121"/>
                </a:solidFill>
                <a:latin typeface="Courier"/>
              </a:rPr>
              <a:t>## </a:t>
            </a:r>
            <a:br/>
            <a:r>
              <a:rPr i="1">
                <a:solidFill>
                  <a:srgbClr val="BA2121"/>
                </a:solidFill>
                <a:latin typeface="Courier"/>
              </a:rPr>
              <a:t>##  Wilcoxon signed rank test with continuity correction</a:t>
            </a:r>
            <a:br/>
            <a:r>
              <a:rPr i="1">
                <a:solidFill>
                  <a:srgbClr val="BA2121"/>
                </a:solidFill>
                <a:latin typeface="Courier"/>
              </a:rPr>
              <a:t>## </a:t>
            </a:r>
            <a:br/>
            <a:r>
              <a:rPr i="1">
                <a:solidFill>
                  <a:srgbClr val="BA2121"/>
                </a:solidFill>
                <a:latin typeface="Courier"/>
              </a:rPr>
              <a:t>## data:  df2$a104wt</a:t>
            </a:r>
            <a:br/>
            <a:r>
              <a:rPr i="1">
                <a:solidFill>
                  <a:srgbClr val="BA2121"/>
                </a:solidFill>
                <a:latin typeface="Courier"/>
              </a:rPr>
              <a:t>## V = 12805, p-value = 0.0001147</a:t>
            </a:r>
            <a:br/>
            <a:r>
              <a:rPr i="1">
                <a:solidFill>
                  <a:srgbClr val="BA2121"/>
                </a:solidFill>
                <a:latin typeface="Courier"/>
              </a:rPr>
              <a:t>## alternative hypothesis: true location is not equal to 38</a:t>
            </a:r>
          </a:p>
        </p:txBody>
      </p:sp>
      <p:sp>
        <p:nvSpPr>
          <p:cNvPr id="6" name="Slide Number Placeholder 5">
            <a:extLst>
              <a:ext uri="{FF2B5EF4-FFF2-40B4-BE49-F238E27FC236}">
                <a16:creationId xmlns:a16="http://schemas.microsoft.com/office/drawing/2014/main" id="{C03F998A-2A5E-471F-9FEB-2559B0A7F93D}"/>
              </a:ext>
            </a:extLst>
          </p:cNvPr>
          <p:cNvSpPr>
            <a:spLocks noGrp="1"/>
          </p:cNvSpPr>
          <p:nvPr>
            <p:ph type="sldNum" sz="quarter" idx="12"/>
          </p:nvPr>
        </p:nvSpPr>
        <p:spPr/>
        <p:txBody>
          <a:bodyPr/>
          <a:lstStyle/>
          <a:p>
            <a:fld id="{E1C5CB42-CF14-4293-8971-6DCD1AAE8BE7}" type="slidenum">
              <a:rPr lang="en-GB" smtClean="0"/>
              <a:t>76</a:t>
            </a:fld>
            <a:endParaRPr lang="en-GB"/>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marL="0" lvl="0" indent="0">
              <a:buNone/>
            </a:pPr>
            <a:r>
              <a:t>Wilcoxon two-sample rank-sum test</a:t>
            </a:r>
          </a:p>
        </p:txBody>
      </p:sp>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p:txBody>
          <a:bodyPr/>
          <a:lstStyle/>
          <a:p>
            <a:pPr marL="0" lvl="0" indent="0">
              <a:buNone/>
            </a:pPr>
            <a:r>
              <a:t>When we want to compare 2 groups, we can use Wilcoxon’s rank-sum test as an alternative to the parametric two-sample t-test. This test is also known as the Mann-Whitney U test.</a:t>
            </a:r>
          </a:p>
          <a:p>
            <a:pPr marL="0" lvl="0" indent="0">
              <a:buNone/>
            </a:pPr>
            <a14:m xmlns:a14="http://schemas.microsoft.com/office/drawing/2010/main">
              <m:oMathPara xmlns:m="http://schemas.openxmlformats.org/officeDocument/2006/math">
                <m:oMathParaPr>
                  <m:jc m:val="center"/>
                </m:oMathParaPr>
                <m:oMath xmlns:m="http://schemas.openxmlformats.org/officeDocument/2006/math">
                  <m:r>
                    <a:rPr>
                      <a:latin typeface="Cambria Math" panose="02040503050406030204" pitchFamily="18" charset="0"/>
                    </a:rPr>
                    <m:t> </m:t>
                  </m:r>
                </m:oMath>
              </m:oMathPara>
            </a14:m>
            <a:endParaRPr/>
          </a:p>
          <a:p>
            <a:pPr marL="0" lvl="0" indent="0">
              <a:buNone/>
            </a:pPr>
            <a:r>
              <a:t>It is important that this test compares the entire distribution of values in each of the groups. It is most sensitive to changes in the median, so is often interpreted as a test for the medians, but this is not fully correct.</a:t>
            </a:r>
          </a:p>
        </p:txBody>
      </p:sp>
      <p:sp>
        <p:nvSpPr>
          <p:cNvPr id="6" name="Slide Number Placeholder 5">
            <a:extLst>
              <a:ext uri="{FF2B5EF4-FFF2-40B4-BE49-F238E27FC236}">
                <a16:creationId xmlns:a16="http://schemas.microsoft.com/office/drawing/2014/main" id="{C03F998A-2A5E-471F-9FEB-2559B0A7F93D}"/>
              </a:ext>
            </a:extLst>
          </p:cNvPr>
          <p:cNvSpPr>
            <a:spLocks noGrp="1"/>
          </p:cNvSpPr>
          <p:nvPr>
            <p:ph type="sldNum" sz="quarter" idx="12"/>
          </p:nvPr>
        </p:nvSpPr>
        <p:spPr/>
        <p:txBody>
          <a:bodyPr/>
          <a:lstStyle/>
          <a:p>
            <a:fld id="{E1C5CB42-CF14-4293-8971-6DCD1AAE8BE7}" type="slidenum">
              <a:rPr lang="en-GB" smtClean="0"/>
              <a:t>77</a:t>
            </a:fld>
            <a:endParaRPr lang="en-GB"/>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marL="0" lvl="0" indent="0">
              <a:buNone/>
            </a:pPr>
            <a:r>
              <a:t>Wilcoxon two-sample rank-sum test</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a:xfrm>
                <a:off x="838200" y="1782759"/>
                <a:ext cx="10515600" cy="4667250"/>
              </a:xfrm>
            </p:spPr>
            <p:txBody>
              <a:bodyPr>
                <a:normAutofit fontScale="77500" lnSpcReduction="20000"/>
              </a:bodyPr>
              <a:lstStyle/>
              <a:p>
                <a:pPr lvl="0"/>
                <a:r>
                  <a:rPr dirty="0"/>
                  <a:t>Hypotheses:</a:t>
                </a:r>
              </a:p>
              <a:p>
                <a:pPr marL="0" lvl="0" indent="0">
                  <a:buNone/>
                </a:pPr>
                <a14:m>
                  <m:oMathPara xmlns:m="http://schemas.openxmlformats.org/officeDocument/2006/math">
                    <m:oMathParaPr>
                      <m:jc m:val="center"/>
                    </m:oMathParaPr>
                    <m:oMath xmlns:m="http://schemas.openxmlformats.org/officeDocument/2006/math">
                      <m:m>
                        <m:mPr>
                          <m:plcHide m:val="on"/>
                          <m:mcs>
                            <m:mc>
                              <m:mcPr>
                                <m:count m:val="2"/>
                                <m:mcJc m:val="center"/>
                              </m:mcPr>
                            </m:mc>
                          </m:mcs>
                          <m:ctrlPr>
                            <a:rPr>
                              <a:latin typeface="Cambria Math" panose="02040503050406030204" pitchFamily="18" charset="0"/>
                            </a:rPr>
                          </m:ctrlPr>
                        </m:mPr>
                        <m:mr>
                          <m:e>
                            <m:sSub>
                              <m:sSubPr>
                                <m:ctrlPr>
                                  <a:rPr>
                                    <a:latin typeface="Cambria Math" panose="02040503050406030204" pitchFamily="18" charset="0"/>
                                  </a:rPr>
                                </m:ctrlPr>
                              </m:sSubPr>
                              <m:e>
                                <m:r>
                                  <a:rPr>
                                    <a:latin typeface="Cambria Math" panose="02040503050406030204" pitchFamily="18" charset="0"/>
                                  </a:rPr>
                                  <m:t>𝐻</m:t>
                                </m:r>
                              </m:e>
                              <m:sub>
                                <m:r>
                                  <a:rPr>
                                    <a:latin typeface="Cambria Math" panose="02040503050406030204" pitchFamily="18" charset="0"/>
                                  </a:rPr>
                                  <m:t>0</m:t>
                                </m:r>
                              </m:sub>
                            </m:sSub>
                            <m:r>
                              <a:rPr>
                                <a:latin typeface="Cambria Math" panose="02040503050406030204" pitchFamily="18" charset="0"/>
                              </a:rPr>
                              <m:t>:</m:t>
                            </m:r>
                          </m:e>
                          <m:e>
                            <m:r>
                              <a:rPr>
                                <a:latin typeface="Cambria Math" panose="02040503050406030204" pitchFamily="18" charset="0"/>
                              </a:rPr>
                              <m:t> </m:t>
                            </m:r>
                            <m:r>
                              <m:rPr>
                                <m:nor/>
                              </m:rPr>
                              <a:rPr/>
                              <m:t> </m:t>
                            </m:r>
                            <m:r>
                              <m:rPr>
                                <m:nor/>
                              </m:rPr>
                              <a:rPr/>
                              <m:t>Groups</m:t>
                            </m:r>
                            <m:r>
                              <m:rPr>
                                <m:nor/>
                              </m:rPr>
                              <a:rPr/>
                              <m:t> 1 </m:t>
                            </m:r>
                            <m:r>
                              <m:rPr>
                                <m:nor/>
                              </m:rPr>
                              <a:rPr/>
                              <m:t>and</m:t>
                            </m:r>
                            <m:r>
                              <m:rPr>
                                <m:nor/>
                              </m:rPr>
                              <a:rPr/>
                              <m:t> 2 </m:t>
                            </m:r>
                            <m:r>
                              <m:rPr>
                                <m:nor/>
                              </m:rPr>
                              <a:rPr/>
                              <m:t>have</m:t>
                            </m:r>
                            <m:r>
                              <m:rPr>
                                <m:nor/>
                              </m:rPr>
                              <a:rPr/>
                              <m:t> </m:t>
                            </m:r>
                            <m:r>
                              <m:rPr>
                                <m:nor/>
                              </m:rPr>
                              <a:rPr/>
                              <m:t>the</m:t>
                            </m:r>
                            <m:r>
                              <m:rPr>
                                <m:nor/>
                              </m:rPr>
                              <a:rPr/>
                              <m:t> </m:t>
                            </m:r>
                            <m:r>
                              <m:rPr>
                                <m:nor/>
                              </m:rPr>
                              <a:rPr/>
                              <m:t>same</m:t>
                            </m:r>
                            <m:r>
                              <m:rPr>
                                <m:nor/>
                              </m:rPr>
                              <a:rPr/>
                              <m:t> </m:t>
                            </m:r>
                            <m:r>
                              <m:rPr>
                                <m:nor/>
                              </m:rPr>
                              <a:rPr/>
                              <m:t>distribution</m:t>
                            </m:r>
                            <m:r>
                              <m:rPr>
                                <m:nor/>
                              </m:rPr>
                              <a:rPr/>
                              <m:t> </m:t>
                            </m:r>
                            <m:r>
                              <m:rPr>
                                <m:nor/>
                              </m:rPr>
                              <a:rPr/>
                              <m:t>for</m:t>
                            </m:r>
                            <m:r>
                              <m:rPr>
                                <m:nor/>
                              </m:rPr>
                              <a:rPr/>
                              <m:t> </m:t>
                            </m:r>
                            <m:r>
                              <m:rPr>
                                <m:nor/>
                              </m:rPr>
                              <a:rPr/>
                              <m:t>variable</m:t>
                            </m:r>
                            <m:r>
                              <m:rPr>
                                <m:nor/>
                              </m:rPr>
                              <a:rPr/>
                              <m:t> </m:t>
                            </m:r>
                            <m:r>
                              <m:rPr>
                                <m:nor/>
                              </m:rPr>
                              <a:rPr/>
                              <m:t>X</m:t>
                            </m:r>
                          </m:e>
                        </m:mr>
                        <m:mr>
                          <m:e>
                            <m:sSub>
                              <m:sSubPr>
                                <m:ctrlPr>
                                  <a:rPr i="1">
                                    <a:latin typeface="Cambria Math" panose="02040503050406030204" pitchFamily="18" charset="0"/>
                                  </a:rPr>
                                </m:ctrlPr>
                              </m:sSubPr>
                              <m:e>
                                <m:r>
                                  <a:rPr>
                                    <a:latin typeface="Cambria Math" panose="02040503050406030204" pitchFamily="18" charset="0"/>
                                  </a:rPr>
                                  <m:t>𝐻</m:t>
                                </m:r>
                              </m:e>
                              <m:sub>
                                <m:r>
                                  <a:rPr>
                                    <a:latin typeface="Cambria Math" panose="02040503050406030204" pitchFamily="18" charset="0"/>
                                  </a:rPr>
                                  <m:t>1</m:t>
                                </m:r>
                              </m:sub>
                            </m:sSub>
                            <m:r>
                              <a:rPr>
                                <a:latin typeface="Cambria Math" panose="02040503050406030204" pitchFamily="18" charset="0"/>
                              </a:rPr>
                              <m:t>:</m:t>
                            </m:r>
                          </m:e>
                          <m:e>
                            <m:r>
                              <a:rPr>
                                <a:latin typeface="Cambria Math" panose="02040503050406030204" pitchFamily="18" charset="0"/>
                              </a:rPr>
                              <m:t> </m:t>
                            </m:r>
                            <m:r>
                              <m:rPr>
                                <m:nor/>
                              </m:rPr>
                              <a:rPr/>
                              <m:t> </m:t>
                            </m:r>
                            <m:r>
                              <m:rPr>
                                <m:nor/>
                              </m:rPr>
                              <a:rPr/>
                              <m:t>Groups</m:t>
                            </m:r>
                            <m:r>
                              <m:rPr>
                                <m:nor/>
                              </m:rPr>
                              <a:rPr/>
                              <m:t> 1 </m:t>
                            </m:r>
                            <m:r>
                              <m:rPr>
                                <m:nor/>
                              </m:rPr>
                              <a:rPr/>
                              <m:t>and</m:t>
                            </m:r>
                            <m:r>
                              <m:rPr>
                                <m:nor/>
                              </m:rPr>
                              <a:rPr/>
                              <m:t> 2 </m:t>
                            </m:r>
                            <m:r>
                              <m:rPr>
                                <m:nor/>
                              </m:rPr>
                              <a:rPr/>
                              <m:t>have</m:t>
                            </m:r>
                            <m:r>
                              <m:rPr>
                                <m:nor/>
                              </m:rPr>
                              <a:rPr/>
                              <m:t> </m:t>
                            </m:r>
                            <m:r>
                              <m:rPr>
                                <m:nor/>
                              </m:rPr>
                              <a:rPr/>
                              <m:t>different</m:t>
                            </m:r>
                            <m:r>
                              <m:rPr>
                                <m:nor/>
                              </m:rPr>
                              <a:rPr/>
                              <m:t> </m:t>
                            </m:r>
                            <m:r>
                              <m:rPr>
                                <m:nor/>
                              </m:rPr>
                              <a:rPr/>
                              <m:t>distributions</m:t>
                            </m:r>
                            <m:r>
                              <m:rPr>
                                <m:nor/>
                              </m:rPr>
                              <a:rPr/>
                              <m:t> </m:t>
                            </m:r>
                            <m:r>
                              <m:rPr>
                                <m:nor/>
                              </m:rPr>
                              <a:rPr/>
                              <m:t>for</m:t>
                            </m:r>
                            <m:r>
                              <m:rPr>
                                <m:nor/>
                              </m:rPr>
                              <a:rPr/>
                              <m:t> </m:t>
                            </m:r>
                            <m:r>
                              <m:rPr>
                                <m:nor/>
                              </m:rPr>
                              <a:rPr/>
                              <m:t>variable</m:t>
                            </m:r>
                            <m:r>
                              <m:rPr>
                                <m:nor/>
                              </m:rPr>
                              <a:rPr/>
                              <m:t> </m:t>
                            </m:r>
                            <m:r>
                              <m:rPr>
                                <m:nor/>
                              </m:rPr>
                              <a:rPr/>
                              <m:t>X</m:t>
                            </m:r>
                          </m:e>
                        </m:mr>
                      </m:m>
                    </m:oMath>
                  </m:oMathPara>
                </a14:m>
                <a:endParaRPr dirty="0"/>
              </a:p>
              <a:p>
                <a:pPr marL="0" lvl="0" indent="0">
                  <a:buNone/>
                </a:pPr>
                <a:r>
                  <a:rPr dirty="0"/>
                  <a:t>* Test statistic</a:t>
                </a:r>
              </a:p>
              <a:p>
                <a:pPr marL="0" lvl="0" indent="0">
                  <a:buNone/>
                </a:pPr>
                <a:r>
                  <a:rPr dirty="0"/>
                  <a:t>This one is a bit technical to derive. The test starts by ranking all observations across both groups together. It then compares the sums of ranks in both groups (accounting for potentially different sample sizes in the 2 groups). Under the null hypothesis of equal distributions, the ranks in each group should on average be similar – i.e. the sums of ranks in the 2 groups should be similar.</a:t>
                </a:r>
              </a:p>
              <a:p>
                <a:pPr marL="0" lvl="0" indent="0">
                  <a:buNone/>
                </a:pPr>
                <a:r>
                  <a:rPr dirty="0"/>
                  <a:t>The p-value needs to be derived using a computer.</a:t>
                </a:r>
              </a:p>
              <a:p>
                <a:pPr marL="0" lvl="0" indent="0">
                  <a:buNone/>
                </a:pPr>
                <a:r>
                  <a:rPr dirty="0"/>
                  <a:t>Example:</a:t>
                </a:r>
              </a:p>
              <a:p>
                <a:pPr lvl="0"/>
                <a:r>
                  <a:rPr dirty="0"/>
                  <a:t>Let’s test the null hypothesis that males and females have equal weight distributions in the study population from the adolescent dataset.</a:t>
                </a:r>
              </a:p>
              <a:p>
                <a:pPr lvl="0" indent="0">
                  <a:buNone/>
                </a:pPr>
                <a:r>
                  <a:rPr dirty="0" err="1">
                    <a:solidFill>
                      <a:srgbClr val="06287E"/>
                    </a:solidFill>
                    <a:latin typeface="Courier"/>
                  </a:rPr>
                  <a:t>wilcox.test</a:t>
                </a:r>
                <a:r>
                  <a:rPr dirty="0">
                    <a:latin typeface="Courier"/>
                  </a:rPr>
                  <a:t>(a104wt </a:t>
                </a:r>
                <a:r>
                  <a:rPr dirty="0">
                    <a:solidFill>
                      <a:srgbClr val="4070A0"/>
                    </a:solidFill>
                    <a:latin typeface="Courier"/>
                  </a:rPr>
                  <a:t>~</a:t>
                </a:r>
                <a:r>
                  <a:rPr dirty="0">
                    <a:latin typeface="Courier"/>
                  </a:rPr>
                  <a:t> a13sex,</a:t>
                </a:r>
                <a:r>
                  <a:rPr dirty="0">
                    <a:solidFill>
                      <a:srgbClr val="7D9029"/>
                    </a:solidFill>
                    <a:latin typeface="Courier"/>
                  </a:rPr>
                  <a:t>data =</a:t>
                </a:r>
                <a:r>
                  <a:rPr dirty="0">
                    <a:latin typeface="Courier"/>
                  </a:rPr>
                  <a:t> df2)</a:t>
                </a:r>
                <a:br>
                  <a:rPr dirty="0"/>
                </a:br>
                <a:r>
                  <a:rPr i="1" dirty="0">
                    <a:solidFill>
                      <a:srgbClr val="BA2121"/>
                    </a:solidFill>
                    <a:latin typeface="Courier"/>
                  </a:rPr>
                  <a:t>## </a:t>
                </a:r>
                <a:br>
                  <a:rPr dirty="0"/>
                </a:br>
                <a:r>
                  <a:rPr i="1" dirty="0">
                    <a:solidFill>
                      <a:srgbClr val="BA2121"/>
                    </a:solidFill>
                    <a:latin typeface="Courier"/>
                  </a:rPr>
                  <a:t>##  Wilcoxon rank sum test with continuity correction</a:t>
                </a:r>
                <a:br>
                  <a:rPr dirty="0"/>
                </a:br>
                <a:r>
                  <a:rPr i="1" dirty="0">
                    <a:solidFill>
                      <a:srgbClr val="BA2121"/>
                    </a:solidFill>
                    <a:latin typeface="Courier"/>
                  </a:rPr>
                  <a:t>## </a:t>
                </a:r>
                <a:br>
                  <a:rPr dirty="0"/>
                </a:br>
                <a:r>
                  <a:rPr i="1" dirty="0">
                    <a:solidFill>
                      <a:srgbClr val="BA2121"/>
                    </a:solidFill>
                    <a:latin typeface="Courier"/>
                  </a:rPr>
                  <a:t>## data:  a104wt by a13sex</a:t>
                </a:r>
                <a:br>
                  <a:rPr dirty="0"/>
                </a:br>
                <a:r>
                  <a:rPr i="1" dirty="0">
                    <a:solidFill>
                      <a:srgbClr val="BA2121"/>
                    </a:solidFill>
                    <a:latin typeface="Courier"/>
                  </a:rPr>
                  <a:t>## W = 9650.5, p-value = 0.1475</a:t>
                </a:r>
                <a:br>
                  <a:rPr dirty="0"/>
                </a:br>
                <a:r>
                  <a:rPr i="1" dirty="0">
                    <a:solidFill>
                      <a:srgbClr val="BA2121"/>
                    </a:solidFill>
                    <a:latin typeface="Courier"/>
                  </a:rPr>
                  <a:t>## alternative hypothesis: true location shift is not equal to 0</a:t>
                </a:r>
              </a:p>
            </p:txBody>
          </p:sp>
        </mc:Choice>
        <mc:Fallback>
          <p:sp>
            <p:nvSpPr>
              <p:cNvPr id="3" name="Content Placeholder 2">
                <a:extLst>
                  <a:ext uri="{FF2B5EF4-FFF2-40B4-BE49-F238E27FC236}">
                    <a16:creationId xmlns:a16="http://schemas.microsoft.com/office/drawing/2014/main" id="{288BC91F-1C76-43AE-8B2A-956D48B768BE}"/>
                  </a:ext>
                </a:extLst>
              </p:cNvPr>
              <p:cNvSpPr>
                <a:spLocks noGrp="1" noRot="1" noChangeAspect="1" noMove="1" noResize="1" noEditPoints="1" noAdjustHandles="1" noChangeArrowheads="1" noChangeShapeType="1" noTextEdit="1"/>
              </p:cNvSpPr>
              <p:nvPr>
                <p:ph idx="1"/>
              </p:nvPr>
            </p:nvSpPr>
            <p:spPr>
              <a:xfrm>
                <a:off x="838200" y="1782759"/>
                <a:ext cx="10515600" cy="4667250"/>
              </a:xfrm>
              <a:blipFill>
                <a:blip r:embed="rId2"/>
                <a:stretch>
                  <a:fillRect l="-406" t="-1828"/>
                </a:stretch>
              </a:blipFill>
            </p:spPr>
            <p:txBody>
              <a:bodyPr/>
              <a:lstStyle/>
              <a:p>
                <a:r>
                  <a:rPr lang="en-US">
                    <a:noFill/>
                  </a:rPr>
                  <a:t> </a:t>
                </a:r>
              </a:p>
            </p:txBody>
          </p:sp>
        </mc:Fallback>
      </mc:AlternateContent>
      <p:sp>
        <p:nvSpPr>
          <p:cNvPr id="6" name="Slide Number Placeholder 5">
            <a:extLst>
              <a:ext uri="{FF2B5EF4-FFF2-40B4-BE49-F238E27FC236}">
                <a16:creationId xmlns:a16="http://schemas.microsoft.com/office/drawing/2014/main" id="{C03F998A-2A5E-471F-9FEB-2559B0A7F93D}"/>
              </a:ext>
            </a:extLst>
          </p:cNvPr>
          <p:cNvSpPr>
            <a:spLocks noGrp="1"/>
          </p:cNvSpPr>
          <p:nvPr>
            <p:ph type="sldNum" sz="quarter" idx="12"/>
          </p:nvPr>
        </p:nvSpPr>
        <p:spPr/>
        <p:txBody>
          <a:bodyPr/>
          <a:lstStyle/>
          <a:p>
            <a:fld id="{E1C5CB42-CF14-4293-8971-6DCD1AAE8BE7}" type="slidenum">
              <a:rPr lang="en-GB" smtClean="0"/>
              <a:t>78</a:t>
            </a:fld>
            <a:endParaRPr lang="en-GB"/>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marL="0" lvl="0" indent="0">
              <a:buNone/>
            </a:pPr>
            <a:r>
              <a:t>Wilcoxon paired signed rank test</a:t>
            </a:r>
          </a:p>
        </p:txBody>
      </p:sp>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a:xfrm>
            <a:off x="838200" y="1782759"/>
            <a:ext cx="10515600" cy="4667250"/>
          </a:xfrm>
        </p:spPr>
        <p:txBody>
          <a:bodyPr>
            <a:normAutofit fontScale="92500" lnSpcReduction="20000"/>
          </a:bodyPr>
          <a:lstStyle/>
          <a:p>
            <a:pPr marL="0" lvl="0" indent="0">
              <a:buNone/>
            </a:pPr>
            <a:r>
              <a:rPr dirty="0"/>
              <a:t>For paired data, we reduce the problem to a one-sample test by computing the pairwise differences and testing the null hypothesis that the median differences is 0.</a:t>
            </a:r>
          </a:p>
          <a:p>
            <a:pPr marL="0" lvl="0" indent="0">
              <a:buNone/>
            </a:pPr>
            <a:r>
              <a:rPr dirty="0"/>
              <a:t>Example:</a:t>
            </a:r>
          </a:p>
          <a:p>
            <a:pPr lvl="0"/>
            <a:r>
              <a:rPr dirty="0"/>
              <a:t>Test the hypothesis that the CD4 counts are the same at the two time points</a:t>
            </a:r>
          </a:p>
          <a:p>
            <a:pPr lvl="0" indent="0">
              <a:buNone/>
            </a:pPr>
            <a:r>
              <a:rPr dirty="0" err="1">
                <a:solidFill>
                  <a:srgbClr val="06287E"/>
                </a:solidFill>
                <a:latin typeface="Courier"/>
              </a:rPr>
              <a:t>wilcox.test</a:t>
            </a:r>
            <a:r>
              <a:rPr dirty="0">
                <a:latin typeface="Courier"/>
              </a:rPr>
              <a:t>(df1</a:t>
            </a:r>
            <a:r>
              <a:rPr dirty="0">
                <a:solidFill>
                  <a:srgbClr val="4070A0"/>
                </a:solidFill>
                <a:latin typeface="Courier"/>
              </a:rPr>
              <a:t>$</a:t>
            </a:r>
            <a:r>
              <a:rPr dirty="0">
                <a:latin typeface="Courier"/>
              </a:rPr>
              <a:t>cd41.sk,df1</a:t>
            </a:r>
            <a:r>
              <a:rPr dirty="0">
                <a:solidFill>
                  <a:srgbClr val="4070A0"/>
                </a:solidFill>
                <a:latin typeface="Courier"/>
              </a:rPr>
              <a:t>$</a:t>
            </a:r>
            <a:r>
              <a:rPr dirty="0">
                <a:latin typeface="Courier"/>
              </a:rPr>
              <a:t>cd42.sk,</a:t>
            </a:r>
            <a:r>
              <a:rPr dirty="0">
                <a:solidFill>
                  <a:srgbClr val="7D9029"/>
                </a:solidFill>
                <a:latin typeface="Courier"/>
              </a:rPr>
              <a:t>paired=</a:t>
            </a:r>
            <a:r>
              <a:rPr dirty="0">
                <a:solidFill>
                  <a:srgbClr val="880000"/>
                </a:solidFill>
                <a:latin typeface="Courier"/>
              </a:rPr>
              <a:t>TRUE</a:t>
            </a:r>
            <a:r>
              <a:rPr dirty="0">
                <a:latin typeface="Courier"/>
              </a:rPr>
              <a:t>)</a:t>
            </a:r>
            <a:br>
              <a:rPr dirty="0"/>
            </a:br>
            <a:r>
              <a:rPr i="1" dirty="0">
                <a:solidFill>
                  <a:srgbClr val="BA2121"/>
                </a:solidFill>
                <a:latin typeface="Courier"/>
              </a:rPr>
              <a:t>## </a:t>
            </a:r>
            <a:br>
              <a:rPr dirty="0"/>
            </a:br>
            <a:r>
              <a:rPr i="1" dirty="0">
                <a:solidFill>
                  <a:srgbClr val="BA2121"/>
                </a:solidFill>
                <a:latin typeface="Courier"/>
              </a:rPr>
              <a:t>##  Wilcoxon signed rank test with continuity correction</a:t>
            </a:r>
            <a:br>
              <a:rPr dirty="0"/>
            </a:br>
            <a:r>
              <a:rPr i="1" dirty="0">
                <a:solidFill>
                  <a:srgbClr val="BA2121"/>
                </a:solidFill>
                <a:latin typeface="Courier"/>
              </a:rPr>
              <a:t>## </a:t>
            </a:r>
            <a:br>
              <a:rPr dirty="0"/>
            </a:br>
            <a:r>
              <a:rPr i="1" dirty="0">
                <a:solidFill>
                  <a:srgbClr val="BA2121"/>
                </a:solidFill>
                <a:latin typeface="Courier"/>
              </a:rPr>
              <a:t>## data:  df1$cd41.sk and df1$cd42.sk</a:t>
            </a:r>
            <a:br>
              <a:rPr dirty="0"/>
            </a:br>
            <a:r>
              <a:rPr i="1" dirty="0">
                <a:solidFill>
                  <a:srgbClr val="BA2121"/>
                </a:solidFill>
                <a:latin typeface="Courier"/>
              </a:rPr>
              <a:t>## V = 782047, p-value &lt; 2.2e-16</a:t>
            </a:r>
            <a:br>
              <a:rPr dirty="0"/>
            </a:br>
            <a:r>
              <a:rPr i="1" dirty="0">
                <a:solidFill>
                  <a:srgbClr val="BA2121"/>
                </a:solidFill>
                <a:latin typeface="Courier"/>
              </a:rPr>
              <a:t>## alternative hypothesis: true location shift is not equal to 0</a:t>
            </a:r>
            <a:br>
              <a:rPr dirty="0"/>
            </a:br>
            <a:r>
              <a:rPr dirty="0" err="1">
                <a:solidFill>
                  <a:srgbClr val="06287E"/>
                </a:solidFill>
                <a:latin typeface="Courier"/>
              </a:rPr>
              <a:t>wilcox.test</a:t>
            </a:r>
            <a:r>
              <a:rPr dirty="0">
                <a:latin typeface="Courier"/>
              </a:rPr>
              <a:t>(df1</a:t>
            </a:r>
            <a:r>
              <a:rPr dirty="0">
                <a:solidFill>
                  <a:srgbClr val="4070A0"/>
                </a:solidFill>
                <a:latin typeface="Courier"/>
              </a:rPr>
              <a:t>$</a:t>
            </a:r>
            <a:r>
              <a:rPr dirty="0">
                <a:latin typeface="Courier"/>
              </a:rPr>
              <a:t>cd41.sk</a:t>
            </a:r>
            <a:r>
              <a:rPr dirty="0">
                <a:solidFill>
                  <a:srgbClr val="4070A0"/>
                </a:solidFill>
                <a:latin typeface="Courier"/>
              </a:rPr>
              <a:t>-</a:t>
            </a:r>
            <a:r>
              <a:rPr dirty="0">
                <a:latin typeface="Courier"/>
              </a:rPr>
              <a:t>df1</a:t>
            </a:r>
            <a:r>
              <a:rPr dirty="0">
                <a:solidFill>
                  <a:srgbClr val="4070A0"/>
                </a:solidFill>
                <a:latin typeface="Courier"/>
              </a:rPr>
              <a:t>$</a:t>
            </a:r>
            <a:r>
              <a:rPr dirty="0">
                <a:latin typeface="Courier"/>
              </a:rPr>
              <a:t>cd42.sk) </a:t>
            </a:r>
            <a:r>
              <a:rPr i="1" dirty="0">
                <a:solidFill>
                  <a:srgbClr val="60A0B0"/>
                </a:solidFill>
                <a:latin typeface="Courier"/>
              </a:rPr>
              <a:t># equivalent</a:t>
            </a:r>
            <a:br>
              <a:rPr dirty="0"/>
            </a:br>
            <a:r>
              <a:rPr i="1" dirty="0">
                <a:solidFill>
                  <a:srgbClr val="BA2121"/>
                </a:solidFill>
                <a:latin typeface="Courier"/>
              </a:rPr>
              <a:t>## </a:t>
            </a:r>
            <a:br>
              <a:rPr dirty="0"/>
            </a:br>
            <a:r>
              <a:rPr i="1" dirty="0">
                <a:solidFill>
                  <a:srgbClr val="BA2121"/>
                </a:solidFill>
                <a:latin typeface="Courier"/>
              </a:rPr>
              <a:t>##  Wilcoxon signed rank test with continuity correction</a:t>
            </a:r>
            <a:br>
              <a:rPr dirty="0"/>
            </a:br>
            <a:r>
              <a:rPr i="1" dirty="0">
                <a:solidFill>
                  <a:srgbClr val="BA2121"/>
                </a:solidFill>
                <a:latin typeface="Courier"/>
              </a:rPr>
              <a:t>## </a:t>
            </a:r>
            <a:br>
              <a:rPr dirty="0"/>
            </a:br>
            <a:r>
              <a:rPr i="1" dirty="0">
                <a:solidFill>
                  <a:srgbClr val="BA2121"/>
                </a:solidFill>
                <a:latin typeface="Courier"/>
              </a:rPr>
              <a:t>## data:  df1$cd41.sk - df1$cd42.sk</a:t>
            </a:r>
            <a:br>
              <a:rPr dirty="0"/>
            </a:br>
            <a:r>
              <a:rPr i="1" dirty="0">
                <a:solidFill>
                  <a:srgbClr val="BA2121"/>
                </a:solidFill>
                <a:latin typeface="Courier"/>
              </a:rPr>
              <a:t>## V = 782047, p-value &lt; 2.2e-16</a:t>
            </a:r>
            <a:br>
              <a:rPr dirty="0"/>
            </a:br>
            <a:r>
              <a:rPr i="1" dirty="0">
                <a:solidFill>
                  <a:srgbClr val="BA2121"/>
                </a:solidFill>
                <a:latin typeface="Courier"/>
              </a:rPr>
              <a:t>## alternative hypothesis: true location is not equal to 0</a:t>
            </a:r>
          </a:p>
        </p:txBody>
      </p:sp>
      <p:sp>
        <p:nvSpPr>
          <p:cNvPr id="6" name="Slide Number Placeholder 5">
            <a:extLst>
              <a:ext uri="{FF2B5EF4-FFF2-40B4-BE49-F238E27FC236}">
                <a16:creationId xmlns:a16="http://schemas.microsoft.com/office/drawing/2014/main" id="{C03F998A-2A5E-471F-9FEB-2559B0A7F93D}"/>
              </a:ext>
            </a:extLst>
          </p:cNvPr>
          <p:cNvSpPr>
            <a:spLocks noGrp="1"/>
          </p:cNvSpPr>
          <p:nvPr>
            <p:ph type="sldNum" sz="quarter" idx="12"/>
          </p:nvPr>
        </p:nvSpPr>
        <p:spPr/>
        <p:txBody>
          <a:bodyPr/>
          <a:lstStyle/>
          <a:p>
            <a:fld id="{E1C5CB42-CF14-4293-8971-6DCD1AAE8BE7}" type="slidenum">
              <a:rPr lang="en-GB" smtClean="0"/>
              <a:t>79</a:t>
            </a:fld>
            <a:endParaRPr lang="en-GB"/>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marL="0" lvl="0" indent="0">
              <a:buNone/>
            </a:pPr>
            <a:r>
              <a:t>Kruskal-Wallis test – more than 2 groups</a:t>
            </a:r>
          </a:p>
        </p:txBody>
      </p:sp>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p:txBody>
          <a:bodyPr/>
          <a:lstStyle/>
          <a:p>
            <a:pPr lvl="0"/>
            <a:r>
              <a:t>Analogous to one way ANOVA.</a:t>
            </a:r>
          </a:p>
          <a:p>
            <a:pPr marL="0" lvl="0" indent="0">
              <a:buNone/>
            </a:pPr>
            <a14:m xmlns:a14="http://schemas.microsoft.com/office/drawing/2010/main">
              <m:oMathPara xmlns:m="http://schemas.openxmlformats.org/officeDocument/2006/math">
                <m:oMathParaPr>
                  <m:jc m:val="center"/>
                </m:oMathParaPr>
                <m:oMath xmlns:m="http://schemas.openxmlformats.org/officeDocument/2006/math">
                  <m:r>
                    <a:rPr>
                      <a:latin typeface="Cambria Math" panose="02040503050406030204" pitchFamily="18" charset="0"/>
                    </a:rPr>
                    <m:t> </m:t>
                  </m:r>
                </m:oMath>
              </m:oMathPara>
            </a14:m>
            <a:endParaRPr/>
          </a:p>
          <a:p>
            <a:pPr lvl="0"/>
            <a:r>
              <a:t>Like the Wilcoxon signed rank and rank-sum test, this test first ranks all observations across all groups. It then compares the between groups rank differences to the within group rank differences.</a:t>
            </a:r>
          </a:p>
          <a:p>
            <a:pPr marL="0" lvl="0" indent="0">
              <a:buNone/>
            </a:pPr>
            <a14:m xmlns:a14="http://schemas.microsoft.com/office/drawing/2010/main">
              <m:oMathPara xmlns:m="http://schemas.openxmlformats.org/officeDocument/2006/math">
                <m:oMathParaPr>
                  <m:jc m:val="center"/>
                </m:oMathParaPr>
                <m:oMath xmlns:m="http://schemas.openxmlformats.org/officeDocument/2006/math">
                  <m:r>
                    <a:rPr>
                      <a:latin typeface="Cambria Math" panose="02040503050406030204" pitchFamily="18" charset="0"/>
                    </a:rPr>
                    <m:t> </m:t>
                  </m:r>
                </m:oMath>
              </m:oMathPara>
            </a14:m>
            <a:endParaRPr/>
          </a:p>
          <a:p>
            <a:pPr lvl="0"/>
            <a:r>
              <a:t>In R: </a:t>
            </a:r>
            <a:r>
              <a:rPr>
                <a:latin typeface="Courier"/>
              </a:rPr>
              <a:t>kruskal.test()</a:t>
            </a:r>
          </a:p>
        </p:txBody>
      </p:sp>
      <p:sp>
        <p:nvSpPr>
          <p:cNvPr id="6" name="Slide Number Placeholder 5">
            <a:extLst>
              <a:ext uri="{FF2B5EF4-FFF2-40B4-BE49-F238E27FC236}">
                <a16:creationId xmlns:a16="http://schemas.microsoft.com/office/drawing/2014/main" id="{C03F998A-2A5E-471F-9FEB-2559B0A7F93D}"/>
              </a:ext>
            </a:extLst>
          </p:cNvPr>
          <p:cNvSpPr>
            <a:spLocks noGrp="1"/>
          </p:cNvSpPr>
          <p:nvPr>
            <p:ph type="sldNum" sz="quarter" idx="12"/>
          </p:nvPr>
        </p:nvSpPr>
        <p:spPr/>
        <p:txBody>
          <a:bodyPr/>
          <a:lstStyle/>
          <a:p>
            <a:fld id="{E1C5CB42-CF14-4293-8971-6DCD1AAE8BE7}" type="slidenum">
              <a:rPr lang="en-GB" smtClean="0"/>
              <a:t>80</a:t>
            </a:fld>
            <a:endParaRPr lang="en-GB"/>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marL="0" lvl="0" indent="0">
              <a:buNone/>
            </a:pPr>
            <a:r>
              <a:t>Kruskal-Wallis test – more than 2 groups</a:t>
            </a:r>
          </a:p>
        </p:txBody>
      </p:sp>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p:txBody>
          <a:bodyPr/>
          <a:lstStyle/>
          <a:p>
            <a:pPr marL="0" lvl="0" indent="0">
              <a:buNone/>
            </a:pPr>
            <a:r>
              <a:t>Example:</a:t>
            </a:r>
          </a:p>
          <a:p>
            <a:pPr marL="0" lvl="0" indent="0">
              <a:buNone/>
            </a:pPr>
            <a:r>
              <a:t>It is claimed that differences exist in the mean weight between the different conditions (excellent, fair, good and poor)</a:t>
            </a:r>
          </a:p>
          <a:p>
            <a:pPr lvl="0" indent="0">
              <a:buNone/>
            </a:pPr>
            <a:r>
              <a:rPr>
                <a:solidFill>
                  <a:srgbClr val="06287E"/>
                </a:solidFill>
                <a:latin typeface="Courier"/>
              </a:rPr>
              <a:t>kruskal.test</a:t>
            </a:r>
            <a:r>
              <a:rPr>
                <a:latin typeface="Courier"/>
              </a:rPr>
              <a:t>(a104wt </a:t>
            </a:r>
            <a:r>
              <a:rPr>
                <a:solidFill>
                  <a:srgbClr val="4070A0"/>
                </a:solidFill>
                <a:latin typeface="Courier"/>
              </a:rPr>
              <a:t>~</a:t>
            </a:r>
            <a:r>
              <a:rPr>
                <a:latin typeface="Courier"/>
              </a:rPr>
              <a:t> a63well,</a:t>
            </a:r>
            <a:r>
              <a:rPr>
                <a:solidFill>
                  <a:srgbClr val="7D9029"/>
                </a:solidFill>
                <a:latin typeface="Courier"/>
              </a:rPr>
              <a:t>data =</a:t>
            </a:r>
            <a:r>
              <a:rPr>
                <a:latin typeface="Courier"/>
              </a:rPr>
              <a:t> df2)</a:t>
            </a:r>
            <a:br/>
            <a:r>
              <a:rPr i="1">
                <a:solidFill>
                  <a:srgbClr val="BA2121"/>
                </a:solidFill>
                <a:latin typeface="Courier"/>
              </a:rPr>
              <a:t>## </a:t>
            </a:r>
            <a:br/>
            <a:r>
              <a:rPr i="1">
                <a:solidFill>
                  <a:srgbClr val="BA2121"/>
                </a:solidFill>
                <a:latin typeface="Courier"/>
              </a:rPr>
              <a:t>##  Kruskal-Wallis rank sum test</a:t>
            </a:r>
            <a:br/>
            <a:r>
              <a:rPr i="1">
                <a:solidFill>
                  <a:srgbClr val="BA2121"/>
                </a:solidFill>
                <a:latin typeface="Courier"/>
              </a:rPr>
              <a:t>## </a:t>
            </a:r>
            <a:br/>
            <a:r>
              <a:rPr i="1">
                <a:solidFill>
                  <a:srgbClr val="BA2121"/>
                </a:solidFill>
                <a:latin typeface="Courier"/>
              </a:rPr>
              <a:t>## data:  a104wt by a63well</a:t>
            </a:r>
            <a:br/>
            <a:r>
              <a:rPr i="1">
                <a:solidFill>
                  <a:srgbClr val="BA2121"/>
                </a:solidFill>
                <a:latin typeface="Courier"/>
              </a:rPr>
              <a:t>## Kruskal-Wallis chi-squared = 70.206, df = 3, p-value = 3.855e-15</a:t>
            </a:r>
          </a:p>
        </p:txBody>
      </p:sp>
      <p:sp>
        <p:nvSpPr>
          <p:cNvPr id="6" name="Slide Number Placeholder 5">
            <a:extLst>
              <a:ext uri="{FF2B5EF4-FFF2-40B4-BE49-F238E27FC236}">
                <a16:creationId xmlns:a16="http://schemas.microsoft.com/office/drawing/2014/main" id="{C03F998A-2A5E-471F-9FEB-2559B0A7F93D}"/>
              </a:ext>
            </a:extLst>
          </p:cNvPr>
          <p:cNvSpPr>
            <a:spLocks noGrp="1"/>
          </p:cNvSpPr>
          <p:nvPr>
            <p:ph type="sldNum" sz="quarter" idx="12"/>
          </p:nvPr>
        </p:nvSpPr>
        <p:spPr/>
        <p:txBody>
          <a:bodyPr/>
          <a:lstStyle/>
          <a:p>
            <a:fld id="{E1C5CB42-CF14-4293-8971-6DCD1AAE8BE7}" type="slidenum">
              <a:rPr lang="en-GB" smtClean="0"/>
              <a:t>81</a:t>
            </a:fld>
            <a:endParaRPr lang="en-GB"/>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marL="0" lvl="0" indent="0">
              <a:buNone/>
            </a:pPr>
            <a:r>
              <a:t>Fisher’s exact test</a:t>
            </a:r>
          </a:p>
        </p:txBody>
      </p:sp>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p:txBody>
          <a:bodyPr/>
          <a:lstStyle/>
          <a:p>
            <a:pPr marL="0" lvl="0" indent="0">
              <a:buNone/>
            </a:pPr>
            <a:r>
              <a:t>When we compare categorical variables, we saw that we can use the chi-square test which relies on approximating the squared differences between observed and expected counts by chi-squared distributions. For this approximation, all expected cell counts need to be large enough (typically, the minimum expected cell count should be 5, 6 or larger).</a:t>
            </a:r>
          </a:p>
          <a:p>
            <a:pPr marL="0" lvl="0" indent="0">
              <a:buNone/>
            </a:pPr>
            <a:r>
              <a:t>Fisher’s test is computationally intensive: for a given null hypothesis, it derives all cross-tabulation tables that are as extreme or more extreme than the observed table.</a:t>
            </a:r>
          </a:p>
          <a:p>
            <a:pPr marL="0" lvl="0" indent="0">
              <a:buNone/>
            </a:pPr>
            <a:r>
              <a:t>For example we can revisit the test we did when we checked if there is an association between stunting and mortality in the adolescent dataset:</a:t>
            </a:r>
          </a:p>
        </p:txBody>
      </p:sp>
      <p:sp>
        <p:nvSpPr>
          <p:cNvPr id="6" name="Slide Number Placeholder 5">
            <a:extLst>
              <a:ext uri="{FF2B5EF4-FFF2-40B4-BE49-F238E27FC236}">
                <a16:creationId xmlns:a16="http://schemas.microsoft.com/office/drawing/2014/main" id="{C03F998A-2A5E-471F-9FEB-2559B0A7F93D}"/>
              </a:ext>
            </a:extLst>
          </p:cNvPr>
          <p:cNvSpPr>
            <a:spLocks noGrp="1"/>
          </p:cNvSpPr>
          <p:nvPr>
            <p:ph type="sldNum" sz="quarter" idx="12"/>
          </p:nvPr>
        </p:nvSpPr>
        <p:spPr/>
        <p:txBody>
          <a:bodyPr/>
          <a:lstStyle/>
          <a:p>
            <a:fld id="{E1C5CB42-CF14-4293-8971-6DCD1AAE8BE7}" type="slidenum">
              <a:rPr lang="en-GB" smtClean="0"/>
              <a:t>82</a:t>
            </a:fld>
            <a:endParaRPr lang="en-GB"/>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marL="0" lvl="0" indent="0">
              <a:buNone/>
            </a:pPr>
            <a:r>
              <a:t>Fisher’s exact test</a:t>
            </a:r>
          </a:p>
        </p:txBody>
      </p:sp>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p:txBody>
          <a:bodyPr/>
          <a:lstStyle/>
          <a:p>
            <a:pPr lvl="0" indent="0">
              <a:buNone/>
            </a:pPr>
            <a:r>
              <a:rPr>
                <a:solidFill>
                  <a:srgbClr val="06287E"/>
                </a:solidFill>
                <a:latin typeface="Courier"/>
              </a:rPr>
              <a:t>fisher.test</a:t>
            </a:r>
            <a:r>
              <a:rPr>
                <a:latin typeface="Courier"/>
              </a:rPr>
              <a:t>(</a:t>
            </a:r>
            <a:r>
              <a:rPr>
                <a:solidFill>
                  <a:srgbClr val="06287E"/>
                </a:solidFill>
                <a:latin typeface="Courier"/>
              </a:rPr>
              <a:t>table</a:t>
            </a:r>
            <a:r>
              <a:rPr>
                <a:latin typeface="Courier"/>
              </a:rPr>
              <a:t>(df2</a:t>
            </a:r>
            <a:r>
              <a:rPr>
                <a:solidFill>
                  <a:srgbClr val="4070A0"/>
                </a:solidFill>
                <a:latin typeface="Courier"/>
              </a:rPr>
              <a:t>$</a:t>
            </a:r>
            <a:r>
              <a:rPr>
                <a:latin typeface="Courier"/>
              </a:rPr>
              <a:t>stunt,df2</a:t>
            </a:r>
            <a:r>
              <a:rPr>
                <a:solidFill>
                  <a:srgbClr val="4070A0"/>
                </a:solidFill>
                <a:latin typeface="Courier"/>
              </a:rPr>
              <a:t>$</a:t>
            </a:r>
            <a:r>
              <a:rPr>
                <a:latin typeface="Courier"/>
              </a:rPr>
              <a:t>died))</a:t>
            </a:r>
            <a:br/>
            <a:r>
              <a:rPr i="1">
                <a:solidFill>
                  <a:srgbClr val="BA2121"/>
                </a:solidFill>
                <a:latin typeface="Courier"/>
              </a:rPr>
              <a:t>## </a:t>
            </a:r>
            <a:br/>
            <a:r>
              <a:rPr i="1">
                <a:solidFill>
                  <a:srgbClr val="BA2121"/>
                </a:solidFill>
                <a:latin typeface="Courier"/>
              </a:rPr>
              <a:t>##  Fisher's Exact Test for Count Data</a:t>
            </a:r>
            <a:br/>
            <a:r>
              <a:rPr i="1">
                <a:solidFill>
                  <a:srgbClr val="BA2121"/>
                </a:solidFill>
                <a:latin typeface="Courier"/>
              </a:rPr>
              <a:t>## </a:t>
            </a:r>
            <a:br/>
            <a:r>
              <a:rPr i="1">
                <a:solidFill>
                  <a:srgbClr val="BA2121"/>
                </a:solidFill>
                <a:latin typeface="Courier"/>
              </a:rPr>
              <a:t>## data:  table(df2$stunt, df2$died)</a:t>
            </a:r>
            <a:br/>
            <a:r>
              <a:rPr i="1">
                <a:solidFill>
                  <a:srgbClr val="BA2121"/>
                </a:solidFill>
                <a:latin typeface="Courier"/>
              </a:rPr>
              <a:t>## p-value = 0.006215</a:t>
            </a:r>
            <a:br/>
            <a:r>
              <a:rPr i="1">
                <a:solidFill>
                  <a:srgbClr val="BA2121"/>
                </a:solidFill>
                <a:latin typeface="Courier"/>
              </a:rPr>
              <a:t>## alternative hypothesis: true odds ratio is not equal to 1</a:t>
            </a:r>
            <a:br/>
            <a:r>
              <a:rPr i="1">
                <a:solidFill>
                  <a:srgbClr val="BA2121"/>
                </a:solidFill>
                <a:latin typeface="Courier"/>
              </a:rPr>
              <a:t>## 95 percent confidence interval:</a:t>
            </a:r>
            <a:br/>
            <a:r>
              <a:rPr i="1">
                <a:solidFill>
                  <a:srgbClr val="BA2121"/>
                </a:solidFill>
                <a:latin typeface="Courier"/>
              </a:rPr>
              <a:t>##  1.296104 7.696201</a:t>
            </a:r>
            <a:br/>
            <a:r>
              <a:rPr i="1">
                <a:solidFill>
                  <a:srgbClr val="BA2121"/>
                </a:solidFill>
                <a:latin typeface="Courier"/>
              </a:rPr>
              <a:t>## sample estimates:</a:t>
            </a:r>
            <a:br/>
            <a:r>
              <a:rPr i="1">
                <a:solidFill>
                  <a:srgbClr val="BA2121"/>
                </a:solidFill>
                <a:latin typeface="Courier"/>
              </a:rPr>
              <a:t>## odds ratio </a:t>
            </a:r>
            <a:br/>
            <a:r>
              <a:rPr i="1">
                <a:solidFill>
                  <a:srgbClr val="BA2121"/>
                </a:solidFill>
                <a:latin typeface="Courier"/>
              </a:rPr>
              <a:t>##   3.096198</a:t>
            </a:r>
          </a:p>
        </p:txBody>
      </p:sp>
      <p:sp>
        <p:nvSpPr>
          <p:cNvPr id="6" name="Slide Number Placeholder 5">
            <a:extLst>
              <a:ext uri="{FF2B5EF4-FFF2-40B4-BE49-F238E27FC236}">
                <a16:creationId xmlns:a16="http://schemas.microsoft.com/office/drawing/2014/main" id="{C03F998A-2A5E-471F-9FEB-2559B0A7F93D}"/>
              </a:ext>
            </a:extLst>
          </p:cNvPr>
          <p:cNvSpPr>
            <a:spLocks noGrp="1"/>
          </p:cNvSpPr>
          <p:nvPr>
            <p:ph type="sldNum" sz="quarter" idx="12"/>
          </p:nvPr>
        </p:nvSpPr>
        <p:spPr/>
        <p:txBody>
          <a:bodyPr/>
          <a:lstStyle/>
          <a:p>
            <a:fld id="{E1C5CB42-CF14-4293-8971-6DCD1AAE8BE7}" type="slidenum">
              <a:rPr lang="en-GB" smtClean="0"/>
              <a:t>83</a:t>
            </a:fld>
            <a:endParaRPr lang="en-GB"/>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marL="0" lvl="0" indent="0">
              <a:buNone/>
            </a:pPr>
            <a:r>
              <a:t>Fisher’s exact test</a:t>
            </a:r>
          </a:p>
        </p:txBody>
      </p:sp>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p:txBody>
          <a:bodyPr/>
          <a:lstStyle/>
          <a:p>
            <a:pPr marL="0" lvl="0" indent="0">
              <a:buNone/>
            </a:pPr>
            <a:r>
              <a:t>However, when we revisit the test for the null hypothesis of no association between socio-economic status and hospital in the Blantyre TB dataset, we run out of memory for Fisher’s exact test – the table is too large with too many alternatives.</a:t>
            </a:r>
          </a:p>
          <a:p>
            <a:pPr lvl="0" indent="0">
              <a:buNone/>
            </a:pPr>
            <a:r>
              <a:rPr>
                <a:solidFill>
                  <a:srgbClr val="06287E"/>
                </a:solidFill>
                <a:latin typeface="Courier"/>
              </a:rPr>
              <a:t>try</a:t>
            </a:r>
            <a:r>
              <a:rPr>
                <a:latin typeface="Courier"/>
              </a:rPr>
              <a:t>(</a:t>
            </a:r>
            <a:br/>
            <a:r>
              <a:rPr>
                <a:latin typeface="Courier"/>
              </a:rPr>
              <a:t>  </a:t>
            </a:r>
            <a:r>
              <a:rPr>
                <a:solidFill>
                  <a:srgbClr val="06287E"/>
                </a:solidFill>
                <a:latin typeface="Courier"/>
              </a:rPr>
              <a:t>fisher.test</a:t>
            </a:r>
            <a:r>
              <a:rPr>
                <a:latin typeface="Courier"/>
              </a:rPr>
              <a:t>(</a:t>
            </a:r>
            <a:r>
              <a:rPr>
                <a:solidFill>
                  <a:srgbClr val="06287E"/>
                </a:solidFill>
                <a:latin typeface="Courier"/>
              </a:rPr>
              <a:t>table</a:t>
            </a:r>
            <a:r>
              <a:rPr>
                <a:latin typeface="Courier"/>
              </a:rPr>
              <a:t>(df1</a:t>
            </a:r>
            <a:r>
              <a:rPr>
                <a:solidFill>
                  <a:srgbClr val="4070A0"/>
                </a:solidFill>
                <a:latin typeface="Courier"/>
              </a:rPr>
              <a:t>$</a:t>
            </a:r>
            <a:r>
              <a:rPr>
                <a:latin typeface="Courier"/>
              </a:rPr>
              <a:t>ses,df1</a:t>
            </a:r>
            <a:r>
              <a:rPr>
                <a:solidFill>
                  <a:srgbClr val="4070A0"/>
                </a:solidFill>
                <a:latin typeface="Courier"/>
              </a:rPr>
              <a:t>$</a:t>
            </a:r>
            <a:r>
              <a:rPr>
                <a:latin typeface="Courier"/>
              </a:rPr>
              <a:t>hosp))</a:t>
            </a:r>
            <a:br/>
            <a:r>
              <a:rPr>
                <a:latin typeface="Courier"/>
              </a:rPr>
              <a:t>  )</a:t>
            </a:r>
            <a:br/>
            <a:r>
              <a:rPr i="1">
                <a:solidFill>
                  <a:srgbClr val="BA2121"/>
                </a:solidFill>
                <a:latin typeface="Courier"/>
              </a:rPr>
              <a:t>## Error in fisher.test(table(df1$ses, df1$hosp)) : FEXACT error 5.</a:t>
            </a:r>
            <a:br/>
            <a:r>
              <a:rPr i="1">
                <a:solidFill>
                  <a:srgbClr val="BA2121"/>
                </a:solidFill>
                <a:latin typeface="Courier"/>
              </a:rPr>
              <a:t>## The hash table key cannot be computed because the largest key</a:t>
            </a:r>
            <a:br/>
            <a:r>
              <a:rPr i="1">
                <a:solidFill>
                  <a:srgbClr val="BA2121"/>
                </a:solidFill>
                <a:latin typeface="Courier"/>
              </a:rPr>
              <a:t>## is larger than the largest representable int.</a:t>
            </a:r>
            <a:br/>
            <a:r>
              <a:rPr i="1">
                <a:solidFill>
                  <a:srgbClr val="BA2121"/>
                </a:solidFill>
                <a:latin typeface="Courier"/>
              </a:rPr>
              <a:t>## The algorithm cannot proceed.</a:t>
            </a:r>
            <a:br/>
            <a:r>
              <a:rPr i="1">
                <a:solidFill>
                  <a:srgbClr val="BA2121"/>
                </a:solidFill>
                <a:latin typeface="Courier"/>
              </a:rPr>
              <a:t>## Reduce the workspace, consider using 'simulate.p.value=TRUE' or another algorithm.</a:t>
            </a:r>
          </a:p>
        </p:txBody>
      </p:sp>
      <p:sp>
        <p:nvSpPr>
          <p:cNvPr id="6" name="Slide Number Placeholder 5">
            <a:extLst>
              <a:ext uri="{FF2B5EF4-FFF2-40B4-BE49-F238E27FC236}">
                <a16:creationId xmlns:a16="http://schemas.microsoft.com/office/drawing/2014/main" id="{C03F998A-2A5E-471F-9FEB-2559B0A7F93D}"/>
              </a:ext>
            </a:extLst>
          </p:cNvPr>
          <p:cNvSpPr>
            <a:spLocks noGrp="1"/>
          </p:cNvSpPr>
          <p:nvPr>
            <p:ph type="sldNum" sz="quarter" idx="12"/>
          </p:nvPr>
        </p:nvSpPr>
        <p:spPr/>
        <p:txBody>
          <a:bodyPr/>
          <a:lstStyle/>
          <a:p>
            <a:fld id="{E1C5CB42-CF14-4293-8971-6DCD1AAE8BE7}" type="slidenum">
              <a:rPr lang="en-GB" smtClean="0"/>
              <a:t>84</a:t>
            </a:fld>
            <a:endParaRPr lang="en-GB"/>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511042-BDFA-4708-84AB-F848A1D5D4A0}"/>
              </a:ext>
            </a:extLst>
          </p:cNvPr>
          <p:cNvSpPr>
            <a:spLocks noGrp="1"/>
          </p:cNvSpPr>
          <p:nvPr>
            <p:ph type="title"/>
          </p:nvPr>
        </p:nvSpPr>
        <p:spPr>
          <a:xfrm>
            <a:off x="831850" y="1709738"/>
            <a:ext cx="10515600" cy="2852737"/>
          </a:xfrm>
        </p:spPr>
        <p:txBody>
          <a:bodyPr/>
          <a:lstStyle/>
          <a:p>
            <a:pPr marL="0" lvl="0" indent="0">
              <a:buNone/>
            </a:pPr>
            <a:r>
              <a:t>Permutation tests</a:t>
            </a:r>
          </a:p>
        </p:txBody>
      </p:sp>
      <p:sp>
        <p:nvSpPr>
          <p:cNvPr id="6" name="Slide Number Placeholder 5">
            <a:extLst>
              <a:ext uri="{FF2B5EF4-FFF2-40B4-BE49-F238E27FC236}">
                <a16:creationId xmlns:a16="http://schemas.microsoft.com/office/drawing/2014/main" id="{910AAC92-EEED-4232-ACDE-84003A6476BB}"/>
              </a:ext>
            </a:extLst>
          </p:cNvPr>
          <p:cNvSpPr>
            <a:spLocks noGrp="1"/>
          </p:cNvSpPr>
          <p:nvPr>
            <p:ph type="sldNum" sz="quarter" idx="12"/>
          </p:nvPr>
        </p:nvSpPr>
        <p:spPr/>
        <p:txBody>
          <a:bodyPr/>
          <a:lstStyle/>
          <a:p>
            <a:fld id="{E1C5CB42-CF14-4293-8971-6DCD1AAE8BE7}" type="slidenum">
              <a:rPr lang="en-GB" smtClean="0"/>
              <a:t>85</a:t>
            </a:fld>
            <a:endParaRPr lang="en-GB"/>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marL="0" lvl="0" indent="0">
              <a:buNone/>
            </a:pPr>
            <a:r>
              <a:t>Permutation tests</a:t>
            </a:r>
          </a:p>
        </p:txBody>
      </p:sp>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a:xfrm>
            <a:off x="838200" y="1690688"/>
            <a:ext cx="10515600" cy="4667250"/>
          </a:xfrm>
        </p:spPr>
        <p:txBody>
          <a:bodyPr>
            <a:normAutofit fontScale="92500"/>
          </a:bodyPr>
          <a:lstStyle/>
          <a:p>
            <a:pPr marL="0" lvl="0" indent="0">
              <a:buNone/>
            </a:pPr>
            <a:r>
              <a:rPr dirty="0"/>
              <a:t>Permutation tests do not make use of parametric or non-parametric distributions. Instead, permutation tests compute empirical distributions of the test statistic by randomly shuffling the group allocations (thereby guaranteeing random groups). The algorithm is simple:</a:t>
            </a:r>
          </a:p>
          <a:p>
            <a:pPr lvl="0"/>
            <a:r>
              <a:rPr dirty="0"/>
              <a:t>Calculate the test statistics.</a:t>
            </a:r>
          </a:p>
          <a:p>
            <a:pPr lvl="0"/>
            <a:r>
              <a:rPr dirty="0"/>
              <a:t>Repeat many times:</a:t>
            </a:r>
          </a:p>
          <a:p>
            <a:pPr lvl="1"/>
            <a:r>
              <a:rPr dirty="0"/>
              <a:t>Randomly allocate individuals to one of the groups being compared - this will by definition mean that the outcome is independent of the grouping variable.</a:t>
            </a:r>
          </a:p>
          <a:p>
            <a:pPr lvl="1"/>
            <a:r>
              <a:rPr dirty="0"/>
              <a:t>Compute the test statistic for the resampled data and store this.</a:t>
            </a:r>
          </a:p>
          <a:p>
            <a:pPr lvl="0"/>
            <a:r>
              <a:rPr dirty="0"/>
              <a:t>The stored test statistics for the data with random group allocation form an empirical distribution of the test statistic. Count what proportion of draws from this empirical distribution are as extreme or more extreme than the observed data. This will yield the p-value.</a:t>
            </a:r>
          </a:p>
          <a:p>
            <a:pPr lvl="0"/>
            <a:r>
              <a:rPr dirty="0"/>
              <a:t>We illustrate permutation tests here as an alternative to the t-test, but they can be used in many other situations.</a:t>
            </a:r>
          </a:p>
        </p:txBody>
      </p:sp>
      <p:sp>
        <p:nvSpPr>
          <p:cNvPr id="6" name="Slide Number Placeholder 5">
            <a:extLst>
              <a:ext uri="{FF2B5EF4-FFF2-40B4-BE49-F238E27FC236}">
                <a16:creationId xmlns:a16="http://schemas.microsoft.com/office/drawing/2014/main" id="{C03F998A-2A5E-471F-9FEB-2559B0A7F93D}"/>
              </a:ext>
            </a:extLst>
          </p:cNvPr>
          <p:cNvSpPr>
            <a:spLocks noGrp="1"/>
          </p:cNvSpPr>
          <p:nvPr>
            <p:ph type="sldNum" sz="quarter" idx="12"/>
          </p:nvPr>
        </p:nvSpPr>
        <p:spPr/>
        <p:txBody>
          <a:bodyPr/>
          <a:lstStyle/>
          <a:p>
            <a:fld id="{E1C5CB42-CF14-4293-8971-6DCD1AAE8BE7}" type="slidenum">
              <a:rPr lang="en-GB" smtClean="0"/>
              <a:t>86</a:t>
            </a:fld>
            <a:endParaRPr lang="en-GB"/>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marL="0" lvl="0" indent="0">
              <a:buNone/>
            </a:pPr>
            <a:r>
              <a:t>Permutation tests</a:t>
            </a:r>
          </a:p>
        </p:txBody>
      </p:sp>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p:txBody>
          <a:bodyPr/>
          <a:lstStyle/>
          <a:p>
            <a:pPr marL="0" lvl="0" indent="0">
              <a:buNone/>
            </a:pPr>
            <a:r>
              <a:t>For example, in the case of testing whether the sample means for age differ between males and females:</a:t>
            </a:r>
          </a:p>
          <a:p>
            <a:pPr lvl="0" indent="0">
              <a:buNone/>
            </a:pPr>
            <a:r>
              <a:rPr>
                <a:latin typeface="Courier"/>
              </a:rPr>
              <a:t>t</a:t>
            </a:r>
            <a:r>
              <a:rPr>
                <a:solidFill>
                  <a:srgbClr val="007020"/>
                </a:solidFill>
                <a:latin typeface="Courier"/>
              </a:rPr>
              <a:t>&lt;-</a:t>
            </a:r>
            <a:r>
              <a:rPr>
                <a:solidFill>
                  <a:srgbClr val="06287E"/>
                </a:solidFill>
                <a:latin typeface="Courier"/>
              </a:rPr>
              <a:t>t.test</a:t>
            </a:r>
            <a:r>
              <a:rPr>
                <a:latin typeface="Courier"/>
              </a:rPr>
              <a:t>(age</a:t>
            </a:r>
            <a:r>
              <a:rPr>
                <a:solidFill>
                  <a:srgbClr val="4070A0"/>
                </a:solidFill>
                <a:latin typeface="Courier"/>
              </a:rPr>
              <a:t>~</a:t>
            </a:r>
            <a:r>
              <a:rPr>
                <a:latin typeface="Courier"/>
              </a:rPr>
              <a:t>sex,</a:t>
            </a:r>
            <a:r>
              <a:rPr>
                <a:solidFill>
                  <a:srgbClr val="7D9029"/>
                </a:solidFill>
                <a:latin typeface="Courier"/>
              </a:rPr>
              <a:t>data=</a:t>
            </a:r>
            <a:r>
              <a:rPr>
                <a:latin typeface="Courier"/>
              </a:rPr>
              <a:t>df1)</a:t>
            </a:r>
            <a:r>
              <a:rPr>
                <a:solidFill>
                  <a:srgbClr val="4070A0"/>
                </a:solidFill>
                <a:latin typeface="Courier"/>
              </a:rPr>
              <a:t>$</a:t>
            </a:r>
            <a:r>
              <a:rPr>
                <a:latin typeface="Courier"/>
              </a:rPr>
              <a:t>statistic</a:t>
            </a:r>
            <a:br/>
            <a:br/>
            <a:r>
              <a:rPr>
                <a:latin typeface="Courier"/>
              </a:rPr>
              <a:t>B</a:t>
            </a:r>
            <a:r>
              <a:rPr>
                <a:solidFill>
                  <a:srgbClr val="007020"/>
                </a:solidFill>
                <a:latin typeface="Courier"/>
              </a:rPr>
              <a:t>&lt;-</a:t>
            </a:r>
            <a:r>
              <a:rPr>
                <a:solidFill>
                  <a:srgbClr val="40A070"/>
                </a:solidFill>
                <a:latin typeface="Courier"/>
              </a:rPr>
              <a:t>5000</a:t>
            </a:r>
            <a:br/>
            <a:r>
              <a:rPr>
                <a:latin typeface="Courier"/>
              </a:rPr>
              <a:t>tVect</a:t>
            </a:r>
            <a:r>
              <a:rPr>
                <a:solidFill>
                  <a:srgbClr val="007020"/>
                </a:solidFill>
                <a:latin typeface="Courier"/>
              </a:rPr>
              <a:t>&lt;-</a:t>
            </a:r>
            <a:r>
              <a:rPr>
                <a:solidFill>
                  <a:srgbClr val="06287E"/>
                </a:solidFill>
                <a:latin typeface="Courier"/>
              </a:rPr>
              <a:t>rep</a:t>
            </a:r>
            <a:r>
              <a:rPr>
                <a:latin typeface="Courier"/>
              </a:rPr>
              <a:t>(</a:t>
            </a:r>
            <a:r>
              <a:rPr>
                <a:solidFill>
                  <a:srgbClr val="880000"/>
                </a:solidFill>
                <a:latin typeface="Courier"/>
              </a:rPr>
              <a:t>NA</a:t>
            </a:r>
            <a:r>
              <a:rPr>
                <a:latin typeface="Courier"/>
              </a:rPr>
              <a:t>,B)</a:t>
            </a:r>
            <a:br/>
            <a:br/>
            <a:r>
              <a:rPr b="1">
                <a:solidFill>
                  <a:srgbClr val="007020"/>
                </a:solidFill>
                <a:latin typeface="Courier"/>
              </a:rPr>
              <a:t>for</a:t>
            </a:r>
            <a:r>
              <a:rPr>
                <a:latin typeface="Courier"/>
              </a:rPr>
              <a:t>(b </a:t>
            </a:r>
            <a:r>
              <a:rPr b="1">
                <a:solidFill>
                  <a:srgbClr val="007020"/>
                </a:solidFill>
                <a:latin typeface="Courier"/>
              </a:rPr>
              <a:t>in</a:t>
            </a:r>
            <a:r>
              <a:rPr>
                <a:latin typeface="Courier"/>
              </a:rPr>
              <a:t> </a:t>
            </a:r>
            <a:r>
              <a:rPr>
                <a:solidFill>
                  <a:srgbClr val="40A070"/>
                </a:solidFill>
                <a:latin typeface="Courier"/>
              </a:rPr>
              <a:t>1</a:t>
            </a:r>
            <a:r>
              <a:rPr>
                <a:solidFill>
                  <a:srgbClr val="4070A0"/>
                </a:solidFill>
                <a:latin typeface="Courier"/>
              </a:rPr>
              <a:t>:</a:t>
            </a:r>
            <a:r>
              <a:rPr>
                <a:latin typeface="Courier"/>
              </a:rPr>
              <a:t>B){</a:t>
            </a:r>
            <a:br/>
            <a:r>
              <a:rPr>
                <a:latin typeface="Courier"/>
              </a:rPr>
              <a:t>  dfTmp</a:t>
            </a:r>
            <a:r>
              <a:rPr>
                <a:solidFill>
                  <a:srgbClr val="007020"/>
                </a:solidFill>
                <a:latin typeface="Courier"/>
              </a:rPr>
              <a:t>&lt;-</a:t>
            </a:r>
            <a:r>
              <a:rPr>
                <a:latin typeface="Courier"/>
              </a:rPr>
              <a:t>df1</a:t>
            </a:r>
            <a:br/>
            <a:r>
              <a:rPr>
                <a:latin typeface="Courier"/>
              </a:rPr>
              <a:t>  dfTmp</a:t>
            </a:r>
            <a:r>
              <a:rPr>
                <a:solidFill>
                  <a:srgbClr val="4070A0"/>
                </a:solidFill>
                <a:latin typeface="Courier"/>
              </a:rPr>
              <a:t>$</a:t>
            </a:r>
            <a:r>
              <a:rPr>
                <a:latin typeface="Courier"/>
              </a:rPr>
              <a:t>sex</a:t>
            </a:r>
            <a:r>
              <a:rPr>
                <a:solidFill>
                  <a:srgbClr val="007020"/>
                </a:solidFill>
                <a:latin typeface="Courier"/>
              </a:rPr>
              <a:t>&lt;-</a:t>
            </a:r>
            <a:r>
              <a:rPr>
                <a:solidFill>
                  <a:srgbClr val="06287E"/>
                </a:solidFill>
                <a:latin typeface="Courier"/>
              </a:rPr>
              <a:t>sample</a:t>
            </a:r>
            <a:r>
              <a:rPr>
                <a:latin typeface="Courier"/>
              </a:rPr>
              <a:t>(df1</a:t>
            </a:r>
            <a:r>
              <a:rPr>
                <a:solidFill>
                  <a:srgbClr val="4070A0"/>
                </a:solidFill>
                <a:latin typeface="Courier"/>
              </a:rPr>
              <a:t>$</a:t>
            </a:r>
            <a:r>
              <a:rPr>
                <a:latin typeface="Courier"/>
              </a:rPr>
              <a:t>sex,</a:t>
            </a:r>
            <a:r>
              <a:rPr>
                <a:solidFill>
                  <a:srgbClr val="7D9029"/>
                </a:solidFill>
                <a:latin typeface="Courier"/>
              </a:rPr>
              <a:t>replace=</a:t>
            </a:r>
            <a:r>
              <a:rPr>
                <a:solidFill>
                  <a:srgbClr val="880000"/>
                </a:solidFill>
                <a:latin typeface="Courier"/>
              </a:rPr>
              <a:t>FALSE</a:t>
            </a:r>
            <a:r>
              <a:rPr>
                <a:latin typeface="Courier"/>
              </a:rPr>
              <a:t>,</a:t>
            </a:r>
            <a:r>
              <a:rPr>
                <a:solidFill>
                  <a:srgbClr val="7D9029"/>
                </a:solidFill>
                <a:latin typeface="Courier"/>
              </a:rPr>
              <a:t>size=</a:t>
            </a:r>
            <a:r>
              <a:rPr>
                <a:solidFill>
                  <a:srgbClr val="06287E"/>
                </a:solidFill>
                <a:latin typeface="Courier"/>
              </a:rPr>
              <a:t>nrow</a:t>
            </a:r>
            <a:r>
              <a:rPr>
                <a:latin typeface="Courier"/>
              </a:rPr>
              <a:t>(df1))</a:t>
            </a:r>
            <a:br/>
            <a:r>
              <a:rPr>
                <a:latin typeface="Courier"/>
              </a:rPr>
              <a:t>  tVect[b]</a:t>
            </a:r>
            <a:r>
              <a:rPr>
                <a:solidFill>
                  <a:srgbClr val="007020"/>
                </a:solidFill>
                <a:latin typeface="Courier"/>
              </a:rPr>
              <a:t>&lt;-</a:t>
            </a:r>
            <a:r>
              <a:rPr>
                <a:solidFill>
                  <a:srgbClr val="06287E"/>
                </a:solidFill>
                <a:latin typeface="Courier"/>
              </a:rPr>
              <a:t>t.test</a:t>
            </a:r>
            <a:r>
              <a:rPr>
                <a:latin typeface="Courier"/>
              </a:rPr>
              <a:t>(age</a:t>
            </a:r>
            <a:r>
              <a:rPr>
                <a:solidFill>
                  <a:srgbClr val="4070A0"/>
                </a:solidFill>
                <a:latin typeface="Courier"/>
              </a:rPr>
              <a:t>~</a:t>
            </a:r>
            <a:r>
              <a:rPr>
                <a:latin typeface="Courier"/>
              </a:rPr>
              <a:t>sex,</a:t>
            </a:r>
            <a:r>
              <a:rPr>
                <a:solidFill>
                  <a:srgbClr val="7D9029"/>
                </a:solidFill>
                <a:latin typeface="Courier"/>
              </a:rPr>
              <a:t>data=</a:t>
            </a:r>
            <a:r>
              <a:rPr>
                <a:latin typeface="Courier"/>
              </a:rPr>
              <a:t>dfTmp)</a:t>
            </a:r>
            <a:r>
              <a:rPr>
                <a:solidFill>
                  <a:srgbClr val="4070A0"/>
                </a:solidFill>
                <a:latin typeface="Courier"/>
              </a:rPr>
              <a:t>$</a:t>
            </a:r>
            <a:r>
              <a:rPr>
                <a:latin typeface="Courier"/>
              </a:rPr>
              <a:t>statistic</a:t>
            </a:r>
            <a:br/>
            <a:r>
              <a:rPr>
                <a:latin typeface="Courier"/>
              </a:rPr>
              <a:t>}</a:t>
            </a:r>
            <a:br/>
            <a:br/>
            <a:r>
              <a:rPr>
                <a:solidFill>
                  <a:srgbClr val="06287E"/>
                </a:solidFill>
                <a:latin typeface="Courier"/>
              </a:rPr>
              <a:t>sum</a:t>
            </a:r>
            <a:r>
              <a:rPr>
                <a:latin typeface="Courier"/>
              </a:rPr>
              <a:t>(</a:t>
            </a:r>
            <a:r>
              <a:rPr>
                <a:solidFill>
                  <a:srgbClr val="06287E"/>
                </a:solidFill>
                <a:latin typeface="Courier"/>
              </a:rPr>
              <a:t>abs</a:t>
            </a:r>
            <a:r>
              <a:rPr>
                <a:latin typeface="Courier"/>
              </a:rPr>
              <a:t>(tVect)</a:t>
            </a:r>
            <a:r>
              <a:rPr>
                <a:solidFill>
                  <a:srgbClr val="4070A0"/>
                </a:solidFill>
                <a:latin typeface="Courier"/>
              </a:rPr>
              <a:t>&gt;=</a:t>
            </a:r>
            <a:r>
              <a:rPr>
                <a:solidFill>
                  <a:srgbClr val="06287E"/>
                </a:solidFill>
                <a:latin typeface="Courier"/>
              </a:rPr>
              <a:t>abs</a:t>
            </a:r>
            <a:r>
              <a:rPr>
                <a:latin typeface="Courier"/>
              </a:rPr>
              <a:t>(t))</a:t>
            </a:r>
            <a:r>
              <a:rPr>
                <a:solidFill>
                  <a:srgbClr val="4070A0"/>
                </a:solidFill>
                <a:latin typeface="Courier"/>
              </a:rPr>
              <a:t>/</a:t>
            </a:r>
            <a:r>
              <a:rPr>
                <a:latin typeface="Courier"/>
              </a:rPr>
              <a:t>B </a:t>
            </a:r>
            <a:r>
              <a:rPr i="1">
                <a:solidFill>
                  <a:srgbClr val="60A0B0"/>
                </a:solidFill>
                <a:latin typeface="Courier"/>
              </a:rPr>
              <a:t># compare this to p=0.4895</a:t>
            </a:r>
            <a:br/>
            <a:r>
              <a:rPr i="1">
                <a:solidFill>
                  <a:srgbClr val="BA2121"/>
                </a:solidFill>
                <a:latin typeface="Courier"/>
              </a:rPr>
              <a:t>## [1] 0.488</a:t>
            </a:r>
          </a:p>
        </p:txBody>
      </p:sp>
      <p:sp>
        <p:nvSpPr>
          <p:cNvPr id="6" name="Slide Number Placeholder 5">
            <a:extLst>
              <a:ext uri="{FF2B5EF4-FFF2-40B4-BE49-F238E27FC236}">
                <a16:creationId xmlns:a16="http://schemas.microsoft.com/office/drawing/2014/main" id="{C03F998A-2A5E-471F-9FEB-2559B0A7F93D}"/>
              </a:ext>
            </a:extLst>
          </p:cNvPr>
          <p:cNvSpPr>
            <a:spLocks noGrp="1"/>
          </p:cNvSpPr>
          <p:nvPr>
            <p:ph type="sldNum" sz="quarter" idx="12"/>
          </p:nvPr>
        </p:nvSpPr>
        <p:spPr/>
        <p:txBody>
          <a:bodyPr/>
          <a:lstStyle/>
          <a:p>
            <a:fld id="{E1C5CB42-CF14-4293-8971-6DCD1AAE8BE7}" type="slidenum">
              <a:rPr lang="en-GB" smtClean="0"/>
              <a:t>87</a:t>
            </a:fld>
            <a:endParaRPr lang="en-GB"/>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marL="0" lvl="0" indent="0">
              <a:buNone/>
            </a:pPr>
            <a:r>
              <a:t>Word of warning: to p or not to p</a:t>
            </a:r>
          </a:p>
        </p:txBody>
      </p:sp>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p:txBody>
          <a:bodyPr/>
          <a:lstStyle/>
          <a:p>
            <a:pPr lvl="0"/>
            <a:r>
              <a:t>Null hypothesis significance testing can overly simplify complex research questions and nuance in analysis can be lost.</a:t>
            </a:r>
          </a:p>
          <a:p>
            <a:pPr lvl="0"/>
            <a:r>
              <a:t>The common choices of </a:t>
            </a:r>
            <a14:m xmlns:a14="http://schemas.microsoft.com/office/drawing/2010/main">
              <m:oMath xmlns:m="http://schemas.openxmlformats.org/officeDocument/2006/math">
                <m:r>
                  <a:rPr>
                    <a:latin typeface="Cambria Math" panose="02040503050406030204" pitchFamily="18" charset="0"/>
                  </a:rPr>
                  <m:t>𝛼</m:t>
                </m:r>
              </m:oMath>
            </a14:m>
            <a:r>
              <a:t> and </a:t>
            </a:r>
            <a14:m xmlns:a14="http://schemas.microsoft.com/office/drawing/2010/main">
              <m:oMath xmlns:m="http://schemas.openxmlformats.org/officeDocument/2006/math">
                <m:r>
                  <a:rPr>
                    <a:latin typeface="Cambria Math" panose="02040503050406030204" pitchFamily="18" charset="0"/>
                  </a:rPr>
                  <m:t>𝛽</m:t>
                </m:r>
              </m:oMath>
            </a14:m>
            <a:r>
              <a:t> are </a:t>
            </a:r>
            <a:r>
              <a:rPr i="1"/>
              <a:t>completely</a:t>
            </a:r>
            <a:r>
              <a:t> arbitrary, set by a bunch of statisticians in the 1930s over a cup of tea (literally – </a:t>
            </a:r>
            <a:r>
              <a:rPr>
                <a:hlinkClick r:id="rId2"/>
              </a:rPr>
              <a:t>https://en.wikipedia.org/wiki/Lady_tasting_tea</a:t>
            </a:r>
            <a:r>
              <a:t>).</a:t>
            </a:r>
          </a:p>
          <a:p>
            <a:pPr lvl="0"/>
            <a:r>
              <a:t>Overall risk of a Type I error increases the more tests you do.</a:t>
            </a:r>
          </a:p>
          <a:p>
            <a:pPr lvl="0"/>
            <a:r>
              <a:t>If you do several tests or fit several model but only report the one that was statistically significant, </a:t>
            </a:r>
            <a:r>
              <a:rPr b="1"/>
              <a:t>you are misleading your readers</a:t>
            </a:r>
            <a:r>
              <a:t>.</a:t>
            </a:r>
          </a:p>
          <a:p>
            <a:pPr lvl="0"/>
            <a:r>
              <a:t>Publication bias and pressure to publish means very bad practices have become established (e.g. p-hacking), contributing to the reproducibility crisis.</a:t>
            </a:r>
          </a:p>
          <a:p>
            <a:pPr lvl="0"/>
            <a:r>
              <a:t>Please read </a:t>
            </a:r>
            <a:r>
              <a:rPr>
                <a:hlinkClick r:id="rId3"/>
              </a:rPr>
              <a:t>https://doi.org/10.1080/00031305.2019.1583913</a:t>
            </a:r>
            <a:r>
              <a:t>.</a:t>
            </a:r>
          </a:p>
        </p:txBody>
      </p:sp>
      <p:sp>
        <p:nvSpPr>
          <p:cNvPr id="6" name="Slide Number Placeholder 5">
            <a:extLst>
              <a:ext uri="{FF2B5EF4-FFF2-40B4-BE49-F238E27FC236}">
                <a16:creationId xmlns:a16="http://schemas.microsoft.com/office/drawing/2014/main" id="{C03F998A-2A5E-471F-9FEB-2559B0A7F93D}"/>
              </a:ext>
            </a:extLst>
          </p:cNvPr>
          <p:cNvSpPr>
            <a:spLocks noGrp="1"/>
          </p:cNvSpPr>
          <p:nvPr>
            <p:ph type="sldNum" sz="quarter" idx="12"/>
          </p:nvPr>
        </p:nvSpPr>
        <p:spPr/>
        <p:txBody>
          <a:bodyPr/>
          <a:lstStyle/>
          <a:p>
            <a:fld id="{E1C5CB42-CF14-4293-8971-6DCD1AAE8BE7}" type="slidenum">
              <a:rPr lang="en-GB" smtClean="0"/>
              <a:t>88</a:t>
            </a:fld>
            <a:endParaRPr lang="en-GB"/>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511042-BDFA-4708-84AB-F848A1D5D4A0}"/>
              </a:ext>
            </a:extLst>
          </p:cNvPr>
          <p:cNvSpPr>
            <a:spLocks noGrp="1"/>
          </p:cNvSpPr>
          <p:nvPr>
            <p:ph type="title"/>
          </p:nvPr>
        </p:nvSpPr>
        <p:spPr>
          <a:xfrm>
            <a:off x="831850" y="1709738"/>
            <a:ext cx="10515600" cy="2852737"/>
          </a:xfrm>
        </p:spPr>
        <p:txBody>
          <a:bodyPr/>
          <a:lstStyle/>
          <a:p>
            <a:pPr marL="0" lvl="0" indent="0">
              <a:buNone/>
            </a:pPr>
            <a:r>
              <a:t>Sample size calculations</a:t>
            </a:r>
          </a:p>
        </p:txBody>
      </p:sp>
      <p:sp>
        <p:nvSpPr>
          <p:cNvPr id="6" name="Slide Number Placeholder 5">
            <a:extLst>
              <a:ext uri="{FF2B5EF4-FFF2-40B4-BE49-F238E27FC236}">
                <a16:creationId xmlns:a16="http://schemas.microsoft.com/office/drawing/2014/main" id="{910AAC92-EEED-4232-ACDE-84003A6476BB}"/>
              </a:ext>
            </a:extLst>
          </p:cNvPr>
          <p:cNvSpPr>
            <a:spLocks noGrp="1"/>
          </p:cNvSpPr>
          <p:nvPr>
            <p:ph type="sldNum" sz="quarter" idx="12"/>
          </p:nvPr>
        </p:nvSpPr>
        <p:spPr/>
        <p:txBody>
          <a:bodyPr/>
          <a:lstStyle/>
          <a:p>
            <a:fld id="{E1C5CB42-CF14-4293-8971-6DCD1AAE8BE7}" type="slidenum">
              <a:rPr lang="en-GB" smtClean="0"/>
              <a:t>89</a:t>
            </a:fld>
            <a:endParaRPr lang="en-GB"/>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marL="0" lvl="0" indent="0">
              <a:buNone/>
            </a:pPr>
            <a:r>
              <a:t>Sample size considerations</a:t>
            </a:r>
          </a:p>
        </p:txBody>
      </p:sp>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p:txBody>
          <a:bodyPr/>
          <a:lstStyle/>
          <a:p>
            <a:pPr lvl="0"/>
            <a:r>
              <a:t>Sample size is the number of units in each group in a study that you need to recruit to have a reasonable chance to establish an association between 2 variables if that association exists or to estimate a given parameter with a minimum desired precision.</a:t>
            </a:r>
          </a:p>
          <a:p>
            <a:pPr lvl="0"/>
            <a:r>
              <a:t>Sample size calculations may be based on the precision (descriptive studies) or the power (analytical studies) of a study.</a:t>
            </a:r>
          </a:p>
          <a:p>
            <a:pPr lvl="1"/>
            <a:r>
              <a:t>Precision refers to the desired width of the confidence interval for a sample estimate.</a:t>
            </a:r>
          </a:p>
          <a:p>
            <a:pPr lvl="1"/>
            <a:r>
              <a:t>Recall: power = 1-</a:t>
            </a:r>
            <a14:m xmlns:a14="http://schemas.microsoft.com/office/drawing/2010/main">
              <m:oMath xmlns:m="http://schemas.openxmlformats.org/officeDocument/2006/math">
                <m:r>
                  <a:rPr>
                    <a:latin typeface="Cambria Math" panose="02040503050406030204" pitchFamily="18" charset="0"/>
                  </a:rPr>
                  <m:t>𝛽</m:t>
                </m:r>
              </m:oMath>
            </a14:m>
            <a:r>
              <a:t> (The probability of finding a significant result if one exists)</a:t>
            </a:r>
          </a:p>
        </p:txBody>
      </p:sp>
      <p:sp>
        <p:nvSpPr>
          <p:cNvPr id="6" name="Slide Number Placeholder 5">
            <a:extLst>
              <a:ext uri="{FF2B5EF4-FFF2-40B4-BE49-F238E27FC236}">
                <a16:creationId xmlns:a16="http://schemas.microsoft.com/office/drawing/2014/main" id="{C03F998A-2A5E-471F-9FEB-2559B0A7F93D}"/>
              </a:ext>
            </a:extLst>
          </p:cNvPr>
          <p:cNvSpPr>
            <a:spLocks noGrp="1"/>
          </p:cNvSpPr>
          <p:nvPr>
            <p:ph type="sldNum" sz="quarter" idx="12"/>
          </p:nvPr>
        </p:nvSpPr>
        <p:spPr/>
        <p:txBody>
          <a:bodyPr/>
          <a:lstStyle/>
          <a:p>
            <a:fld id="{E1C5CB42-CF14-4293-8971-6DCD1AAE8BE7}" type="slidenum">
              <a:rPr lang="en-GB" smtClean="0"/>
              <a:t>90</a:t>
            </a:fld>
            <a:endParaRPr lang="en-GB"/>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marL="0" lvl="0" indent="0">
              <a:buNone/>
            </a:pPr>
            <a:r>
              <a:t>Basic elements</a:t>
            </a:r>
          </a:p>
        </p:txBody>
      </p:sp>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p:txBody>
          <a:bodyPr/>
          <a:lstStyle/>
          <a:p>
            <a:pPr lvl="0"/>
            <a:r>
              <a:t>The objective of the study:</a:t>
            </a:r>
          </a:p>
          <a:p>
            <a:pPr lvl="1"/>
            <a:r>
              <a:t>Descriptive studies: what parameter is being estimated?</a:t>
            </a:r>
          </a:p>
          <a:p>
            <a:pPr lvl="1"/>
            <a:r>
              <a:t>Analytical studies: what comparison is being made, what are the null and alternative hypotheses?</a:t>
            </a:r>
          </a:p>
          <a:p>
            <a:pPr lvl="0"/>
            <a:r>
              <a:t>What is a reasonable minimum effect size (analytical studies)?</a:t>
            </a:r>
          </a:p>
          <a:p>
            <a:pPr lvl="0"/>
            <a:r>
              <a:t>What is the desired confidence / significance level?</a:t>
            </a:r>
          </a:p>
          <a:p>
            <a:pPr lvl="0"/>
            <a:r>
              <a:t>What is the desired power or precision / margin of error?</a:t>
            </a:r>
          </a:p>
        </p:txBody>
      </p:sp>
      <p:sp>
        <p:nvSpPr>
          <p:cNvPr id="6" name="Slide Number Placeholder 5">
            <a:extLst>
              <a:ext uri="{FF2B5EF4-FFF2-40B4-BE49-F238E27FC236}">
                <a16:creationId xmlns:a16="http://schemas.microsoft.com/office/drawing/2014/main" id="{C03F998A-2A5E-471F-9FEB-2559B0A7F93D}"/>
              </a:ext>
            </a:extLst>
          </p:cNvPr>
          <p:cNvSpPr>
            <a:spLocks noGrp="1"/>
          </p:cNvSpPr>
          <p:nvPr>
            <p:ph type="sldNum" sz="quarter" idx="12"/>
          </p:nvPr>
        </p:nvSpPr>
        <p:spPr/>
        <p:txBody>
          <a:bodyPr/>
          <a:lstStyle/>
          <a:p>
            <a:fld id="{E1C5CB42-CF14-4293-8971-6DCD1AAE8BE7}" type="slidenum">
              <a:rPr lang="en-GB" smtClean="0"/>
              <a:t>91</a:t>
            </a:fld>
            <a:endParaRPr lang="en-GB"/>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marL="0" lvl="0" indent="0">
              <a:buNone/>
            </a:pPr>
            <a:r>
              <a:t>Basic elements</a:t>
            </a:r>
          </a:p>
        </p:txBody>
      </p:sp>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p:txBody>
          <a:bodyPr/>
          <a:lstStyle/>
          <a:p>
            <a:pPr marL="0" lvl="0" indent="0">
              <a:buNone/>
            </a:pPr>
            <a:r>
              <a:t>Study objectives may include some of the following:</a:t>
            </a:r>
          </a:p>
          <a:p>
            <a:pPr lvl="0"/>
            <a:r>
              <a:t>Estimating a single value: e.g.</a:t>
            </a:r>
          </a:p>
          <a:p>
            <a:pPr lvl="1"/>
            <a:r>
              <a:t>To examine what proportion of the population of Malawi currently smokes.</a:t>
            </a:r>
          </a:p>
          <a:p>
            <a:pPr lvl="1"/>
            <a:r>
              <a:t>To estimate the prevalence of anaemia in under-fives in a malaria endemic area.</a:t>
            </a:r>
          </a:p>
          <a:p>
            <a:pPr lvl="0"/>
            <a:r>
              <a:t>Comparison of outcomes:</a:t>
            </a:r>
          </a:p>
          <a:p>
            <a:pPr lvl="1"/>
            <a:r>
              <a:t>To examine the association between hormone replacement therapy and cardiovascular disease.</a:t>
            </a:r>
          </a:p>
          <a:p>
            <a:pPr lvl="1"/>
            <a:r>
              <a:t>To examine how much the risk of malaria will be reduced with the use of impregnated bed-nets.</a:t>
            </a:r>
          </a:p>
          <a:p>
            <a:pPr lvl="1"/>
            <a:r>
              <a:t>To examine the effect of a new intervention on the incidence of stomach cancer.</a:t>
            </a:r>
          </a:p>
        </p:txBody>
      </p:sp>
      <p:sp>
        <p:nvSpPr>
          <p:cNvPr id="6" name="Slide Number Placeholder 5">
            <a:extLst>
              <a:ext uri="{FF2B5EF4-FFF2-40B4-BE49-F238E27FC236}">
                <a16:creationId xmlns:a16="http://schemas.microsoft.com/office/drawing/2014/main" id="{C03F998A-2A5E-471F-9FEB-2559B0A7F93D}"/>
              </a:ext>
            </a:extLst>
          </p:cNvPr>
          <p:cNvSpPr>
            <a:spLocks noGrp="1"/>
          </p:cNvSpPr>
          <p:nvPr>
            <p:ph type="sldNum" sz="quarter" idx="12"/>
          </p:nvPr>
        </p:nvSpPr>
        <p:spPr/>
        <p:txBody>
          <a:bodyPr/>
          <a:lstStyle/>
          <a:p>
            <a:fld id="{E1C5CB42-CF14-4293-8971-6DCD1AAE8BE7}" type="slidenum">
              <a:rPr lang="en-GB" smtClean="0"/>
              <a:t>92</a:t>
            </a:fld>
            <a:endParaRPr lang="en-GB"/>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marL="0" lvl="0" indent="0">
              <a:buNone/>
            </a:pPr>
            <a:r>
              <a:t>Sample size and power</a:t>
            </a:r>
          </a:p>
        </p:txBody>
      </p:sp>
      <p:pic>
        <p:nvPicPr>
          <p:cNvPr id="3" name="Picture 1" descr="dataAndSupportDocs/power.png"/>
          <p:cNvPicPr>
            <a:picLocks noGrp="1" noChangeAspect="1"/>
          </p:cNvPicPr>
          <p:nvPr/>
        </p:nvPicPr>
        <p:blipFill>
          <a:blip r:embed="rId2"/>
          <a:stretch>
            <a:fillRect/>
          </a:stretch>
        </p:blipFill>
        <p:spPr bwMode="auto">
          <a:xfrm>
            <a:off x="2946400" y="1816100"/>
            <a:ext cx="6299200" cy="4152900"/>
          </a:xfrm>
          <a:prstGeom prst="rect">
            <a:avLst/>
          </a:prstGeom>
          <a:noFill/>
          <a:ln w="9525">
            <a:noFill/>
            <a:headEnd/>
            <a:tailEnd/>
          </a:ln>
        </p:spPr>
      </p:pic>
      <p:sp>
        <p:nvSpPr>
          <p:cNvPr id="4" name="TextBox 3"/>
          <p:cNvSpPr txBox="1"/>
          <p:nvPr/>
        </p:nvSpPr>
        <p:spPr>
          <a:xfrm>
            <a:off x="838200" y="5969000"/>
            <a:ext cx="10515600" cy="508000"/>
          </a:xfrm>
          <a:prstGeom prst="rect">
            <a:avLst/>
          </a:prstGeom>
          <a:noFill/>
        </p:spPr>
        <p:txBody>
          <a:bodyPr/>
          <a:lstStyle/>
          <a:p>
            <a:pPr marL="0" lvl="0" indent="0" algn="ctr">
              <a:buNone/>
            </a:pPr>
            <a:r>
              <a:t>Relationship between power and sample size</a:t>
            </a:r>
          </a:p>
        </p:txBody>
      </p:sp>
      <p:sp>
        <p:nvSpPr>
          <p:cNvPr id="6" name="Slide Number Placeholder 5">
            <a:extLst>
              <a:ext uri="{FF2B5EF4-FFF2-40B4-BE49-F238E27FC236}">
                <a16:creationId xmlns:a16="http://schemas.microsoft.com/office/drawing/2014/main" id="{C03F998A-2A5E-471F-9FEB-2559B0A7F93D}"/>
              </a:ext>
            </a:extLst>
          </p:cNvPr>
          <p:cNvSpPr>
            <a:spLocks noGrp="1"/>
          </p:cNvSpPr>
          <p:nvPr>
            <p:ph type="sldNum" sz="quarter" idx="12"/>
          </p:nvPr>
        </p:nvSpPr>
        <p:spPr/>
        <p:txBody>
          <a:bodyPr/>
          <a:lstStyle/>
          <a:p>
            <a:fld id="{E1C5CB42-CF14-4293-8971-6DCD1AAE8BE7}" type="slidenum">
              <a:rPr lang="en-GB" smtClean="0"/>
              <a:t>93</a:t>
            </a:fld>
            <a:endParaRPr lang="en-GB"/>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marL="0" lvl="0" indent="0">
              <a:buNone/>
            </a:pPr>
            <a:r>
              <a:t>Notes on sample size</a:t>
            </a:r>
          </a:p>
        </p:txBody>
      </p:sp>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p:txBody>
          <a:bodyPr/>
          <a:lstStyle/>
          <a:p>
            <a:pPr marL="0" lvl="0" indent="0">
              <a:buNone/>
            </a:pPr>
            <a:r>
              <a:t>Sample size is important:</a:t>
            </a:r>
          </a:p>
          <a:p>
            <a:pPr marL="0" lvl="0" indent="0">
              <a:buNone/>
            </a:pPr>
            <a14:m xmlns:a14="http://schemas.microsoft.com/office/drawing/2010/main">
              <m:oMathPara xmlns:m="http://schemas.openxmlformats.org/officeDocument/2006/math">
                <m:oMathParaPr>
                  <m:jc m:val="center"/>
                </m:oMathParaPr>
                <m:oMath xmlns:m="http://schemas.openxmlformats.org/officeDocument/2006/math">
                  <m:r>
                    <a:rPr>
                      <a:latin typeface="Cambria Math" panose="02040503050406030204" pitchFamily="18" charset="0"/>
                    </a:rPr>
                    <m:t> </m:t>
                  </m:r>
                </m:oMath>
              </m:oMathPara>
            </a14:m>
            <a:endParaRPr/>
          </a:p>
          <a:p>
            <a:pPr lvl="0"/>
            <a:r>
              <a:t>If the sample size is too low: cannot answer the research question.</a:t>
            </a:r>
          </a:p>
          <a:p>
            <a:pPr lvl="0"/>
            <a:r>
              <a:t>If the sample size is too large: wasting research funds and can be unethical in the case of experimental studies.</a:t>
            </a:r>
          </a:p>
          <a:p>
            <a:pPr lvl="0"/>
            <a:r>
              <a:t>Too low a sample size is generally worse than too large a sample size.</a:t>
            </a:r>
          </a:p>
          <a:p>
            <a:pPr lvl="0"/>
            <a:r>
              <a:t>In any sample size estimation:</a:t>
            </a:r>
          </a:p>
          <a:p>
            <a:pPr lvl="1"/>
            <a:r>
              <a:t>Round up to nearest integer.</a:t>
            </a:r>
          </a:p>
          <a:p>
            <a:pPr lvl="1"/>
            <a:r>
              <a:t>Use realistic but conservative estimates to guide your calculations.</a:t>
            </a:r>
          </a:p>
          <a:p>
            <a:pPr lvl="1"/>
            <a:r>
              <a:t>Do the calculations for a range of values if uncertain what would be good parameter estimates.</a:t>
            </a:r>
          </a:p>
          <a:p>
            <a:pPr lvl="0"/>
            <a:r>
              <a:t>Calculations for complex problems may need to be done via simulation.</a:t>
            </a:r>
          </a:p>
        </p:txBody>
      </p:sp>
      <p:sp>
        <p:nvSpPr>
          <p:cNvPr id="6" name="Slide Number Placeholder 5">
            <a:extLst>
              <a:ext uri="{FF2B5EF4-FFF2-40B4-BE49-F238E27FC236}">
                <a16:creationId xmlns:a16="http://schemas.microsoft.com/office/drawing/2014/main" id="{C03F998A-2A5E-471F-9FEB-2559B0A7F93D}"/>
              </a:ext>
            </a:extLst>
          </p:cNvPr>
          <p:cNvSpPr>
            <a:spLocks noGrp="1"/>
          </p:cNvSpPr>
          <p:nvPr>
            <p:ph type="sldNum" sz="quarter" idx="12"/>
          </p:nvPr>
        </p:nvSpPr>
        <p:spPr/>
        <p:txBody>
          <a:bodyPr/>
          <a:lstStyle/>
          <a:p>
            <a:fld id="{E1C5CB42-CF14-4293-8971-6DCD1AAE8BE7}" type="slidenum">
              <a:rPr lang="en-GB" smtClean="0"/>
              <a:t>94</a:t>
            </a:fld>
            <a:endParaRPr lang="en-GB"/>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marL="0" lvl="0" indent="0">
              <a:buNone/>
            </a:pPr>
            <a:r>
              <a:rPr>
                <a:latin typeface="Courier"/>
              </a:rPr>
              <a:t>pwr</a:t>
            </a:r>
            <a:r>
              <a:t> library</a:t>
            </a:r>
          </a:p>
        </p:txBody>
      </p:sp>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a:xfrm>
            <a:off x="838200" y="1782759"/>
            <a:ext cx="10515600" cy="4667250"/>
          </a:xfrm>
        </p:spPr>
        <p:txBody>
          <a:bodyPr>
            <a:normAutofit fontScale="92500" lnSpcReduction="20000"/>
          </a:bodyPr>
          <a:lstStyle/>
          <a:p>
            <a:pPr marL="0" lvl="0" indent="0">
              <a:buNone/>
            </a:pPr>
            <a:r>
              <a:rPr dirty="0"/>
              <a:t>For common designs, the </a:t>
            </a:r>
            <a:r>
              <a:rPr dirty="0" err="1">
                <a:latin typeface="Courier"/>
              </a:rPr>
              <a:t>pwr</a:t>
            </a:r>
            <a:r>
              <a:rPr dirty="0"/>
              <a:t> library is very useful.</a:t>
            </a:r>
          </a:p>
          <a:p>
            <a:pPr lvl="0" indent="0">
              <a:buNone/>
            </a:pPr>
            <a:r>
              <a:rPr dirty="0">
                <a:solidFill>
                  <a:srgbClr val="06287E"/>
                </a:solidFill>
                <a:latin typeface="Courier"/>
              </a:rPr>
              <a:t>library</a:t>
            </a:r>
            <a:r>
              <a:rPr dirty="0">
                <a:latin typeface="Courier"/>
              </a:rPr>
              <a:t>(</a:t>
            </a:r>
            <a:r>
              <a:rPr dirty="0" err="1">
                <a:latin typeface="Courier"/>
              </a:rPr>
              <a:t>pwr</a:t>
            </a:r>
            <a:r>
              <a:rPr dirty="0">
                <a:latin typeface="Courier"/>
              </a:rPr>
              <a:t>)</a:t>
            </a:r>
          </a:p>
          <a:p>
            <a:pPr marL="0" lvl="0" indent="0">
              <a:buNone/>
            </a:pPr>
            <a:r>
              <a:rPr dirty="0" err="1">
                <a:latin typeface="Courier"/>
              </a:rPr>
              <a:t>pwr</a:t>
            </a:r>
            <a:r>
              <a:rPr dirty="0"/>
              <a:t> has several functions for calculating sample sizes</a:t>
            </a:r>
          </a:p>
          <a:p>
            <a:pPr lvl="0"/>
            <a:r>
              <a:rPr dirty="0" err="1">
                <a:latin typeface="Courier"/>
              </a:rPr>
              <a:t>pwr.p.test</a:t>
            </a:r>
            <a:r>
              <a:rPr dirty="0"/>
              <a:t> - one sample proportion test</a:t>
            </a:r>
          </a:p>
          <a:p>
            <a:pPr lvl="0"/>
            <a:r>
              <a:rPr dirty="0">
                <a:latin typeface="Courier"/>
              </a:rPr>
              <a:t>pwr.2p.test</a:t>
            </a:r>
            <a:r>
              <a:rPr dirty="0"/>
              <a:t> - two sample proportions test (equal n)</a:t>
            </a:r>
          </a:p>
          <a:p>
            <a:pPr lvl="0"/>
            <a:r>
              <a:rPr dirty="0">
                <a:latin typeface="Courier"/>
              </a:rPr>
              <a:t>pwr.2p2n.test</a:t>
            </a:r>
            <a:r>
              <a:rPr dirty="0"/>
              <a:t> - two proportions (unequal n)</a:t>
            </a:r>
          </a:p>
          <a:p>
            <a:pPr lvl="0"/>
            <a:r>
              <a:rPr dirty="0" err="1">
                <a:latin typeface="Courier"/>
              </a:rPr>
              <a:t>pwr.anova.test</a:t>
            </a:r>
            <a:r>
              <a:rPr dirty="0"/>
              <a:t> - balanced one way ANOVA</a:t>
            </a:r>
          </a:p>
          <a:p>
            <a:pPr lvl="0"/>
            <a:r>
              <a:rPr dirty="0" err="1">
                <a:latin typeface="Courier"/>
              </a:rPr>
              <a:t>pwr.chisq.test</a:t>
            </a:r>
            <a:r>
              <a:rPr dirty="0"/>
              <a:t> - chi-square test</a:t>
            </a:r>
          </a:p>
          <a:p>
            <a:pPr lvl="0"/>
            <a:r>
              <a:rPr dirty="0">
                <a:latin typeface="Courier"/>
              </a:rPr>
              <a:t>pwr.f2.test</a:t>
            </a:r>
            <a:r>
              <a:rPr dirty="0"/>
              <a:t> - general linear model</a:t>
            </a:r>
          </a:p>
          <a:p>
            <a:pPr lvl="0"/>
            <a:r>
              <a:rPr dirty="0" err="1">
                <a:latin typeface="Courier"/>
              </a:rPr>
              <a:t>pwr.p.test</a:t>
            </a:r>
            <a:r>
              <a:rPr dirty="0"/>
              <a:t> - proportion (one sample)</a:t>
            </a:r>
          </a:p>
          <a:p>
            <a:pPr lvl="0"/>
            <a:r>
              <a:rPr dirty="0" err="1">
                <a:latin typeface="Courier"/>
              </a:rPr>
              <a:t>pwr.r.test</a:t>
            </a:r>
            <a:r>
              <a:rPr dirty="0"/>
              <a:t> - correlation</a:t>
            </a:r>
          </a:p>
          <a:p>
            <a:pPr lvl="0"/>
            <a:r>
              <a:rPr dirty="0" err="1">
                <a:latin typeface="Courier"/>
              </a:rPr>
              <a:t>pwr.t.test</a:t>
            </a:r>
            <a:r>
              <a:rPr dirty="0"/>
              <a:t> - t-tests (one sample, 2 sample, paired)</a:t>
            </a:r>
          </a:p>
          <a:p>
            <a:pPr lvl="0"/>
            <a:r>
              <a:rPr dirty="0">
                <a:latin typeface="Courier"/>
              </a:rPr>
              <a:t>pwr.t2n.test</a:t>
            </a:r>
            <a:r>
              <a:rPr dirty="0"/>
              <a:t> - t-test (two samples with unequal n)</a:t>
            </a:r>
          </a:p>
        </p:txBody>
      </p:sp>
      <p:sp>
        <p:nvSpPr>
          <p:cNvPr id="6" name="Slide Number Placeholder 5">
            <a:extLst>
              <a:ext uri="{FF2B5EF4-FFF2-40B4-BE49-F238E27FC236}">
                <a16:creationId xmlns:a16="http://schemas.microsoft.com/office/drawing/2014/main" id="{C03F998A-2A5E-471F-9FEB-2559B0A7F93D}"/>
              </a:ext>
            </a:extLst>
          </p:cNvPr>
          <p:cNvSpPr>
            <a:spLocks noGrp="1"/>
          </p:cNvSpPr>
          <p:nvPr>
            <p:ph type="sldNum" sz="quarter" idx="12"/>
          </p:nvPr>
        </p:nvSpPr>
        <p:spPr/>
        <p:txBody>
          <a:bodyPr/>
          <a:lstStyle/>
          <a:p>
            <a:fld id="{E1C5CB42-CF14-4293-8971-6DCD1AAE8BE7}" type="slidenum">
              <a:rPr lang="en-GB" smtClean="0"/>
              <a:t>95</a:t>
            </a:fld>
            <a:endParaRPr lang="en-GB"/>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marL="0" lvl="0" indent="0">
              <a:buNone/>
            </a:pPr>
            <a:r>
              <a:t>Sample size for estimating a proportion</a:t>
            </a:r>
          </a:p>
        </p:txBody>
      </p:sp>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p:txBody>
          <a:bodyPr/>
          <a:lstStyle/>
          <a:p>
            <a:pPr marL="0" lvl="0" indent="0">
              <a:buNone/>
            </a:pPr>
            <a:r>
              <a:t>Example:</a:t>
            </a:r>
          </a:p>
          <a:p>
            <a:pPr marL="0" lvl="0" indent="0">
              <a:buNone/>
            </a:pPr>
            <a:r>
              <a:t>Suppose you want to estimate the proportion of all children aged 12 to 24 months in Blantyre district who received measles vaccine in the year 2011.</a:t>
            </a:r>
          </a:p>
          <a:p>
            <a:pPr marL="0" lvl="0" indent="0">
              <a:buNone/>
            </a:pPr>
            <a:r>
              <a:t>There are 3 steps to calculate sample size for a proportion:</a:t>
            </a:r>
          </a:p>
          <a:p>
            <a:pPr lvl="0"/>
            <a:r>
              <a:t>First, provide an estimate of the proportion of children immunised – usually obtained from previous studies e.g. 80%. If you have no idea, choose 50% as the most conservative estimate (highest uncertainty at 50%).</a:t>
            </a:r>
          </a:p>
          <a:p>
            <a:pPr lvl="0"/>
            <a:r>
              <a:t>Decide confidence level. e.g. 95%.</a:t>
            </a:r>
          </a:p>
          <a:p>
            <a:pPr lvl="0"/>
            <a:r>
              <a:t>Decide margin of error (half the width of the confidence interval) e.g. 5% (be clear whether this is absolute or relative).</a:t>
            </a:r>
          </a:p>
        </p:txBody>
      </p:sp>
      <p:sp>
        <p:nvSpPr>
          <p:cNvPr id="6" name="Slide Number Placeholder 5">
            <a:extLst>
              <a:ext uri="{FF2B5EF4-FFF2-40B4-BE49-F238E27FC236}">
                <a16:creationId xmlns:a16="http://schemas.microsoft.com/office/drawing/2014/main" id="{C03F998A-2A5E-471F-9FEB-2559B0A7F93D}"/>
              </a:ext>
            </a:extLst>
          </p:cNvPr>
          <p:cNvSpPr>
            <a:spLocks noGrp="1"/>
          </p:cNvSpPr>
          <p:nvPr>
            <p:ph type="sldNum" sz="quarter" idx="12"/>
          </p:nvPr>
        </p:nvSpPr>
        <p:spPr/>
        <p:txBody>
          <a:bodyPr/>
          <a:lstStyle/>
          <a:p>
            <a:fld id="{E1C5CB42-CF14-4293-8971-6DCD1AAE8BE7}" type="slidenum">
              <a:rPr lang="en-GB" smtClean="0"/>
              <a:t>96</a:t>
            </a:fld>
            <a:endParaRPr lang="en-GB"/>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marL="0" lvl="0" indent="0">
              <a:buNone/>
            </a:pPr>
            <a:r>
              <a:t>Sample size for estimating a proportion</a:t>
            </a:r>
          </a:p>
        </p:txBody>
      </p:sp>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p:txBody>
          <a:bodyPr/>
          <a:lstStyle/>
          <a:p>
            <a:pPr marL="0" lvl="0" indent="0">
              <a:buNone/>
            </a:pPr>
            <a:r>
              <a:t>The sample size for estimating a single proportion is given by:</a:t>
            </a:r>
          </a:p>
          <a:p>
            <a:pPr marL="0" lvl="0" indent="0">
              <a:buNone/>
            </a:pPr>
            <a14:m xmlns:a14="http://schemas.microsoft.com/office/drawing/2010/main">
              <m:oMathPara xmlns:m="http://schemas.openxmlformats.org/officeDocument/2006/math">
                <m:oMathParaPr>
                  <m:jc m:val="center"/>
                </m:oMathParaPr>
                <m:oMath xmlns:m="http://schemas.openxmlformats.org/officeDocument/2006/math">
                  <m:r>
                    <a:rPr>
                      <a:latin typeface="Cambria Math" panose="02040503050406030204" pitchFamily="18" charset="0"/>
                    </a:rPr>
                    <m:t>𝑛</m:t>
                  </m:r>
                  <m:r>
                    <a:rPr>
                      <a:latin typeface="Cambria Math" panose="02040503050406030204" pitchFamily="18" charset="0"/>
                    </a:rPr>
                    <m:t>=</m:t>
                  </m:r>
                  <m:f>
                    <m:fPr>
                      <m:ctrlPr>
                        <a:rPr i="1">
                          <a:latin typeface="Cambria Math" panose="02040503050406030204" pitchFamily="18" charset="0"/>
                        </a:rPr>
                      </m:ctrlPr>
                    </m:fPr>
                    <m:num>
                      <m:r>
                        <a:rPr>
                          <a:latin typeface="Cambria Math" panose="02040503050406030204" pitchFamily="18" charset="0"/>
                        </a:rPr>
                        <m:t>𝑝</m:t>
                      </m:r>
                      <m:d>
                        <m:dPr>
                          <m:ctrlPr>
                            <a:rPr i="1">
                              <a:latin typeface="Cambria Math" panose="02040503050406030204" pitchFamily="18" charset="0"/>
                            </a:rPr>
                          </m:ctrlPr>
                        </m:dPr>
                        <m:e>
                          <m:r>
                            <a:rPr>
                              <a:latin typeface="Cambria Math" panose="02040503050406030204" pitchFamily="18" charset="0"/>
                            </a:rPr>
                            <m:t>1−</m:t>
                          </m:r>
                          <m:r>
                            <a:rPr>
                              <a:latin typeface="Cambria Math" panose="02040503050406030204" pitchFamily="18" charset="0"/>
                            </a:rPr>
                            <m:t>𝑝</m:t>
                          </m:r>
                        </m:e>
                      </m:d>
                    </m:num>
                    <m:den>
                      <m:sSup>
                        <m:sSupPr>
                          <m:ctrlPr>
                            <a:rPr i="1">
                              <a:latin typeface="Cambria Math" panose="02040503050406030204" pitchFamily="18" charset="0"/>
                            </a:rPr>
                          </m:ctrlPr>
                        </m:sSupPr>
                        <m:e>
                          <m:d>
                            <m:dPr>
                              <m:ctrlPr>
                                <a:rPr i="1">
                                  <a:latin typeface="Cambria Math" panose="02040503050406030204" pitchFamily="18" charset="0"/>
                                </a:rPr>
                              </m:ctrlPr>
                            </m:dPr>
                            <m:e>
                              <m:r>
                                <a:rPr>
                                  <a:latin typeface="Cambria Math" panose="02040503050406030204" pitchFamily="18" charset="0"/>
                                </a:rPr>
                                <m:t>𝐸</m:t>
                              </m:r>
                              <m:r>
                                <a:rPr>
                                  <a:latin typeface="Cambria Math" panose="02040503050406030204" pitchFamily="18" charset="0"/>
                                </a:rPr>
                                <m:t>/1.96</m:t>
                              </m:r>
                            </m:e>
                          </m:d>
                        </m:e>
                        <m:sup>
                          <m:r>
                            <a:rPr>
                              <a:latin typeface="Cambria Math" panose="02040503050406030204" pitchFamily="18" charset="0"/>
                            </a:rPr>
                            <m:t>2</m:t>
                          </m:r>
                        </m:sup>
                      </m:sSup>
                    </m:den>
                  </m:f>
                </m:oMath>
              </m:oMathPara>
            </a14:m>
            <a:endParaRPr/>
          </a:p>
          <a:p>
            <a:pPr lvl="0"/>
            <a:r>
              <a:t>where</a:t>
            </a:r>
          </a:p>
          <a:p>
            <a:pPr lvl="1"/>
            <a14:m xmlns:a14="http://schemas.microsoft.com/office/drawing/2010/main">
              <m:oMath xmlns:m="http://schemas.openxmlformats.org/officeDocument/2006/math">
                <m:r>
                  <a:rPr>
                    <a:latin typeface="Cambria Math" panose="02040503050406030204" pitchFamily="18" charset="0"/>
                  </a:rPr>
                  <m:t>𝑛</m:t>
                </m:r>
              </m:oMath>
            </a14:m>
            <a:r>
              <a:t> = minimum sample size;</a:t>
            </a:r>
            <a:br/>
            <a:endParaRPr/>
          </a:p>
          <a:p>
            <a:pPr lvl="1"/>
            <a14:m xmlns:a14="http://schemas.microsoft.com/office/drawing/2010/main">
              <m:oMath xmlns:m="http://schemas.openxmlformats.org/officeDocument/2006/math">
                <m:r>
                  <a:rPr>
                    <a:latin typeface="Cambria Math" panose="02040503050406030204" pitchFamily="18" charset="0"/>
                  </a:rPr>
                  <m:t>𝑝</m:t>
                </m:r>
              </m:oMath>
            </a14:m>
            <a:r>
              <a:t> = expected prevalence;</a:t>
            </a:r>
          </a:p>
          <a:p>
            <a:pPr lvl="1"/>
            <a14:m xmlns:a14="http://schemas.microsoft.com/office/drawing/2010/main">
              <m:oMath xmlns:m="http://schemas.openxmlformats.org/officeDocument/2006/math">
                <m:r>
                  <a:rPr>
                    <a:latin typeface="Cambria Math" panose="02040503050406030204" pitchFamily="18" charset="0"/>
                  </a:rPr>
                  <m:t>𝐸</m:t>
                </m:r>
              </m:oMath>
            </a14:m>
            <a:r>
              <a:t> = margin of error (expressed as a proportion);</a:t>
            </a:r>
          </a:p>
          <a:p>
            <a:pPr lvl="1"/>
            <a:r>
              <a:t>1.96 is the z-value corresponding to a 95% confidence level</a:t>
            </a:r>
          </a:p>
        </p:txBody>
      </p:sp>
      <p:sp>
        <p:nvSpPr>
          <p:cNvPr id="6" name="Slide Number Placeholder 5">
            <a:extLst>
              <a:ext uri="{FF2B5EF4-FFF2-40B4-BE49-F238E27FC236}">
                <a16:creationId xmlns:a16="http://schemas.microsoft.com/office/drawing/2014/main" id="{C03F998A-2A5E-471F-9FEB-2559B0A7F93D}"/>
              </a:ext>
            </a:extLst>
          </p:cNvPr>
          <p:cNvSpPr>
            <a:spLocks noGrp="1"/>
          </p:cNvSpPr>
          <p:nvPr>
            <p:ph type="sldNum" sz="quarter" idx="12"/>
          </p:nvPr>
        </p:nvSpPr>
        <p:spPr/>
        <p:txBody>
          <a:bodyPr/>
          <a:lstStyle/>
          <a:p>
            <a:fld id="{E1C5CB42-CF14-4293-8971-6DCD1AAE8BE7}" type="slidenum">
              <a:rPr lang="en-GB" smtClean="0"/>
              <a:t>97</a:t>
            </a:fld>
            <a:endParaRPr lang="en-GB"/>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marL="0" lvl="0" indent="0">
              <a:buNone/>
            </a:pPr>
            <a:r>
              <a:t>Sample size for estimating a proportion</a:t>
            </a:r>
          </a:p>
        </p:txBody>
      </p:sp>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p:txBody>
          <a:bodyPr/>
          <a:lstStyle/>
          <a:p>
            <a:pPr lvl="0" indent="0">
              <a:buNone/>
            </a:pPr>
            <a:r>
              <a:rPr>
                <a:latin typeface="Courier"/>
              </a:rPr>
              <a:t>sampSizeOneProp</a:t>
            </a:r>
            <a:r>
              <a:rPr>
                <a:solidFill>
                  <a:srgbClr val="007020"/>
                </a:solidFill>
                <a:latin typeface="Courier"/>
              </a:rPr>
              <a:t>&lt;-</a:t>
            </a:r>
            <a:r>
              <a:rPr b="1">
                <a:solidFill>
                  <a:srgbClr val="007020"/>
                </a:solidFill>
                <a:latin typeface="Courier"/>
              </a:rPr>
              <a:t>function</a:t>
            </a:r>
            <a:r>
              <a:rPr>
                <a:latin typeface="Courier"/>
              </a:rPr>
              <a:t>(p,E,</a:t>
            </a:r>
            <a:r>
              <a:rPr>
                <a:solidFill>
                  <a:srgbClr val="7D9029"/>
                </a:solidFill>
                <a:latin typeface="Courier"/>
              </a:rPr>
              <a:t>alpha=</a:t>
            </a:r>
            <a:r>
              <a:rPr>
                <a:solidFill>
                  <a:srgbClr val="40A070"/>
                </a:solidFill>
                <a:latin typeface="Courier"/>
              </a:rPr>
              <a:t>0.05</a:t>
            </a:r>
            <a:r>
              <a:rPr>
                <a:latin typeface="Courier"/>
              </a:rPr>
              <a:t>){</a:t>
            </a:r>
            <a:br/>
            <a:r>
              <a:rPr>
                <a:latin typeface="Courier"/>
              </a:rPr>
              <a:t>  n</a:t>
            </a:r>
            <a:r>
              <a:rPr>
                <a:solidFill>
                  <a:srgbClr val="007020"/>
                </a:solidFill>
                <a:latin typeface="Courier"/>
              </a:rPr>
              <a:t>&lt;-</a:t>
            </a:r>
            <a:r>
              <a:rPr>
                <a:latin typeface="Courier"/>
              </a:rPr>
              <a:t>p</a:t>
            </a:r>
            <a:r>
              <a:rPr>
                <a:solidFill>
                  <a:srgbClr val="4070A0"/>
                </a:solidFill>
                <a:latin typeface="Courier"/>
              </a:rPr>
              <a:t>*</a:t>
            </a:r>
            <a:r>
              <a:rPr>
                <a:latin typeface="Courier"/>
              </a:rPr>
              <a:t>(</a:t>
            </a:r>
            <a:r>
              <a:rPr>
                <a:solidFill>
                  <a:srgbClr val="40A070"/>
                </a:solidFill>
                <a:latin typeface="Courier"/>
              </a:rPr>
              <a:t>1</a:t>
            </a:r>
            <a:r>
              <a:rPr>
                <a:solidFill>
                  <a:srgbClr val="4070A0"/>
                </a:solidFill>
                <a:latin typeface="Courier"/>
              </a:rPr>
              <a:t>-</a:t>
            </a:r>
            <a:r>
              <a:rPr>
                <a:latin typeface="Courier"/>
              </a:rPr>
              <a:t>p)</a:t>
            </a:r>
            <a:r>
              <a:rPr>
                <a:solidFill>
                  <a:srgbClr val="4070A0"/>
                </a:solidFill>
                <a:latin typeface="Courier"/>
              </a:rPr>
              <a:t>/</a:t>
            </a:r>
            <a:r>
              <a:rPr>
                <a:latin typeface="Courier"/>
              </a:rPr>
              <a:t>((E</a:t>
            </a:r>
            <a:r>
              <a:rPr>
                <a:solidFill>
                  <a:srgbClr val="4070A0"/>
                </a:solidFill>
                <a:latin typeface="Courier"/>
              </a:rPr>
              <a:t>/</a:t>
            </a:r>
            <a:r>
              <a:rPr>
                <a:solidFill>
                  <a:srgbClr val="06287E"/>
                </a:solidFill>
                <a:latin typeface="Courier"/>
              </a:rPr>
              <a:t>qnorm</a:t>
            </a:r>
            <a:r>
              <a:rPr>
                <a:latin typeface="Courier"/>
              </a:rPr>
              <a:t>(</a:t>
            </a:r>
            <a:r>
              <a:rPr>
                <a:solidFill>
                  <a:srgbClr val="40A070"/>
                </a:solidFill>
                <a:latin typeface="Courier"/>
              </a:rPr>
              <a:t>1</a:t>
            </a:r>
            <a:r>
              <a:rPr>
                <a:solidFill>
                  <a:srgbClr val="4070A0"/>
                </a:solidFill>
                <a:latin typeface="Courier"/>
              </a:rPr>
              <a:t>-</a:t>
            </a:r>
            <a:r>
              <a:rPr>
                <a:latin typeface="Courier"/>
              </a:rPr>
              <a:t>alpha</a:t>
            </a:r>
            <a:r>
              <a:rPr>
                <a:solidFill>
                  <a:srgbClr val="4070A0"/>
                </a:solidFill>
                <a:latin typeface="Courier"/>
              </a:rPr>
              <a:t>/</a:t>
            </a:r>
            <a:r>
              <a:rPr>
                <a:solidFill>
                  <a:srgbClr val="40A070"/>
                </a:solidFill>
                <a:latin typeface="Courier"/>
              </a:rPr>
              <a:t>2</a:t>
            </a:r>
            <a:r>
              <a:rPr>
                <a:latin typeface="Courier"/>
              </a:rPr>
              <a:t>))</a:t>
            </a:r>
            <a:r>
              <a:rPr>
                <a:solidFill>
                  <a:srgbClr val="4070A0"/>
                </a:solidFill>
                <a:latin typeface="Courier"/>
              </a:rPr>
              <a:t>^</a:t>
            </a:r>
            <a:r>
              <a:rPr>
                <a:solidFill>
                  <a:srgbClr val="40A070"/>
                </a:solidFill>
                <a:latin typeface="Courier"/>
              </a:rPr>
              <a:t>2</a:t>
            </a:r>
            <a:r>
              <a:rPr>
                <a:latin typeface="Courier"/>
              </a:rPr>
              <a:t>)</a:t>
            </a:r>
            <a:br/>
            <a:r>
              <a:rPr>
                <a:latin typeface="Courier"/>
              </a:rPr>
              <a:t>  </a:t>
            </a:r>
            <a:r>
              <a:rPr>
                <a:solidFill>
                  <a:srgbClr val="06287E"/>
                </a:solidFill>
                <a:latin typeface="Courier"/>
              </a:rPr>
              <a:t>return</a:t>
            </a:r>
            <a:r>
              <a:rPr>
                <a:latin typeface="Courier"/>
              </a:rPr>
              <a:t>(</a:t>
            </a:r>
            <a:r>
              <a:rPr>
                <a:solidFill>
                  <a:srgbClr val="06287E"/>
                </a:solidFill>
                <a:latin typeface="Courier"/>
              </a:rPr>
              <a:t>ceiling</a:t>
            </a:r>
            <a:r>
              <a:rPr>
                <a:latin typeface="Courier"/>
              </a:rPr>
              <a:t>(n))</a:t>
            </a:r>
            <a:br/>
            <a:r>
              <a:rPr>
                <a:latin typeface="Courier"/>
              </a:rPr>
              <a:t>}</a:t>
            </a:r>
            <a:br/>
            <a:br/>
            <a:r>
              <a:rPr>
                <a:solidFill>
                  <a:srgbClr val="06287E"/>
                </a:solidFill>
                <a:latin typeface="Courier"/>
              </a:rPr>
              <a:t>sampSizeOneProp</a:t>
            </a:r>
            <a:r>
              <a:rPr>
                <a:latin typeface="Courier"/>
              </a:rPr>
              <a:t>(</a:t>
            </a:r>
            <a:r>
              <a:rPr>
                <a:solidFill>
                  <a:srgbClr val="7D9029"/>
                </a:solidFill>
                <a:latin typeface="Courier"/>
              </a:rPr>
              <a:t>p=</a:t>
            </a:r>
            <a:r>
              <a:rPr>
                <a:solidFill>
                  <a:srgbClr val="40A070"/>
                </a:solidFill>
                <a:latin typeface="Courier"/>
              </a:rPr>
              <a:t>0.8</a:t>
            </a:r>
            <a:r>
              <a:rPr>
                <a:latin typeface="Courier"/>
              </a:rPr>
              <a:t>,</a:t>
            </a:r>
            <a:r>
              <a:rPr>
                <a:solidFill>
                  <a:srgbClr val="7D9029"/>
                </a:solidFill>
                <a:latin typeface="Courier"/>
              </a:rPr>
              <a:t>E=</a:t>
            </a:r>
            <a:r>
              <a:rPr>
                <a:solidFill>
                  <a:srgbClr val="40A070"/>
                </a:solidFill>
                <a:latin typeface="Courier"/>
              </a:rPr>
              <a:t>0.05</a:t>
            </a:r>
            <a:r>
              <a:rPr>
                <a:latin typeface="Courier"/>
              </a:rPr>
              <a:t>)</a:t>
            </a:r>
            <a:br/>
            <a:r>
              <a:rPr i="1">
                <a:solidFill>
                  <a:srgbClr val="BA2121"/>
                </a:solidFill>
                <a:latin typeface="Courier"/>
              </a:rPr>
              <a:t>## [1] 246</a:t>
            </a:r>
          </a:p>
        </p:txBody>
      </p:sp>
      <p:sp>
        <p:nvSpPr>
          <p:cNvPr id="6" name="Slide Number Placeholder 5">
            <a:extLst>
              <a:ext uri="{FF2B5EF4-FFF2-40B4-BE49-F238E27FC236}">
                <a16:creationId xmlns:a16="http://schemas.microsoft.com/office/drawing/2014/main" id="{C03F998A-2A5E-471F-9FEB-2559B0A7F93D}"/>
              </a:ext>
            </a:extLst>
          </p:cNvPr>
          <p:cNvSpPr>
            <a:spLocks noGrp="1"/>
          </p:cNvSpPr>
          <p:nvPr>
            <p:ph type="sldNum" sz="quarter" idx="12"/>
          </p:nvPr>
        </p:nvSpPr>
        <p:spPr/>
        <p:txBody>
          <a:bodyPr/>
          <a:lstStyle/>
          <a:p>
            <a:fld id="{E1C5CB42-CF14-4293-8971-6DCD1AAE8BE7}" type="slidenum">
              <a:rPr lang="en-GB" smtClean="0"/>
              <a:t>98</a:t>
            </a:fld>
            <a:endParaRPr lang="en-GB"/>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marL="0" lvl="0" indent="0">
              <a:buNone/>
            </a:pPr>
            <a:r>
              <a:t>Sample size for testing one proportion</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a:xfrm>
                <a:off x="838200" y="1690688"/>
                <a:ext cx="10515600" cy="4667250"/>
              </a:xfrm>
            </p:spPr>
            <p:txBody>
              <a:bodyPr>
                <a:normAutofit fontScale="92500" lnSpcReduction="10000"/>
              </a:bodyPr>
              <a:lstStyle/>
              <a:p>
                <a:pPr marL="0" lvl="0" indent="0">
                  <a:buNone/>
                </a:pPr>
                <a:r>
                  <a:rPr dirty="0"/>
                  <a:t>Suppose you want to test the null hypothesis </a:t>
                </a:r>
                <a14:m>
                  <m:oMath xmlns:m="http://schemas.openxmlformats.org/officeDocument/2006/math">
                    <m:r>
                      <a:rPr>
                        <a:latin typeface="Cambria Math" panose="02040503050406030204" pitchFamily="18" charset="0"/>
                      </a:rPr>
                      <m:t>𝑝</m:t>
                    </m:r>
                    <m:r>
                      <a:rPr>
                        <a:latin typeface="Cambria Math" panose="02040503050406030204" pitchFamily="18" charset="0"/>
                      </a:rPr>
                      <m:t>=0.5</m:t>
                    </m:r>
                  </m:oMath>
                </a14:m>
                <a:r>
                  <a:rPr dirty="0"/>
                  <a:t> against the alternative </a:t>
                </a:r>
                <a14:m>
                  <m:oMath xmlns:m="http://schemas.openxmlformats.org/officeDocument/2006/math">
                    <m:r>
                      <a:rPr>
                        <a:latin typeface="Cambria Math" panose="02040503050406030204" pitchFamily="18" charset="0"/>
                      </a:rPr>
                      <m:t>𝑝</m:t>
                    </m:r>
                    <m:r>
                      <a:rPr>
                        <a:latin typeface="Cambria Math" panose="02040503050406030204" pitchFamily="18" charset="0"/>
                      </a:rPr>
                      <m:t>≠0.5</m:t>
                    </m:r>
                  </m:oMath>
                </a14:m>
                <a:r>
                  <a:rPr dirty="0"/>
                  <a:t> where p is the proportion of all children aged 12 to 24 months in Blantyre district who received measles vaccine in the year 2011 and that you want to be able to reject the null hypothesis if the population proportion is </a:t>
                </a:r>
                <a14:m>
                  <m:oMath xmlns:m="http://schemas.openxmlformats.org/officeDocument/2006/math">
                    <m:r>
                      <a:rPr>
                        <a:latin typeface="Cambria Math" panose="02040503050406030204" pitchFamily="18" charset="0"/>
                      </a:rPr>
                      <m:t>0.4</m:t>
                    </m:r>
                  </m:oMath>
                </a14:m>
                <a:r>
                  <a:rPr dirty="0"/>
                  <a:t>.</a:t>
                </a:r>
              </a:p>
              <a:p>
                <a:pPr marL="0" lvl="0" indent="0">
                  <a:buNone/>
                </a:pPr>
                <a:r>
                  <a:rPr dirty="0"/>
                  <a:t>Assume you require 80% power for a significance level of 5%.</a:t>
                </a:r>
              </a:p>
              <a:p>
                <a:pPr lvl="0" indent="0">
                  <a:buNone/>
                </a:pPr>
                <a:r>
                  <a:rPr dirty="0" err="1">
                    <a:latin typeface="Courier"/>
                  </a:rPr>
                  <a:t>sampSizeOnePropTest</a:t>
                </a:r>
                <a:r>
                  <a:rPr dirty="0">
                    <a:solidFill>
                      <a:srgbClr val="007020"/>
                    </a:solidFill>
                    <a:latin typeface="Courier"/>
                  </a:rPr>
                  <a:t>&lt;-</a:t>
                </a:r>
                <a:r>
                  <a:rPr dirty="0" err="1">
                    <a:solidFill>
                      <a:srgbClr val="06287E"/>
                    </a:solidFill>
                    <a:latin typeface="Courier"/>
                  </a:rPr>
                  <a:t>pwr.p.test</a:t>
                </a:r>
                <a:r>
                  <a:rPr dirty="0">
                    <a:latin typeface="Courier"/>
                  </a:rPr>
                  <a:t>(</a:t>
                </a:r>
                <a:r>
                  <a:rPr dirty="0">
                    <a:solidFill>
                      <a:srgbClr val="7D9029"/>
                    </a:solidFill>
                    <a:latin typeface="Courier"/>
                  </a:rPr>
                  <a:t>h=</a:t>
                </a:r>
                <a:r>
                  <a:rPr dirty="0" err="1">
                    <a:solidFill>
                      <a:srgbClr val="06287E"/>
                    </a:solidFill>
                    <a:latin typeface="Courier"/>
                  </a:rPr>
                  <a:t>ES.h</a:t>
                </a:r>
                <a:r>
                  <a:rPr dirty="0">
                    <a:latin typeface="Courier"/>
                  </a:rPr>
                  <a:t>(</a:t>
                </a:r>
                <a:r>
                  <a:rPr dirty="0">
                    <a:solidFill>
                      <a:srgbClr val="40A070"/>
                    </a:solidFill>
                    <a:latin typeface="Courier"/>
                  </a:rPr>
                  <a:t>0.5</a:t>
                </a:r>
                <a:r>
                  <a:rPr dirty="0">
                    <a:latin typeface="Courier"/>
                  </a:rPr>
                  <a:t>,</a:t>
                </a:r>
                <a:r>
                  <a:rPr dirty="0">
                    <a:solidFill>
                      <a:srgbClr val="40A070"/>
                    </a:solidFill>
                    <a:latin typeface="Courier"/>
                  </a:rPr>
                  <a:t>0.4</a:t>
                </a:r>
                <a:r>
                  <a:rPr dirty="0">
                    <a:latin typeface="Courier"/>
                  </a:rPr>
                  <a:t>), </a:t>
                </a:r>
                <a:r>
                  <a:rPr dirty="0" err="1">
                    <a:solidFill>
                      <a:srgbClr val="7D9029"/>
                    </a:solidFill>
                    <a:latin typeface="Courier"/>
                  </a:rPr>
                  <a:t>sig.level</a:t>
                </a:r>
                <a:r>
                  <a:rPr dirty="0">
                    <a:solidFill>
                      <a:srgbClr val="7D9029"/>
                    </a:solidFill>
                    <a:latin typeface="Courier"/>
                  </a:rPr>
                  <a:t>=</a:t>
                </a:r>
                <a:r>
                  <a:rPr dirty="0">
                    <a:solidFill>
                      <a:srgbClr val="40A070"/>
                    </a:solidFill>
                    <a:latin typeface="Courier"/>
                  </a:rPr>
                  <a:t>0.05</a:t>
                </a:r>
                <a:r>
                  <a:rPr dirty="0">
                    <a:latin typeface="Courier"/>
                  </a:rPr>
                  <a:t>, </a:t>
                </a:r>
                <a:r>
                  <a:rPr dirty="0">
                    <a:solidFill>
                      <a:srgbClr val="7D9029"/>
                    </a:solidFill>
                    <a:latin typeface="Courier"/>
                  </a:rPr>
                  <a:t>power=</a:t>
                </a:r>
                <a:r>
                  <a:rPr dirty="0">
                    <a:latin typeface="Courier"/>
                  </a:rPr>
                  <a:t>.</a:t>
                </a:r>
                <a:r>
                  <a:rPr dirty="0">
                    <a:solidFill>
                      <a:srgbClr val="40A070"/>
                    </a:solidFill>
                    <a:latin typeface="Courier"/>
                  </a:rPr>
                  <a:t>8</a:t>
                </a:r>
                <a:r>
                  <a:rPr dirty="0">
                    <a:latin typeface="Courier"/>
                  </a:rPr>
                  <a:t>)</a:t>
                </a:r>
                <a:br>
                  <a:rPr dirty="0"/>
                </a:br>
                <a:r>
                  <a:rPr dirty="0" err="1">
                    <a:latin typeface="Courier"/>
                  </a:rPr>
                  <a:t>sampSizeOnePropTest</a:t>
                </a:r>
                <a:br>
                  <a:rPr dirty="0"/>
                </a:br>
                <a:r>
                  <a:rPr i="1" dirty="0">
                    <a:solidFill>
                      <a:srgbClr val="BA2121"/>
                    </a:solidFill>
                    <a:latin typeface="Courier"/>
                  </a:rPr>
                  <a:t>## </a:t>
                </a:r>
                <a:br>
                  <a:rPr dirty="0"/>
                </a:br>
                <a:r>
                  <a:rPr i="1" dirty="0">
                    <a:solidFill>
                      <a:srgbClr val="BA2121"/>
                    </a:solidFill>
                    <a:latin typeface="Courier"/>
                  </a:rPr>
                  <a:t>##      proportion power calculation for binomial distribution (arcsine transformation) </a:t>
                </a:r>
                <a:br>
                  <a:rPr dirty="0"/>
                </a:br>
                <a:r>
                  <a:rPr i="1" dirty="0">
                    <a:solidFill>
                      <a:srgbClr val="BA2121"/>
                    </a:solidFill>
                    <a:latin typeface="Courier"/>
                  </a:rPr>
                  <a:t>## </a:t>
                </a:r>
                <a:br>
                  <a:rPr dirty="0"/>
                </a:br>
                <a:r>
                  <a:rPr i="1" dirty="0">
                    <a:solidFill>
                      <a:srgbClr val="BA2121"/>
                    </a:solidFill>
                    <a:latin typeface="Courier"/>
                  </a:rPr>
                  <a:t>##               h = 0.2013579</a:t>
                </a:r>
                <a:br>
                  <a:rPr dirty="0"/>
                </a:br>
                <a:r>
                  <a:rPr i="1" dirty="0">
                    <a:solidFill>
                      <a:srgbClr val="BA2121"/>
                    </a:solidFill>
                    <a:latin typeface="Courier"/>
                  </a:rPr>
                  <a:t>##               n = 193.5839</a:t>
                </a:r>
                <a:br>
                  <a:rPr dirty="0"/>
                </a:br>
                <a:r>
                  <a:rPr i="1" dirty="0">
                    <a:solidFill>
                      <a:srgbClr val="BA2121"/>
                    </a:solidFill>
                    <a:latin typeface="Courier"/>
                  </a:rPr>
                  <a:t>##       </a:t>
                </a:r>
                <a:r>
                  <a:rPr i="1" dirty="0" err="1">
                    <a:solidFill>
                      <a:srgbClr val="BA2121"/>
                    </a:solidFill>
                    <a:latin typeface="Courier"/>
                  </a:rPr>
                  <a:t>sig.level</a:t>
                </a:r>
                <a:r>
                  <a:rPr i="1" dirty="0">
                    <a:solidFill>
                      <a:srgbClr val="BA2121"/>
                    </a:solidFill>
                    <a:latin typeface="Courier"/>
                  </a:rPr>
                  <a:t> = 0.05</a:t>
                </a:r>
                <a:br>
                  <a:rPr dirty="0"/>
                </a:br>
                <a:r>
                  <a:rPr i="1" dirty="0">
                    <a:solidFill>
                      <a:srgbClr val="BA2121"/>
                    </a:solidFill>
                    <a:latin typeface="Courier"/>
                  </a:rPr>
                  <a:t>##           power = 0.8</a:t>
                </a:r>
                <a:br>
                  <a:rPr dirty="0"/>
                </a:br>
                <a:r>
                  <a:rPr i="1" dirty="0">
                    <a:solidFill>
                      <a:srgbClr val="BA2121"/>
                    </a:solidFill>
                    <a:latin typeface="Courier"/>
                  </a:rPr>
                  <a:t>##     alternative = </a:t>
                </a:r>
                <a:r>
                  <a:rPr i="1" dirty="0" err="1">
                    <a:solidFill>
                      <a:srgbClr val="BA2121"/>
                    </a:solidFill>
                    <a:latin typeface="Courier"/>
                  </a:rPr>
                  <a:t>two.sided</a:t>
                </a:r>
                <a:endParaRPr i="1" dirty="0">
                  <a:solidFill>
                    <a:srgbClr val="BA2121"/>
                  </a:solidFill>
                  <a:latin typeface="Courier"/>
                </a:endParaRPr>
              </a:p>
            </p:txBody>
          </p:sp>
        </mc:Choice>
        <mc:Fallback>
          <p:sp>
            <p:nvSpPr>
              <p:cNvPr id="3" name="Content Placeholder 2">
                <a:extLst>
                  <a:ext uri="{FF2B5EF4-FFF2-40B4-BE49-F238E27FC236}">
                    <a16:creationId xmlns:a16="http://schemas.microsoft.com/office/drawing/2014/main" id="{288BC91F-1C76-43AE-8B2A-956D48B768BE}"/>
                  </a:ext>
                </a:extLst>
              </p:cNvPr>
              <p:cNvSpPr>
                <a:spLocks noGrp="1" noRot="1" noChangeAspect="1" noMove="1" noResize="1" noEditPoints="1" noAdjustHandles="1" noChangeArrowheads="1" noChangeShapeType="1" noTextEdit="1"/>
              </p:cNvSpPr>
              <p:nvPr>
                <p:ph idx="1"/>
              </p:nvPr>
            </p:nvSpPr>
            <p:spPr>
              <a:xfrm>
                <a:off x="838200" y="1690688"/>
                <a:ext cx="10515600" cy="4667250"/>
              </a:xfrm>
              <a:blipFill>
                <a:blip r:embed="rId2"/>
                <a:stretch>
                  <a:fillRect l="-638" t="-1828" r="-348"/>
                </a:stretch>
              </a:blipFill>
            </p:spPr>
            <p:txBody>
              <a:bodyPr/>
              <a:lstStyle/>
              <a:p>
                <a:r>
                  <a:rPr lang="en-US">
                    <a:noFill/>
                  </a:rPr>
                  <a:t> </a:t>
                </a:r>
              </a:p>
            </p:txBody>
          </p:sp>
        </mc:Fallback>
      </mc:AlternateContent>
      <p:sp>
        <p:nvSpPr>
          <p:cNvPr id="6" name="Slide Number Placeholder 5">
            <a:extLst>
              <a:ext uri="{FF2B5EF4-FFF2-40B4-BE49-F238E27FC236}">
                <a16:creationId xmlns:a16="http://schemas.microsoft.com/office/drawing/2014/main" id="{C03F998A-2A5E-471F-9FEB-2559B0A7F93D}"/>
              </a:ext>
            </a:extLst>
          </p:cNvPr>
          <p:cNvSpPr>
            <a:spLocks noGrp="1"/>
          </p:cNvSpPr>
          <p:nvPr>
            <p:ph type="sldNum" sz="quarter" idx="12"/>
          </p:nvPr>
        </p:nvSpPr>
        <p:spPr/>
        <p:txBody>
          <a:bodyPr/>
          <a:lstStyle/>
          <a:p>
            <a:fld id="{E1C5CB42-CF14-4293-8971-6DCD1AAE8BE7}" type="slidenum">
              <a:rPr lang="en-GB" smtClean="0"/>
              <a:t>99</a:t>
            </a:fld>
            <a:endParaRPr lang="en-GB"/>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CC315F-F711-43BA-8C23-8D50769E33D2}"/>
              </a:ext>
            </a:extLst>
          </p:cNvPr>
          <p:cNvSpPr>
            <a:spLocks noGrp="1"/>
          </p:cNvSpPr>
          <p:nvPr>
            <p:ph type="title"/>
          </p:nvPr>
        </p:nvSpPr>
        <p:spPr>
          <a:xfrm>
            <a:off x="839788" y="457200"/>
            <a:ext cx="3932237" cy="1600200"/>
          </a:xfrm>
        </p:spPr>
        <p:txBody>
          <a:bodyPr/>
          <a:lstStyle/>
          <a:p>
            <a:pPr marL="0" lvl="0" indent="0">
              <a:buNone/>
            </a:pPr>
            <a:r>
              <a:t>Sample size for testing one proportion</a:t>
            </a:r>
          </a:p>
        </p:txBody>
      </p:sp>
      <p:sp>
        <p:nvSpPr>
          <p:cNvPr id="4" name="Text Placeholder 3">
            <a:extLst>
              <a:ext uri="{FF2B5EF4-FFF2-40B4-BE49-F238E27FC236}">
                <a16:creationId xmlns:a16="http://schemas.microsoft.com/office/drawing/2014/main" id="{F6C278EB-CD3C-4569-8B41-D3DDD3B4004E}"/>
              </a:ext>
            </a:extLst>
          </p:cNvPr>
          <p:cNvSpPr>
            <a:spLocks noGrp="1"/>
          </p:cNvSpPr>
          <p:nvPr>
            <p:ph type="body" sz="half" idx="2"/>
          </p:nvPr>
        </p:nvSpPr>
        <p:spPr/>
        <p:txBody>
          <a:bodyPr/>
          <a:lstStyle/>
          <a:p>
            <a:pPr marL="0" lvl="0" indent="0">
              <a:buNone/>
            </a:pPr>
            <a:r>
              <a:t>R makes it easy to plot a sample size curve:</a:t>
            </a:r>
          </a:p>
          <a:p>
            <a:pPr lvl="0" indent="0">
              <a:buNone/>
            </a:pPr>
            <a:r>
              <a:rPr>
                <a:solidFill>
                  <a:srgbClr val="06287E"/>
                </a:solidFill>
                <a:latin typeface="Courier"/>
              </a:rPr>
              <a:t>plot</a:t>
            </a:r>
            <a:r>
              <a:rPr>
                <a:latin typeface="Courier"/>
              </a:rPr>
              <a:t>(sampSizeOnePropTest)</a:t>
            </a:r>
            <a:br/>
            <a:r>
              <a:rPr i="1">
                <a:solidFill>
                  <a:srgbClr val="BA2121"/>
                </a:solidFill>
                <a:latin typeface="Courier"/>
              </a:rPr>
              <a:t>## Warning: Using `size` aesthetic for lines was deprecated in ggplot2 3.4.0.</a:t>
            </a:r>
            <a:br/>
            <a:r>
              <a:rPr i="1">
                <a:solidFill>
                  <a:srgbClr val="BA2121"/>
                </a:solidFill>
                <a:latin typeface="Courier"/>
              </a:rPr>
              <a:t>## ℹ Please use `linewidth` instead.</a:t>
            </a:r>
            <a:br/>
            <a:r>
              <a:rPr i="1">
                <a:solidFill>
                  <a:srgbClr val="BA2121"/>
                </a:solidFill>
                <a:latin typeface="Courier"/>
              </a:rPr>
              <a:t>## ℹ The deprecated feature was likely used in the pwr package.</a:t>
            </a:r>
            <a:br/>
            <a:r>
              <a:rPr i="1">
                <a:solidFill>
                  <a:srgbClr val="BA2121"/>
                </a:solidFill>
                <a:latin typeface="Courier"/>
              </a:rPr>
              <a:t>##   Please report the issue to the authors.</a:t>
            </a:r>
            <a:br/>
            <a:r>
              <a:rPr i="1">
                <a:solidFill>
                  <a:srgbClr val="BA2121"/>
                </a:solidFill>
                <a:latin typeface="Courier"/>
              </a:rPr>
              <a:t>## This warning is displayed once every 8 hours.</a:t>
            </a:r>
            <a:br/>
            <a:r>
              <a:rPr i="1">
                <a:solidFill>
                  <a:srgbClr val="BA2121"/>
                </a:solidFill>
                <a:latin typeface="Courier"/>
              </a:rPr>
              <a:t>## Call `lifecycle::last_lifecycle_warnings()` to see where this warning was</a:t>
            </a:r>
            <a:br/>
            <a:r>
              <a:rPr i="1">
                <a:solidFill>
                  <a:srgbClr val="BA2121"/>
                </a:solidFill>
                <a:latin typeface="Courier"/>
              </a:rPr>
              <a:t>## generated.</a:t>
            </a:r>
          </a:p>
        </p:txBody>
      </p:sp>
      <p:pic>
        <p:nvPicPr>
          <p:cNvPr id="3" name="Picture 1" descr="MLW_KUHeS_RandStatistics_Session4_files/figure-pptx/unnamed-chunk-30-1.png"/>
          <p:cNvPicPr>
            <a:picLocks noGrp="1" noChangeAspect="1"/>
          </p:cNvPicPr>
          <p:nvPr/>
        </p:nvPicPr>
        <p:blipFill>
          <a:blip r:embed="rId2"/>
          <a:stretch>
            <a:fillRect/>
          </a:stretch>
        </p:blipFill>
        <p:spPr bwMode="auto">
          <a:xfrm>
            <a:off x="5181600" y="1676400"/>
            <a:ext cx="6172200" cy="3467100"/>
          </a:xfrm>
          <a:prstGeom prst="rect">
            <a:avLst/>
          </a:prstGeom>
          <a:noFill/>
          <a:ln w="9525">
            <a:noFill/>
            <a:headEnd/>
            <a:tailEnd/>
          </a:ln>
        </p:spPr>
      </p:pic>
      <p:sp>
        <p:nvSpPr>
          <p:cNvPr id="7" name="Slide Number Placeholder 6">
            <a:extLst>
              <a:ext uri="{FF2B5EF4-FFF2-40B4-BE49-F238E27FC236}">
                <a16:creationId xmlns:a16="http://schemas.microsoft.com/office/drawing/2014/main" id="{14DD33D4-F2B4-4E27-98BD-BC92728343CB}"/>
              </a:ext>
            </a:extLst>
          </p:cNvPr>
          <p:cNvSpPr>
            <a:spLocks noGrp="1"/>
          </p:cNvSpPr>
          <p:nvPr>
            <p:ph type="sldNum" sz="quarter" idx="12"/>
          </p:nvPr>
        </p:nvSpPr>
        <p:spPr/>
        <p:txBody>
          <a:bodyPr/>
          <a:lstStyle/>
          <a:p>
            <a:fld id="{E1C5CB42-CF14-4293-8971-6DCD1AAE8BE7}" type="slidenum">
              <a:rPr lang="en-GB" smtClean="0"/>
              <a:t>100</a:t>
            </a:fld>
            <a:endParaRPr lang="en-GB"/>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CC315F-F711-43BA-8C23-8D50769E33D2}"/>
              </a:ext>
            </a:extLst>
          </p:cNvPr>
          <p:cNvSpPr>
            <a:spLocks noGrp="1"/>
          </p:cNvSpPr>
          <p:nvPr>
            <p:ph type="title"/>
          </p:nvPr>
        </p:nvSpPr>
        <p:spPr>
          <a:xfrm>
            <a:off x="839788" y="457200"/>
            <a:ext cx="3932237" cy="1600200"/>
          </a:xfrm>
        </p:spPr>
        <p:txBody>
          <a:bodyPr/>
          <a:lstStyle/>
          <a:p>
            <a:pPr marL="0" lvl="0" indent="0">
              <a:buNone/>
            </a:pPr>
            <a:r>
              <a:t>Sample size for comparing two proportions</a:t>
            </a:r>
          </a:p>
        </p:txBody>
      </p:sp>
      <p:sp>
        <p:nvSpPr>
          <p:cNvPr id="4" name="Text Placeholder 3">
            <a:extLst>
              <a:ext uri="{FF2B5EF4-FFF2-40B4-BE49-F238E27FC236}">
                <a16:creationId xmlns:a16="http://schemas.microsoft.com/office/drawing/2014/main" id="{F6C278EB-CD3C-4569-8B41-D3DDD3B4004E}"/>
              </a:ext>
            </a:extLst>
          </p:cNvPr>
          <p:cNvSpPr>
            <a:spLocks noGrp="1"/>
          </p:cNvSpPr>
          <p:nvPr>
            <p:ph type="body" sz="half" idx="2"/>
          </p:nvPr>
        </p:nvSpPr>
        <p:spPr>
          <a:xfrm>
            <a:off x="839788" y="2044460"/>
            <a:ext cx="3932237" cy="3811588"/>
          </a:xfrm>
        </p:spPr>
        <p:txBody>
          <a:bodyPr>
            <a:noAutofit/>
          </a:bodyPr>
          <a:lstStyle/>
          <a:p>
            <a:pPr marL="0" lvl="0" indent="0">
              <a:buNone/>
            </a:pPr>
            <a:r>
              <a:rPr sz="1100" dirty="0"/>
              <a:t>Suppose you want to study and compare the prevalence of HIV in 2 populations (e.g. </a:t>
            </a:r>
            <a:r>
              <a:rPr sz="1100" dirty="0" err="1"/>
              <a:t>Ndirande</a:t>
            </a:r>
            <a:r>
              <a:rPr sz="1100" dirty="0"/>
              <a:t> vs </a:t>
            </a:r>
            <a:r>
              <a:rPr sz="1100" dirty="0" err="1"/>
              <a:t>Chilomoni</a:t>
            </a:r>
            <a:r>
              <a:rPr sz="1100" dirty="0"/>
              <a:t>). To calculate the required sample size, you need:</a:t>
            </a:r>
          </a:p>
          <a:p>
            <a:pPr lvl="0"/>
            <a:r>
              <a:rPr sz="1100" dirty="0"/>
              <a:t>Estimate of prevalence of HIV in each area, </a:t>
            </a:r>
            <a:r>
              <a:rPr sz="1100" dirty="0" err="1"/>
              <a:t>e.g</a:t>
            </a:r>
            <a:r>
              <a:rPr sz="1100" dirty="0"/>
              <a:t> 10% and 15%.</a:t>
            </a:r>
          </a:p>
          <a:p>
            <a:pPr lvl="0"/>
            <a:r>
              <a:rPr sz="1100" dirty="0"/>
              <a:t>Significance level for the comparison, e.g. 0.05.</a:t>
            </a:r>
          </a:p>
          <a:p>
            <a:pPr lvl="0"/>
            <a:r>
              <a:rPr sz="1100" dirty="0"/>
              <a:t>The power to detect the difference, e.g. 0.9 (90% power).</a:t>
            </a:r>
          </a:p>
          <a:p>
            <a:pPr lvl="0" indent="0">
              <a:buNone/>
            </a:pPr>
            <a:br>
              <a:rPr sz="1100" dirty="0"/>
            </a:br>
            <a:r>
              <a:rPr sz="1100" dirty="0" err="1">
                <a:latin typeface="Courier"/>
              </a:rPr>
              <a:t>sampSizeTwoPropTest</a:t>
            </a:r>
            <a:r>
              <a:rPr sz="1100" dirty="0">
                <a:latin typeface="Courier"/>
              </a:rPr>
              <a:t> </a:t>
            </a:r>
            <a:r>
              <a:rPr sz="1100" dirty="0">
                <a:solidFill>
                  <a:srgbClr val="007020"/>
                </a:solidFill>
                <a:latin typeface="Courier"/>
              </a:rPr>
              <a:t>&lt;-</a:t>
            </a:r>
            <a:r>
              <a:rPr sz="1100" dirty="0">
                <a:latin typeface="Courier"/>
              </a:rPr>
              <a:t> </a:t>
            </a:r>
            <a:r>
              <a:rPr sz="1100" dirty="0">
                <a:solidFill>
                  <a:srgbClr val="06287E"/>
                </a:solidFill>
                <a:latin typeface="Courier"/>
              </a:rPr>
              <a:t>pwr.2p.test</a:t>
            </a:r>
            <a:r>
              <a:rPr sz="1100" dirty="0">
                <a:latin typeface="Courier"/>
              </a:rPr>
              <a:t>(</a:t>
            </a:r>
            <a:r>
              <a:rPr sz="1100" dirty="0">
                <a:solidFill>
                  <a:srgbClr val="7D9029"/>
                </a:solidFill>
                <a:latin typeface="Courier"/>
              </a:rPr>
              <a:t>h =</a:t>
            </a:r>
            <a:r>
              <a:rPr sz="1100" dirty="0">
                <a:latin typeface="Courier"/>
              </a:rPr>
              <a:t> </a:t>
            </a:r>
            <a:r>
              <a:rPr sz="1100" dirty="0" err="1">
                <a:solidFill>
                  <a:srgbClr val="06287E"/>
                </a:solidFill>
                <a:latin typeface="Courier"/>
              </a:rPr>
              <a:t>ES.h</a:t>
            </a:r>
            <a:r>
              <a:rPr sz="1100" dirty="0">
                <a:latin typeface="Courier"/>
              </a:rPr>
              <a:t>(</a:t>
            </a:r>
            <a:r>
              <a:rPr sz="1100" dirty="0">
                <a:solidFill>
                  <a:srgbClr val="7D9029"/>
                </a:solidFill>
                <a:latin typeface="Courier"/>
              </a:rPr>
              <a:t>p1=</a:t>
            </a:r>
            <a:r>
              <a:rPr sz="1100" dirty="0">
                <a:solidFill>
                  <a:srgbClr val="40A070"/>
                </a:solidFill>
                <a:latin typeface="Courier"/>
              </a:rPr>
              <a:t>0.10</a:t>
            </a:r>
            <a:r>
              <a:rPr sz="1100" dirty="0">
                <a:latin typeface="Courier"/>
              </a:rPr>
              <a:t>, </a:t>
            </a:r>
            <a:r>
              <a:rPr sz="1100" dirty="0">
                <a:solidFill>
                  <a:srgbClr val="7D9029"/>
                </a:solidFill>
                <a:latin typeface="Courier"/>
              </a:rPr>
              <a:t>p2=</a:t>
            </a:r>
            <a:r>
              <a:rPr sz="1100" dirty="0">
                <a:solidFill>
                  <a:srgbClr val="40A070"/>
                </a:solidFill>
                <a:latin typeface="Courier"/>
              </a:rPr>
              <a:t>0.15</a:t>
            </a:r>
            <a:r>
              <a:rPr sz="1100" dirty="0">
                <a:latin typeface="Courier"/>
              </a:rPr>
              <a:t>), </a:t>
            </a:r>
            <a:r>
              <a:rPr sz="1100" dirty="0" err="1">
                <a:solidFill>
                  <a:srgbClr val="7D9029"/>
                </a:solidFill>
                <a:latin typeface="Courier"/>
              </a:rPr>
              <a:t>sig.level</a:t>
            </a:r>
            <a:r>
              <a:rPr sz="1100" dirty="0">
                <a:solidFill>
                  <a:srgbClr val="7D9029"/>
                </a:solidFill>
                <a:latin typeface="Courier"/>
              </a:rPr>
              <a:t>=</a:t>
            </a:r>
            <a:r>
              <a:rPr sz="1100" dirty="0">
                <a:solidFill>
                  <a:srgbClr val="40A070"/>
                </a:solidFill>
                <a:latin typeface="Courier"/>
              </a:rPr>
              <a:t>0.05</a:t>
            </a:r>
            <a:r>
              <a:rPr sz="1100" dirty="0">
                <a:latin typeface="Courier"/>
              </a:rPr>
              <a:t>, </a:t>
            </a:r>
            <a:r>
              <a:rPr sz="1100" dirty="0">
                <a:solidFill>
                  <a:srgbClr val="7D9029"/>
                </a:solidFill>
                <a:latin typeface="Courier"/>
              </a:rPr>
              <a:t>power=</a:t>
            </a:r>
            <a:r>
              <a:rPr sz="1100" dirty="0">
                <a:solidFill>
                  <a:srgbClr val="40A070"/>
                </a:solidFill>
                <a:latin typeface="Courier"/>
              </a:rPr>
              <a:t>0.9</a:t>
            </a:r>
            <a:r>
              <a:rPr sz="1100" dirty="0">
                <a:latin typeface="Courier"/>
              </a:rPr>
              <a:t>)</a:t>
            </a:r>
            <a:br>
              <a:rPr sz="1100" dirty="0"/>
            </a:br>
            <a:r>
              <a:rPr sz="1100" dirty="0" err="1">
                <a:latin typeface="Courier"/>
              </a:rPr>
              <a:t>sampSizeTwoPropTest</a:t>
            </a:r>
            <a:br>
              <a:rPr sz="1100" dirty="0"/>
            </a:br>
            <a:r>
              <a:rPr sz="1100" i="1" dirty="0">
                <a:solidFill>
                  <a:srgbClr val="BA2121"/>
                </a:solidFill>
                <a:latin typeface="Courier"/>
              </a:rPr>
              <a:t>## </a:t>
            </a:r>
            <a:br>
              <a:rPr sz="1100" dirty="0"/>
            </a:br>
            <a:r>
              <a:rPr sz="1100" i="1" dirty="0">
                <a:solidFill>
                  <a:srgbClr val="BA2121"/>
                </a:solidFill>
                <a:latin typeface="Courier"/>
              </a:rPr>
              <a:t>##      Difference of proportion power calculation for binomial distribution (arcsine transformation) </a:t>
            </a:r>
            <a:br>
              <a:rPr sz="1100" dirty="0"/>
            </a:br>
            <a:r>
              <a:rPr sz="1100" i="1" dirty="0">
                <a:solidFill>
                  <a:srgbClr val="BA2121"/>
                </a:solidFill>
                <a:latin typeface="Courier"/>
              </a:rPr>
              <a:t>## </a:t>
            </a:r>
            <a:br>
              <a:rPr sz="1100" dirty="0"/>
            </a:br>
            <a:r>
              <a:rPr sz="1100" i="1" dirty="0">
                <a:solidFill>
                  <a:srgbClr val="BA2121"/>
                </a:solidFill>
                <a:latin typeface="Courier"/>
              </a:rPr>
              <a:t>##               h = 0.1518977</a:t>
            </a:r>
            <a:br>
              <a:rPr sz="1100" dirty="0"/>
            </a:br>
            <a:r>
              <a:rPr sz="1100" i="1" dirty="0">
                <a:solidFill>
                  <a:srgbClr val="BA2121"/>
                </a:solidFill>
                <a:latin typeface="Courier"/>
              </a:rPr>
              <a:t>##               n = 910.8011</a:t>
            </a:r>
            <a:br>
              <a:rPr sz="1100" dirty="0"/>
            </a:br>
            <a:r>
              <a:rPr sz="1100" i="1" dirty="0">
                <a:solidFill>
                  <a:srgbClr val="BA2121"/>
                </a:solidFill>
                <a:latin typeface="Courier"/>
              </a:rPr>
              <a:t>##       </a:t>
            </a:r>
            <a:r>
              <a:rPr sz="1100" i="1" dirty="0" err="1">
                <a:solidFill>
                  <a:srgbClr val="BA2121"/>
                </a:solidFill>
                <a:latin typeface="Courier"/>
              </a:rPr>
              <a:t>sig.level</a:t>
            </a:r>
            <a:r>
              <a:rPr sz="1100" i="1" dirty="0">
                <a:solidFill>
                  <a:srgbClr val="BA2121"/>
                </a:solidFill>
                <a:latin typeface="Courier"/>
              </a:rPr>
              <a:t> = 0.05</a:t>
            </a:r>
            <a:br>
              <a:rPr sz="1100" dirty="0"/>
            </a:br>
            <a:r>
              <a:rPr sz="1100" i="1" dirty="0">
                <a:solidFill>
                  <a:srgbClr val="BA2121"/>
                </a:solidFill>
                <a:latin typeface="Courier"/>
              </a:rPr>
              <a:t>##           power = 0.9</a:t>
            </a:r>
            <a:br>
              <a:rPr sz="1100" dirty="0"/>
            </a:br>
            <a:r>
              <a:rPr sz="1100" i="1" dirty="0">
                <a:solidFill>
                  <a:srgbClr val="BA2121"/>
                </a:solidFill>
                <a:latin typeface="Courier"/>
              </a:rPr>
              <a:t>##     alternative = </a:t>
            </a:r>
            <a:r>
              <a:rPr sz="1100" i="1" dirty="0" err="1">
                <a:solidFill>
                  <a:srgbClr val="BA2121"/>
                </a:solidFill>
                <a:latin typeface="Courier"/>
              </a:rPr>
              <a:t>two.sided</a:t>
            </a:r>
            <a:br>
              <a:rPr sz="1100" dirty="0"/>
            </a:br>
            <a:r>
              <a:rPr sz="1100" i="1" dirty="0">
                <a:solidFill>
                  <a:srgbClr val="BA2121"/>
                </a:solidFill>
                <a:latin typeface="Courier"/>
              </a:rPr>
              <a:t>## </a:t>
            </a:r>
            <a:br>
              <a:rPr sz="1100" dirty="0"/>
            </a:br>
            <a:r>
              <a:rPr sz="1100" i="1" dirty="0">
                <a:solidFill>
                  <a:srgbClr val="BA2121"/>
                </a:solidFill>
                <a:latin typeface="Courier"/>
              </a:rPr>
              <a:t>## </a:t>
            </a:r>
            <a:r>
              <a:rPr sz="1100" b="1" dirty="0">
                <a:solidFill>
                  <a:srgbClr val="FF0000"/>
                </a:solidFill>
                <a:latin typeface="Courier"/>
              </a:rPr>
              <a:t>NOTE</a:t>
            </a:r>
            <a:r>
              <a:rPr sz="1100" i="1" dirty="0">
                <a:solidFill>
                  <a:srgbClr val="BA2121"/>
                </a:solidFill>
                <a:latin typeface="Courier"/>
              </a:rPr>
              <a:t>: same sample sizes</a:t>
            </a:r>
            <a:br>
              <a:rPr sz="1100" dirty="0"/>
            </a:br>
            <a:br>
              <a:rPr sz="1100" dirty="0"/>
            </a:br>
            <a:r>
              <a:rPr sz="1100" dirty="0">
                <a:solidFill>
                  <a:srgbClr val="06287E"/>
                </a:solidFill>
                <a:latin typeface="Courier"/>
              </a:rPr>
              <a:t>plot</a:t>
            </a:r>
            <a:r>
              <a:rPr sz="1100" dirty="0">
                <a:latin typeface="Courier"/>
              </a:rPr>
              <a:t>(</a:t>
            </a:r>
            <a:r>
              <a:rPr sz="1100" dirty="0" err="1">
                <a:latin typeface="Courier"/>
              </a:rPr>
              <a:t>sampSizeTwoPropTest</a:t>
            </a:r>
            <a:r>
              <a:rPr sz="1100" dirty="0">
                <a:latin typeface="Courier"/>
              </a:rPr>
              <a:t>)</a:t>
            </a:r>
          </a:p>
        </p:txBody>
      </p:sp>
      <p:pic>
        <p:nvPicPr>
          <p:cNvPr id="3" name="Picture 1" descr="MLW_KUHeS_RandStatistics_Session4_files/figure-pptx/unnamed-chunk-31-1.png"/>
          <p:cNvPicPr>
            <a:picLocks noGrp="1" noChangeAspect="1"/>
          </p:cNvPicPr>
          <p:nvPr/>
        </p:nvPicPr>
        <p:blipFill>
          <a:blip r:embed="rId2"/>
          <a:stretch>
            <a:fillRect/>
          </a:stretch>
        </p:blipFill>
        <p:spPr bwMode="auto">
          <a:xfrm>
            <a:off x="5181600" y="1676400"/>
            <a:ext cx="6172200" cy="3467100"/>
          </a:xfrm>
          <a:prstGeom prst="rect">
            <a:avLst/>
          </a:prstGeom>
          <a:noFill/>
          <a:ln w="9525">
            <a:noFill/>
            <a:headEnd/>
            <a:tailEnd/>
          </a:ln>
        </p:spPr>
      </p:pic>
      <p:sp>
        <p:nvSpPr>
          <p:cNvPr id="7" name="Slide Number Placeholder 6">
            <a:extLst>
              <a:ext uri="{FF2B5EF4-FFF2-40B4-BE49-F238E27FC236}">
                <a16:creationId xmlns:a16="http://schemas.microsoft.com/office/drawing/2014/main" id="{14DD33D4-F2B4-4E27-98BD-BC92728343CB}"/>
              </a:ext>
            </a:extLst>
          </p:cNvPr>
          <p:cNvSpPr>
            <a:spLocks noGrp="1"/>
          </p:cNvSpPr>
          <p:nvPr>
            <p:ph type="sldNum" sz="quarter" idx="12"/>
          </p:nvPr>
        </p:nvSpPr>
        <p:spPr/>
        <p:txBody>
          <a:bodyPr/>
          <a:lstStyle/>
          <a:p>
            <a:fld id="{E1C5CB42-CF14-4293-8971-6DCD1AAE8BE7}" type="slidenum">
              <a:rPr lang="en-GB" smtClean="0"/>
              <a:t>101</a:t>
            </a:fld>
            <a:endParaRPr lang="en-GB"/>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marL="0" lvl="0" indent="0">
              <a:buNone/>
            </a:pPr>
            <a:r>
              <a:t>Sample size for estimating a mean</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a:xfrm>
                <a:off x="838200" y="1690688"/>
                <a:ext cx="10515600" cy="4667250"/>
              </a:xfrm>
            </p:spPr>
            <p:txBody>
              <a:bodyPr>
                <a:normAutofit fontScale="92500" lnSpcReduction="20000"/>
              </a:bodyPr>
              <a:lstStyle/>
              <a:p>
                <a:pPr lvl="0"/>
                <a:r>
                  <a:rPr dirty="0"/>
                  <a:t>Provide estimate of standard deviation </a:t>
                </a:r>
                <a14:m>
                  <m:oMath xmlns:m="http://schemas.openxmlformats.org/officeDocument/2006/math">
                    <m:r>
                      <a:rPr>
                        <a:latin typeface="Cambria Math" panose="02040503050406030204" pitchFamily="18" charset="0"/>
                      </a:rPr>
                      <m:t>𝜎</m:t>
                    </m:r>
                  </m:oMath>
                </a14:m>
                <a:r>
                  <a:rPr dirty="0"/>
                  <a:t> of mean you intend to estimate - usually from previous studies, e.g. 12.4.</a:t>
                </a:r>
              </a:p>
              <a:p>
                <a:pPr lvl="0"/>
                <a:r>
                  <a:rPr dirty="0"/>
                  <a:t>Decide confidence level. </a:t>
                </a:r>
                <a:r>
                  <a:rPr dirty="0" err="1"/>
                  <a:t>e.g</a:t>
                </a:r>
                <a:r>
                  <a:rPr dirty="0"/>
                  <a:t> 95% confidence interval.</a:t>
                </a:r>
              </a:p>
              <a:p>
                <a:pPr lvl="0"/>
                <a:r>
                  <a:rPr dirty="0"/>
                  <a:t>Decide how much variation around the true level you will allow in the estimation (margin of error </a:t>
                </a:r>
                <a14:m>
                  <m:oMath xmlns:m="http://schemas.openxmlformats.org/officeDocument/2006/math">
                    <m:r>
                      <a:rPr>
                        <a:latin typeface="Cambria Math" panose="02040503050406030204" pitchFamily="18" charset="0"/>
                      </a:rPr>
                      <m:t>𝐸</m:t>
                    </m:r>
                  </m:oMath>
                </a14:m>
                <a:r>
                  <a:rPr dirty="0"/>
                  <a:t>), e.g. </a:t>
                </a:r>
                <a14:m>
                  <m:oMath xmlns:m="http://schemas.openxmlformats.org/officeDocument/2006/math">
                    <m:r>
                      <a:rPr>
                        <a:latin typeface="Cambria Math" panose="02040503050406030204" pitchFamily="18" charset="0"/>
                      </a:rPr>
                      <m:t>𝐸</m:t>
                    </m:r>
                    <m:r>
                      <a:rPr>
                        <a:latin typeface="Cambria Math" panose="02040503050406030204" pitchFamily="18" charset="0"/>
                      </a:rPr>
                      <m:t>=5</m:t>
                    </m:r>
                  </m:oMath>
                </a14:m>
                <a:r>
                  <a:rPr dirty="0"/>
                  <a:t>.</a:t>
                </a:r>
              </a:p>
              <a:p>
                <a:pPr lvl="0"/>
                <a:r>
                  <a:rPr dirty="0"/>
                  <a:t>Assuming a large population and known </a:t>
                </a:r>
                <a14:m>
                  <m:oMath xmlns:m="http://schemas.openxmlformats.org/officeDocument/2006/math">
                    <m:r>
                      <a:rPr>
                        <a:latin typeface="Cambria Math" panose="02040503050406030204" pitchFamily="18" charset="0"/>
                      </a:rPr>
                      <m:t>𝜎</m:t>
                    </m:r>
                  </m:oMath>
                </a14:m>
                <a:r>
                  <a:rPr dirty="0"/>
                  <a:t>, the formula is</a:t>
                </a:r>
              </a:p>
              <a:p>
                <a:pPr marL="0" lvl="0" indent="0">
                  <a:buNone/>
                </a:pPr>
                <a14:m>
                  <m:oMathPara xmlns:m="http://schemas.openxmlformats.org/officeDocument/2006/math">
                    <m:oMathParaPr>
                      <m:jc m:val="center"/>
                    </m:oMathParaPr>
                    <m:oMath xmlns:m="http://schemas.openxmlformats.org/officeDocument/2006/math">
                      <m:r>
                        <a:rPr>
                          <a:latin typeface="Cambria Math" panose="02040503050406030204" pitchFamily="18" charset="0"/>
                        </a:rPr>
                        <m:t>𝑛</m:t>
                      </m:r>
                      <m:r>
                        <a:rPr>
                          <a:latin typeface="Cambria Math" panose="02040503050406030204" pitchFamily="18" charset="0"/>
                        </a:rPr>
                        <m:t>=</m:t>
                      </m:r>
                      <m:sSup>
                        <m:sSupPr>
                          <m:ctrlPr>
                            <a:rPr i="1">
                              <a:latin typeface="Cambria Math" panose="02040503050406030204" pitchFamily="18" charset="0"/>
                            </a:rPr>
                          </m:ctrlPr>
                        </m:sSupPr>
                        <m:e>
                          <m:d>
                            <m:dPr>
                              <m:ctrlPr>
                                <a:rPr i="1">
                                  <a:latin typeface="Cambria Math" panose="02040503050406030204" pitchFamily="18" charset="0"/>
                                </a:rPr>
                              </m:ctrlPr>
                            </m:dPr>
                            <m:e>
                              <m:f>
                                <m:fPr>
                                  <m:ctrlPr>
                                    <a:rPr i="1">
                                      <a:latin typeface="Cambria Math" panose="02040503050406030204" pitchFamily="18" charset="0"/>
                                    </a:rPr>
                                  </m:ctrlPr>
                                </m:fPr>
                                <m:num>
                                  <m:r>
                                    <a:rPr>
                                      <a:latin typeface="Cambria Math" panose="02040503050406030204" pitchFamily="18" charset="0"/>
                                    </a:rPr>
                                    <m:t>1.96∗</m:t>
                                  </m:r>
                                  <m:r>
                                    <a:rPr>
                                      <a:latin typeface="Cambria Math" panose="02040503050406030204" pitchFamily="18" charset="0"/>
                                    </a:rPr>
                                    <m:t>𝜎</m:t>
                                  </m:r>
                                </m:num>
                                <m:den>
                                  <m:r>
                                    <a:rPr>
                                      <a:latin typeface="Cambria Math" panose="02040503050406030204" pitchFamily="18" charset="0"/>
                                    </a:rPr>
                                    <m:t>𝐸</m:t>
                                  </m:r>
                                </m:den>
                              </m:f>
                            </m:e>
                          </m:d>
                        </m:e>
                        <m:sup>
                          <m:r>
                            <a:rPr>
                              <a:latin typeface="Cambria Math" panose="02040503050406030204" pitchFamily="18" charset="0"/>
                            </a:rPr>
                            <m:t>2</m:t>
                          </m:r>
                        </m:sup>
                      </m:sSup>
                    </m:oMath>
                  </m:oMathPara>
                </a14:m>
                <a:endParaRPr dirty="0"/>
              </a:p>
              <a:p>
                <a:pPr marL="0" lvl="0" indent="0">
                  <a:buNone/>
                </a:pPr>
                <a:r>
                  <a:rPr dirty="0"/>
                  <a:t>## Sample size for estimating a mean</a:t>
                </a:r>
              </a:p>
              <a:p>
                <a:pPr lvl="0" indent="0">
                  <a:buNone/>
                </a:pPr>
                <a:r>
                  <a:rPr dirty="0" err="1">
                    <a:latin typeface="Courier"/>
                  </a:rPr>
                  <a:t>sampSizeOneMean</a:t>
                </a:r>
                <a:r>
                  <a:rPr dirty="0">
                    <a:solidFill>
                      <a:srgbClr val="007020"/>
                    </a:solidFill>
                    <a:latin typeface="Courier"/>
                  </a:rPr>
                  <a:t>&lt;-</a:t>
                </a:r>
                <a:r>
                  <a:rPr b="1" dirty="0">
                    <a:solidFill>
                      <a:srgbClr val="007020"/>
                    </a:solidFill>
                    <a:latin typeface="Courier"/>
                  </a:rPr>
                  <a:t>function</a:t>
                </a:r>
                <a:r>
                  <a:rPr dirty="0">
                    <a:latin typeface="Courier"/>
                  </a:rPr>
                  <a:t>(</a:t>
                </a:r>
                <a:r>
                  <a:rPr dirty="0" err="1">
                    <a:latin typeface="Courier"/>
                  </a:rPr>
                  <a:t>sd,E,</a:t>
                </a:r>
                <a:r>
                  <a:rPr dirty="0" err="1">
                    <a:solidFill>
                      <a:srgbClr val="7D9029"/>
                    </a:solidFill>
                    <a:latin typeface="Courier"/>
                  </a:rPr>
                  <a:t>alpha</a:t>
                </a:r>
                <a:r>
                  <a:rPr dirty="0">
                    <a:solidFill>
                      <a:srgbClr val="7D9029"/>
                    </a:solidFill>
                    <a:latin typeface="Courier"/>
                  </a:rPr>
                  <a:t>=</a:t>
                </a:r>
                <a:r>
                  <a:rPr dirty="0">
                    <a:solidFill>
                      <a:srgbClr val="40A070"/>
                    </a:solidFill>
                    <a:latin typeface="Courier"/>
                  </a:rPr>
                  <a:t>0.05</a:t>
                </a:r>
                <a:r>
                  <a:rPr dirty="0">
                    <a:latin typeface="Courier"/>
                  </a:rPr>
                  <a:t>){</a:t>
                </a:r>
                <a:br>
                  <a:rPr dirty="0"/>
                </a:br>
                <a:r>
                  <a:rPr dirty="0">
                    <a:latin typeface="Courier"/>
                  </a:rPr>
                  <a:t>  n</a:t>
                </a:r>
                <a:r>
                  <a:rPr dirty="0">
                    <a:solidFill>
                      <a:srgbClr val="007020"/>
                    </a:solidFill>
                    <a:latin typeface="Courier"/>
                  </a:rPr>
                  <a:t>&lt;-</a:t>
                </a:r>
                <a:r>
                  <a:rPr dirty="0">
                    <a:latin typeface="Courier"/>
                  </a:rPr>
                  <a:t>(</a:t>
                </a:r>
                <a:r>
                  <a:rPr dirty="0" err="1">
                    <a:solidFill>
                      <a:srgbClr val="06287E"/>
                    </a:solidFill>
                    <a:latin typeface="Courier"/>
                  </a:rPr>
                  <a:t>qnorm</a:t>
                </a:r>
                <a:r>
                  <a:rPr dirty="0">
                    <a:latin typeface="Courier"/>
                  </a:rPr>
                  <a:t>(</a:t>
                </a:r>
                <a:r>
                  <a:rPr dirty="0">
                    <a:solidFill>
                      <a:srgbClr val="40A070"/>
                    </a:solidFill>
                    <a:latin typeface="Courier"/>
                  </a:rPr>
                  <a:t>1</a:t>
                </a:r>
                <a:r>
                  <a:rPr dirty="0">
                    <a:solidFill>
                      <a:srgbClr val="4070A0"/>
                    </a:solidFill>
                    <a:latin typeface="Courier"/>
                  </a:rPr>
                  <a:t>-</a:t>
                </a:r>
                <a:r>
                  <a:rPr dirty="0">
                    <a:latin typeface="Courier"/>
                  </a:rPr>
                  <a:t>alpha</a:t>
                </a:r>
                <a:r>
                  <a:rPr dirty="0">
                    <a:solidFill>
                      <a:srgbClr val="4070A0"/>
                    </a:solidFill>
                    <a:latin typeface="Courier"/>
                  </a:rPr>
                  <a:t>/</a:t>
                </a:r>
                <a:r>
                  <a:rPr dirty="0">
                    <a:solidFill>
                      <a:srgbClr val="40A070"/>
                    </a:solidFill>
                    <a:latin typeface="Courier"/>
                  </a:rPr>
                  <a:t>2</a:t>
                </a:r>
                <a:r>
                  <a:rPr dirty="0">
                    <a:latin typeface="Courier"/>
                  </a:rPr>
                  <a:t>)</a:t>
                </a:r>
                <a:r>
                  <a:rPr dirty="0">
                    <a:solidFill>
                      <a:srgbClr val="4070A0"/>
                    </a:solidFill>
                    <a:latin typeface="Courier"/>
                  </a:rPr>
                  <a:t>*</a:t>
                </a:r>
                <a:r>
                  <a:rPr dirty="0" err="1">
                    <a:latin typeface="Courier"/>
                  </a:rPr>
                  <a:t>sd</a:t>
                </a:r>
                <a:r>
                  <a:rPr dirty="0">
                    <a:solidFill>
                      <a:srgbClr val="4070A0"/>
                    </a:solidFill>
                    <a:latin typeface="Courier"/>
                  </a:rPr>
                  <a:t>/</a:t>
                </a:r>
                <a:r>
                  <a:rPr dirty="0">
                    <a:latin typeface="Courier"/>
                  </a:rPr>
                  <a:t>E)</a:t>
                </a:r>
                <a:r>
                  <a:rPr dirty="0">
                    <a:solidFill>
                      <a:srgbClr val="4070A0"/>
                    </a:solidFill>
                    <a:latin typeface="Courier"/>
                  </a:rPr>
                  <a:t>^</a:t>
                </a:r>
                <a:r>
                  <a:rPr dirty="0">
                    <a:solidFill>
                      <a:srgbClr val="40A070"/>
                    </a:solidFill>
                    <a:latin typeface="Courier"/>
                  </a:rPr>
                  <a:t>2</a:t>
                </a:r>
                <a:br>
                  <a:rPr dirty="0"/>
                </a:br>
                <a:r>
                  <a:rPr dirty="0">
                    <a:latin typeface="Courier"/>
                  </a:rPr>
                  <a:t>  </a:t>
                </a:r>
                <a:r>
                  <a:rPr dirty="0">
                    <a:solidFill>
                      <a:srgbClr val="06287E"/>
                    </a:solidFill>
                    <a:latin typeface="Courier"/>
                  </a:rPr>
                  <a:t>return</a:t>
                </a:r>
                <a:r>
                  <a:rPr dirty="0">
                    <a:latin typeface="Courier"/>
                  </a:rPr>
                  <a:t>(</a:t>
                </a:r>
                <a:r>
                  <a:rPr dirty="0">
                    <a:solidFill>
                      <a:srgbClr val="06287E"/>
                    </a:solidFill>
                    <a:latin typeface="Courier"/>
                  </a:rPr>
                  <a:t>ceiling</a:t>
                </a:r>
                <a:r>
                  <a:rPr dirty="0">
                    <a:latin typeface="Courier"/>
                  </a:rPr>
                  <a:t>(n))</a:t>
                </a:r>
                <a:br>
                  <a:rPr dirty="0"/>
                </a:br>
                <a:r>
                  <a:rPr dirty="0">
                    <a:latin typeface="Courier"/>
                  </a:rPr>
                  <a:t>}</a:t>
                </a:r>
                <a:br>
                  <a:rPr dirty="0"/>
                </a:br>
                <a:br>
                  <a:rPr dirty="0"/>
                </a:br>
                <a:r>
                  <a:rPr dirty="0" err="1">
                    <a:solidFill>
                      <a:srgbClr val="06287E"/>
                    </a:solidFill>
                    <a:latin typeface="Courier"/>
                  </a:rPr>
                  <a:t>sampSizeOneMean</a:t>
                </a:r>
                <a:r>
                  <a:rPr dirty="0">
                    <a:latin typeface="Courier"/>
                  </a:rPr>
                  <a:t>(</a:t>
                </a:r>
                <a:r>
                  <a:rPr dirty="0" err="1">
                    <a:solidFill>
                      <a:srgbClr val="7D9029"/>
                    </a:solidFill>
                    <a:latin typeface="Courier"/>
                  </a:rPr>
                  <a:t>sd</a:t>
                </a:r>
                <a:r>
                  <a:rPr dirty="0">
                    <a:solidFill>
                      <a:srgbClr val="7D9029"/>
                    </a:solidFill>
                    <a:latin typeface="Courier"/>
                  </a:rPr>
                  <a:t>=</a:t>
                </a:r>
                <a:r>
                  <a:rPr dirty="0">
                    <a:solidFill>
                      <a:srgbClr val="40A070"/>
                    </a:solidFill>
                    <a:latin typeface="Courier"/>
                  </a:rPr>
                  <a:t>12.4</a:t>
                </a:r>
                <a:r>
                  <a:rPr dirty="0">
                    <a:latin typeface="Courier"/>
                  </a:rPr>
                  <a:t>,</a:t>
                </a:r>
                <a:r>
                  <a:rPr dirty="0">
                    <a:solidFill>
                      <a:srgbClr val="7D9029"/>
                    </a:solidFill>
                    <a:latin typeface="Courier"/>
                  </a:rPr>
                  <a:t>E=</a:t>
                </a:r>
                <a:r>
                  <a:rPr dirty="0">
                    <a:solidFill>
                      <a:srgbClr val="40A070"/>
                    </a:solidFill>
                    <a:latin typeface="Courier"/>
                  </a:rPr>
                  <a:t>5</a:t>
                </a:r>
                <a:r>
                  <a:rPr dirty="0">
                    <a:latin typeface="Courier"/>
                  </a:rPr>
                  <a:t>)</a:t>
                </a:r>
                <a:br>
                  <a:rPr dirty="0"/>
                </a:br>
                <a:r>
                  <a:rPr i="1" dirty="0">
                    <a:solidFill>
                      <a:srgbClr val="BA2121"/>
                    </a:solidFill>
                    <a:latin typeface="Courier"/>
                  </a:rPr>
                  <a:t>## [1] 24</a:t>
                </a:r>
              </a:p>
            </p:txBody>
          </p:sp>
        </mc:Choice>
        <mc:Fallback>
          <p:sp>
            <p:nvSpPr>
              <p:cNvPr id="3" name="Content Placeholder 2">
                <a:extLst>
                  <a:ext uri="{FF2B5EF4-FFF2-40B4-BE49-F238E27FC236}">
                    <a16:creationId xmlns:a16="http://schemas.microsoft.com/office/drawing/2014/main" id="{288BC91F-1C76-43AE-8B2A-956D48B768BE}"/>
                  </a:ext>
                </a:extLst>
              </p:cNvPr>
              <p:cNvSpPr>
                <a:spLocks noGrp="1" noRot="1" noChangeAspect="1" noMove="1" noResize="1" noEditPoints="1" noAdjustHandles="1" noChangeArrowheads="1" noChangeShapeType="1" noTextEdit="1"/>
              </p:cNvSpPr>
              <p:nvPr>
                <p:ph idx="1"/>
              </p:nvPr>
            </p:nvSpPr>
            <p:spPr>
              <a:xfrm>
                <a:off x="838200" y="1690688"/>
                <a:ext cx="10515600" cy="4667250"/>
              </a:xfrm>
              <a:blipFill>
                <a:blip r:embed="rId2"/>
                <a:stretch>
                  <a:fillRect l="-638" t="-2350" r="-406"/>
                </a:stretch>
              </a:blipFill>
            </p:spPr>
            <p:txBody>
              <a:bodyPr/>
              <a:lstStyle/>
              <a:p>
                <a:r>
                  <a:rPr lang="en-US">
                    <a:noFill/>
                  </a:rPr>
                  <a:t> </a:t>
                </a:r>
              </a:p>
            </p:txBody>
          </p:sp>
        </mc:Fallback>
      </mc:AlternateContent>
      <p:sp>
        <p:nvSpPr>
          <p:cNvPr id="6" name="Slide Number Placeholder 5">
            <a:extLst>
              <a:ext uri="{FF2B5EF4-FFF2-40B4-BE49-F238E27FC236}">
                <a16:creationId xmlns:a16="http://schemas.microsoft.com/office/drawing/2014/main" id="{C03F998A-2A5E-471F-9FEB-2559B0A7F93D}"/>
              </a:ext>
            </a:extLst>
          </p:cNvPr>
          <p:cNvSpPr>
            <a:spLocks noGrp="1"/>
          </p:cNvSpPr>
          <p:nvPr>
            <p:ph type="sldNum" sz="quarter" idx="12"/>
          </p:nvPr>
        </p:nvSpPr>
        <p:spPr/>
        <p:txBody>
          <a:bodyPr/>
          <a:lstStyle/>
          <a:p>
            <a:fld id="{E1C5CB42-CF14-4293-8971-6DCD1AAE8BE7}" type="slidenum">
              <a:rPr lang="en-GB" smtClean="0"/>
              <a:t>102</a:t>
            </a:fld>
            <a:endParaRPr lang="en-GB"/>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marL="0" lvl="0" indent="0">
              <a:buNone/>
            </a:pPr>
            <a:r>
              <a:t>Sample size for comparing two means</a:t>
            </a:r>
          </a:p>
        </p:txBody>
      </p:sp>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p:txBody>
          <a:bodyPr/>
          <a:lstStyle/>
          <a:p>
            <a:pPr lvl="0"/>
            <a:r>
              <a:t>First, provide an estimate of the standard deviation </a:t>
            </a:r>
            <a14:m xmlns:a14="http://schemas.microsoft.com/office/drawing/2010/main">
              <m:oMath xmlns:m="http://schemas.openxmlformats.org/officeDocument/2006/math">
                <m:r>
                  <a:rPr>
                    <a:latin typeface="Cambria Math" panose="02040503050406030204" pitchFamily="18" charset="0"/>
                  </a:rPr>
                  <m:t>𝜎</m:t>
                </m:r>
              </m:oMath>
            </a14:m>
            <a:r>
              <a:t> of two means you intend to compare - this is usually obtained from previous studies.</a:t>
            </a:r>
          </a:p>
          <a:p>
            <a:pPr lvl="0"/>
            <a:r>
              <a:t>Decide what your confidence level will be. E.g 95% confidence interval / significance level of 0.05.</a:t>
            </a:r>
          </a:p>
          <a:p>
            <a:pPr lvl="0"/>
            <a:r>
              <a:t>Decide power of your study: 0.8 or 0.9 (80% or 90%).</a:t>
            </a:r>
          </a:p>
          <a:p>
            <a:pPr lvl="0"/>
            <a:r>
              <a:t>Decide what the minimum difference (effect size) between groups, </a:t>
            </a:r>
            <a14:m xmlns:a14="http://schemas.microsoft.com/office/drawing/2010/main">
              <m:oMath xmlns:m="http://schemas.openxmlformats.org/officeDocument/2006/math">
                <m:r>
                  <a:rPr>
                    <a:latin typeface="Cambria Math" panose="02040503050406030204" pitchFamily="18" charset="0"/>
                  </a:rPr>
                  <m:t>𝛿</m:t>
                </m:r>
                <m:r>
                  <a:rPr>
                    <a:latin typeface="Cambria Math" panose="02040503050406030204" pitchFamily="18" charset="0"/>
                  </a:rPr>
                  <m:t>=</m:t>
                </m:r>
                <m:sSub>
                  <m:sSubPr>
                    <m:ctrlPr>
                      <a:rPr i="1">
                        <a:latin typeface="Cambria Math" panose="02040503050406030204" pitchFamily="18" charset="0"/>
                      </a:rPr>
                    </m:ctrlPr>
                  </m:sSubPr>
                  <m:e>
                    <m:acc>
                      <m:accPr>
                        <m:chr m:val="‾"/>
                        <m:ctrlPr>
                          <a:rPr i="1">
                            <a:latin typeface="Cambria Math" panose="02040503050406030204" pitchFamily="18" charset="0"/>
                          </a:rPr>
                        </m:ctrlPr>
                      </m:accPr>
                      <m:e>
                        <m:r>
                          <a:rPr>
                            <a:latin typeface="Cambria Math" panose="02040503050406030204" pitchFamily="18" charset="0"/>
                          </a:rPr>
                          <m:t>𝑥</m:t>
                        </m:r>
                      </m:e>
                    </m:acc>
                  </m:e>
                  <m:sub>
                    <m:r>
                      <a:rPr>
                        <a:latin typeface="Cambria Math" panose="02040503050406030204" pitchFamily="18" charset="0"/>
                      </a:rPr>
                      <m:t>2</m:t>
                    </m:r>
                  </m:sub>
                </m:sSub>
                <m:r>
                  <a:rPr>
                    <a:latin typeface="Cambria Math" panose="02040503050406030204" pitchFamily="18" charset="0"/>
                  </a:rPr>
                  <m:t>−</m:t>
                </m:r>
                <m:sSub>
                  <m:sSubPr>
                    <m:ctrlPr>
                      <a:rPr i="1">
                        <a:latin typeface="Cambria Math" panose="02040503050406030204" pitchFamily="18" charset="0"/>
                      </a:rPr>
                    </m:ctrlPr>
                  </m:sSubPr>
                  <m:e>
                    <m:acc>
                      <m:accPr>
                        <m:chr m:val="‾"/>
                        <m:ctrlPr>
                          <a:rPr i="1">
                            <a:latin typeface="Cambria Math" panose="02040503050406030204" pitchFamily="18" charset="0"/>
                          </a:rPr>
                        </m:ctrlPr>
                      </m:accPr>
                      <m:e>
                        <m:r>
                          <a:rPr>
                            <a:latin typeface="Cambria Math" panose="02040503050406030204" pitchFamily="18" charset="0"/>
                          </a:rPr>
                          <m:t>𝑥</m:t>
                        </m:r>
                      </m:e>
                    </m:acc>
                  </m:e>
                  <m:sub>
                    <m:r>
                      <a:rPr>
                        <a:latin typeface="Cambria Math" panose="02040503050406030204" pitchFamily="18" charset="0"/>
                      </a:rPr>
                      <m:t>1</m:t>
                    </m:r>
                  </m:sub>
                </m:sSub>
              </m:oMath>
            </a14:m>
            <a:r>
              <a:t>, that you would still want to be powered to detect should be.</a:t>
            </a:r>
          </a:p>
          <a:p>
            <a:pPr lvl="0"/>
            <a:r>
              <a:rPr>
                <a:latin typeface="Courier"/>
              </a:rPr>
              <a:t>pwr</a:t>
            </a:r>
            <a:r>
              <a:t> expresses the effect size using Cohen’s d statistic, which is defined as</a:t>
            </a:r>
          </a:p>
          <a:p>
            <a:pPr marL="0" lvl="0" indent="0">
              <a:buNone/>
            </a:pPr>
            <a14:m xmlns:a14="http://schemas.microsoft.com/office/drawing/2010/main">
              <m:oMathPara xmlns:m="http://schemas.openxmlformats.org/officeDocument/2006/math">
                <m:oMathParaPr>
                  <m:jc m:val="center"/>
                </m:oMathParaPr>
                <m:oMath xmlns:m="http://schemas.openxmlformats.org/officeDocument/2006/math">
                  <m:r>
                    <a:rPr>
                      <a:latin typeface="Cambria Math" panose="02040503050406030204" pitchFamily="18" charset="0"/>
                    </a:rPr>
                    <m:t>𝑑</m:t>
                  </m:r>
                  <m:r>
                    <a:rPr>
                      <a:latin typeface="Cambria Math" panose="02040503050406030204" pitchFamily="18" charset="0"/>
                    </a:rPr>
                    <m:t>=</m:t>
                  </m:r>
                  <m:f>
                    <m:fPr>
                      <m:ctrlPr>
                        <a:rPr i="1">
                          <a:latin typeface="Cambria Math" panose="02040503050406030204" pitchFamily="18" charset="0"/>
                        </a:rPr>
                      </m:ctrlPr>
                    </m:fPr>
                    <m:num>
                      <m:r>
                        <a:rPr>
                          <a:latin typeface="Cambria Math" panose="02040503050406030204" pitchFamily="18" charset="0"/>
                        </a:rPr>
                        <m:t>𝛿</m:t>
                      </m:r>
                    </m:num>
                    <m:den>
                      <m:r>
                        <a:rPr>
                          <a:latin typeface="Cambria Math" panose="02040503050406030204" pitchFamily="18" charset="0"/>
                        </a:rPr>
                        <m:t>𝜎</m:t>
                      </m:r>
                    </m:den>
                  </m:f>
                </m:oMath>
              </m:oMathPara>
            </a14:m>
            <a:endParaRPr/>
          </a:p>
        </p:txBody>
      </p:sp>
      <p:sp>
        <p:nvSpPr>
          <p:cNvPr id="6" name="Slide Number Placeholder 5">
            <a:extLst>
              <a:ext uri="{FF2B5EF4-FFF2-40B4-BE49-F238E27FC236}">
                <a16:creationId xmlns:a16="http://schemas.microsoft.com/office/drawing/2014/main" id="{C03F998A-2A5E-471F-9FEB-2559B0A7F93D}"/>
              </a:ext>
            </a:extLst>
          </p:cNvPr>
          <p:cNvSpPr>
            <a:spLocks noGrp="1"/>
          </p:cNvSpPr>
          <p:nvPr>
            <p:ph type="sldNum" sz="quarter" idx="12"/>
          </p:nvPr>
        </p:nvSpPr>
        <p:spPr/>
        <p:txBody>
          <a:bodyPr/>
          <a:lstStyle/>
          <a:p>
            <a:fld id="{E1C5CB42-CF14-4293-8971-6DCD1AAE8BE7}" type="slidenum">
              <a:rPr lang="en-GB" smtClean="0"/>
              <a:t>103</a:t>
            </a:fld>
            <a:endParaRPr lang="en-GB"/>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marL="0" lvl="0" indent="0">
              <a:buNone/>
            </a:pPr>
            <a:r>
              <a:t>Sample size for comparing two means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a:xfrm>
                <a:off x="838200" y="1782759"/>
                <a:ext cx="10515600" cy="4667250"/>
              </a:xfrm>
            </p:spPr>
            <p:txBody>
              <a:bodyPr>
                <a:normAutofit fontScale="70000" lnSpcReduction="20000"/>
              </a:bodyPr>
              <a:lstStyle/>
              <a:p>
                <a:pPr marL="0" lvl="0" indent="0">
                  <a:buNone/>
                </a:pPr>
                <a:r>
                  <a:rPr dirty="0"/>
                  <a:t>The difference of the mean birth weights between babies born at Queen Elizabeth Central hospital (QECH) and Kamuzu Central Hospital (KCH) will be determined. Suppose at QECH the mean is 3000g with a standard deviation of 500g (from previous/pilot studies). At KCH the mean is 3300g with an </a:t>
                </a:r>
                <a:r>
                  <a:rPr dirty="0" err="1"/>
                  <a:t>sd</a:t>
                </a:r>
                <a:r>
                  <a:rPr dirty="0"/>
                  <a:t> of 500g. The difference in mean birth weight to be detected is therefore 300g. The significance level for the test will be 0.05. The sample size for 80% power to detect this difference if indeed it exists would be:</a:t>
                </a:r>
              </a:p>
              <a:p>
                <a:pPr lvl="0"/>
                <a14:m>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𝐻</m:t>
                        </m:r>
                      </m:e>
                      <m:sub>
                        <m:r>
                          <a:rPr>
                            <a:latin typeface="Cambria Math" panose="02040503050406030204" pitchFamily="18" charset="0"/>
                          </a:rPr>
                          <m:t>0</m:t>
                        </m:r>
                      </m:sub>
                    </m:sSub>
                  </m:oMath>
                </a14:m>
                <a:r>
                  <a:rPr dirty="0"/>
                  <a:t>: mean1 = mean2</a:t>
                </a:r>
              </a:p>
              <a:p>
                <a:pPr lvl="0"/>
                <a14:m>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𝐻</m:t>
                        </m:r>
                      </m:e>
                      <m:sub>
                        <m:r>
                          <a:rPr>
                            <a:latin typeface="Cambria Math" panose="02040503050406030204" pitchFamily="18" charset="0"/>
                          </a:rPr>
                          <m:t>1</m:t>
                        </m:r>
                      </m:sub>
                    </m:sSub>
                  </m:oMath>
                </a14:m>
                <a:r>
                  <a:rPr dirty="0"/>
                  <a:t>: mean1 ≠ mean2</a:t>
                </a:r>
              </a:p>
              <a:p>
                <a:pPr lvl="0"/>
                <a14:m>
                  <m:oMath xmlns:m="http://schemas.openxmlformats.org/officeDocument/2006/math">
                    <m:sSub>
                      <m:sSubPr>
                        <m:ctrlPr>
                          <a:rPr>
                            <a:latin typeface="Cambria Math" panose="02040503050406030204" pitchFamily="18" charset="0"/>
                          </a:rPr>
                        </m:ctrlPr>
                      </m:sSubPr>
                      <m:e>
                        <m:acc>
                          <m:accPr>
                            <m:chr m:val="‾"/>
                            <m:ctrlPr>
                              <a:rPr>
                                <a:latin typeface="Cambria Math" panose="02040503050406030204" pitchFamily="18" charset="0"/>
                              </a:rPr>
                            </m:ctrlPr>
                          </m:accPr>
                          <m:e>
                            <m:r>
                              <a:rPr>
                                <a:latin typeface="Cambria Math" panose="02040503050406030204" pitchFamily="18" charset="0"/>
                              </a:rPr>
                              <m:t>𝑥</m:t>
                            </m:r>
                          </m:e>
                        </m:acc>
                      </m:e>
                      <m:sub>
                        <m:r>
                          <a:rPr>
                            <a:latin typeface="Cambria Math" panose="02040503050406030204" pitchFamily="18" charset="0"/>
                          </a:rPr>
                          <m:t>1</m:t>
                        </m:r>
                      </m:sub>
                    </m:sSub>
                  </m:oMath>
                </a14:m>
                <a:r>
                  <a:rPr dirty="0"/>
                  <a:t>=3000g, </a:t>
                </a:r>
                <a14:m>
                  <m:oMath xmlns:m="http://schemas.openxmlformats.org/officeDocument/2006/math">
                    <m:sSub>
                      <m:sSubPr>
                        <m:ctrlPr>
                          <a:rPr>
                            <a:latin typeface="Cambria Math" panose="02040503050406030204" pitchFamily="18" charset="0"/>
                          </a:rPr>
                        </m:ctrlPr>
                      </m:sSubPr>
                      <m:e>
                        <m:acc>
                          <m:accPr>
                            <m:chr m:val="‾"/>
                            <m:ctrlPr>
                              <a:rPr>
                                <a:latin typeface="Cambria Math" panose="02040503050406030204" pitchFamily="18" charset="0"/>
                              </a:rPr>
                            </m:ctrlPr>
                          </m:accPr>
                          <m:e>
                            <m:r>
                              <a:rPr>
                                <a:latin typeface="Cambria Math" panose="02040503050406030204" pitchFamily="18" charset="0"/>
                              </a:rPr>
                              <m:t>𝑥</m:t>
                            </m:r>
                          </m:e>
                        </m:acc>
                      </m:e>
                      <m:sub>
                        <m:r>
                          <a:rPr>
                            <a:latin typeface="Cambria Math" panose="02040503050406030204" pitchFamily="18" charset="0"/>
                          </a:rPr>
                          <m:t>1</m:t>
                        </m:r>
                      </m:sub>
                    </m:sSub>
                  </m:oMath>
                </a14:m>
                <a:r>
                  <a:rPr dirty="0"/>
                  <a:t>=3300g </a:t>
                </a:r>
                <a14:m>
                  <m:oMath xmlns:m="http://schemas.openxmlformats.org/officeDocument/2006/math">
                    <m:r>
                      <a:rPr>
                        <a:latin typeface="Cambria Math" panose="02040503050406030204" pitchFamily="18" charset="0"/>
                      </a:rPr>
                      <m:t>⇒</m:t>
                    </m:r>
                  </m:oMath>
                </a14:m>
                <a:r>
                  <a:rPr dirty="0"/>
                  <a:t> </a:t>
                </a:r>
                <a14:m>
                  <m:oMath xmlns:m="http://schemas.openxmlformats.org/officeDocument/2006/math">
                    <m:r>
                      <a:rPr>
                        <a:latin typeface="Cambria Math" panose="02040503050406030204" pitchFamily="18" charset="0"/>
                      </a:rPr>
                      <m:t>𝛿</m:t>
                    </m:r>
                    <m:r>
                      <a:rPr>
                        <a:latin typeface="Cambria Math" panose="02040503050406030204" pitchFamily="18" charset="0"/>
                      </a:rPr>
                      <m:t>=300</m:t>
                    </m:r>
                  </m:oMath>
                </a14:m>
                <a:endParaRPr dirty="0"/>
              </a:p>
              <a:p>
                <a:pPr lvl="0"/>
                <a14:m>
                  <m:oMath xmlns:m="http://schemas.openxmlformats.org/officeDocument/2006/math">
                    <m:r>
                      <a:rPr>
                        <a:latin typeface="Cambria Math" panose="02040503050406030204" pitchFamily="18" charset="0"/>
                      </a:rPr>
                      <m:t>𝜎</m:t>
                    </m:r>
                  </m:oMath>
                </a14:m>
                <a:r>
                  <a:rPr dirty="0"/>
                  <a:t>=500g</a:t>
                </a:r>
              </a:p>
              <a:p>
                <a:pPr lvl="0"/>
                <a14:m>
                  <m:oMath xmlns:m="http://schemas.openxmlformats.org/officeDocument/2006/math">
                    <m:r>
                      <a:rPr>
                        <a:latin typeface="Cambria Math" panose="02040503050406030204" pitchFamily="18" charset="0"/>
                      </a:rPr>
                      <m:t>𝛼</m:t>
                    </m:r>
                  </m:oMath>
                </a14:m>
                <a:r>
                  <a:rPr dirty="0"/>
                  <a:t> = 0.05</a:t>
                </a:r>
              </a:p>
              <a:p>
                <a:pPr lvl="0"/>
                <a:r>
                  <a:rPr dirty="0"/>
                  <a:t>Power = 0.80</a:t>
                </a:r>
              </a:p>
              <a:p>
                <a:pPr lvl="0" indent="0">
                  <a:buNone/>
                </a:pPr>
                <a:r>
                  <a:rPr dirty="0" err="1">
                    <a:solidFill>
                      <a:srgbClr val="06287E"/>
                    </a:solidFill>
                    <a:latin typeface="Courier"/>
                  </a:rPr>
                  <a:t>pwr.t.test</a:t>
                </a:r>
                <a:r>
                  <a:rPr dirty="0">
                    <a:latin typeface="Courier"/>
                  </a:rPr>
                  <a:t>(</a:t>
                </a:r>
                <a:r>
                  <a:rPr dirty="0">
                    <a:solidFill>
                      <a:srgbClr val="7D9029"/>
                    </a:solidFill>
                    <a:latin typeface="Courier"/>
                  </a:rPr>
                  <a:t>d =</a:t>
                </a:r>
                <a:r>
                  <a:rPr dirty="0">
                    <a:latin typeface="Courier"/>
                  </a:rPr>
                  <a:t> </a:t>
                </a:r>
                <a:r>
                  <a:rPr dirty="0">
                    <a:solidFill>
                      <a:srgbClr val="40A070"/>
                    </a:solidFill>
                    <a:latin typeface="Courier"/>
                  </a:rPr>
                  <a:t>300</a:t>
                </a:r>
                <a:r>
                  <a:rPr dirty="0">
                    <a:solidFill>
                      <a:srgbClr val="4070A0"/>
                    </a:solidFill>
                    <a:latin typeface="Courier"/>
                  </a:rPr>
                  <a:t>/</a:t>
                </a:r>
                <a:r>
                  <a:rPr dirty="0">
                    <a:solidFill>
                      <a:srgbClr val="40A070"/>
                    </a:solidFill>
                    <a:latin typeface="Courier"/>
                  </a:rPr>
                  <a:t>500</a:t>
                </a:r>
                <a:r>
                  <a:rPr dirty="0">
                    <a:latin typeface="Courier"/>
                  </a:rPr>
                  <a:t>, </a:t>
                </a:r>
                <a:r>
                  <a:rPr dirty="0" err="1">
                    <a:solidFill>
                      <a:srgbClr val="7D9029"/>
                    </a:solidFill>
                    <a:latin typeface="Courier"/>
                  </a:rPr>
                  <a:t>sig.level</a:t>
                </a:r>
                <a:r>
                  <a:rPr dirty="0">
                    <a:solidFill>
                      <a:srgbClr val="7D9029"/>
                    </a:solidFill>
                    <a:latin typeface="Courier"/>
                  </a:rPr>
                  <a:t> =</a:t>
                </a:r>
                <a:r>
                  <a:rPr dirty="0">
                    <a:latin typeface="Courier"/>
                  </a:rPr>
                  <a:t> </a:t>
                </a:r>
                <a:r>
                  <a:rPr dirty="0">
                    <a:solidFill>
                      <a:srgbClr val="40A070"/>
                    </a:solidFill>
                    <a:latin typeface="Courier"/>
                  </a:rPr>
                  <a:t>0.05</a:t>
                </a:r>
                <a:r>
                  <a:rPr dirty="0">
                    <a:latin typeface="Courier"/>
                  </a:rPr>
                  <a:t>, </a:t>
                </a:r>
                <a:r>
                  <a:rPr dirty="0">
                    <a:solidFill>
                      <a:srgbClr val="7D9029"/>
                    </a:solidFill>
                    <a:latin typeface="Courier"/>
                  </a:rPr>
                  <a:t>power =</a:t>
                </a:r>
                <a:r>
                  <a:rPr dirty="0">
                    <a:latin typeface="Courier"/>
                  </a:rPr>
                  <a:t> </a:t>
                </a:r>
                <a:r>
                  <a:rPr dirty="0">
                    <a:solidFill>
                      <a:srgbClr val="40A070"/>
                    </a:solidFill>
                    <a:latin typeface="Courier"/>
                  </a:rPr>
                  <a:t>0.8</a:t>
                </a:r>
                <a:r>
                  <a:rPr dirty="0">
                    <a:latin typeface="Courier"/>
                  </a:rPr>
                  <a:t>, </a:t>
                </a:r>
                <a:r>
                  <a:rPr dirty="0">
                    <a:solidFill>
                      <a:srgbClr val="7D9029"/>
                    </a:solidFill>
                    <a:latin typeface="Courier"/>
                  </a:rPr>
                  <a:t>type =</a:t>
                </a:r>
                <a:r>
                  <a:rPr dirty="0">
                    <a:latin typeface="Courier"/>
                  </a:rPr>
                  <a:t> </a:t>
                </a:r>
                <a:r>
                  <a:rPr dirty="0">
                    <a:solidFill>
                      <a:srgbClr val="06287E"/>
                    </a:solidFill>
                    <a:latin typeface="Courier"/>
                  </a:rPr>
                  <a:t>c</a:t>
                </a:r>
                <a:r>
                  <a:rPr dirty="0">
                    <a:latin typeface="Courier"/>
                  </a:rPr>
                  <a:t>(</a:t>
                </a:r>
                <a:r>
                  <a:rPr dirty="0">
                    <a:solidFill>
                      <a:srgbClr val="4070A0"/>
                    </a:solidFill>
                    <a:latin typeface="Courier"/>
                  </a:rPr>
                  <a:t>"</a:t>
                </a:r>
                <a:r>
                  <a:rPr dirty="0" err="1">
                    <a:solidFill>
                      <a:srgbClr val="4070A0"/>
                    </a:solidFill>
                    <a:latin typeface="Courier"/>
                  </a:rPr>
                  <a:t>two.sample</a:t>
                </a:r>
                <a:r>
                  <a:rPr dirty="0">
                    <a:solidFill>
                      <a:srgbClr val="4070A0"/>
                    </a:solidFill>
                    <a:latin typeface="Courier"/>
                  </a:rPr>
                  <a:t>"</a:t>
                </a:r>
                <a:r>
                  <a:rPr dirty="0">
                    <a:latin typeface="Courier"/>
                  </a:rPr>
                  <a:t>))</a:t>
                </a:r>
                <a:br>
                  <a:rPr dirty="0"/>
                </a:br>
                <a:r>
                  <a:rPr i="1" dirty="0">
                    <a:solidFill>
                      <a:srgbClr val="BA2121"/>
                    </a:solidFill>
                    <a:latin typeface="Courier"/>
                  </a:rPr>
                  <a:t>## </a:t>
                </a:r>
                <a:br>
                  <a:rPr dirty="0"/>
                </a:br>
                <a:r>
                  <a:rPr i="1" dirty="0">
                    <a:solidFill>
                      <a:srgbClr val="BA2121"/>
                    </a:solidFill>
                    <a:latin typeface="Courier"/>
                  </a:rPr>
                  <a:t>##      Two-sample t test power calculation </a:t>
                </a:r>
                <a:br>
                  <a:rPr dirty="0"/>
                </a:br>
                <a:r>
                  <a:rPr i="1" dirty="0">
                    <a:solidFill>
                      <a:srgbClr val="BA2121"/>
                    </a:solidFill>
                    <a:latin typeface="Courier"/>
                  </a:rPr>
                  <a:t>## </a:t>
                </a:r>
                <a:br>
                  <a:rPr dirty="0"/>
                </a:br>
                <a:r>
                  <a:rPr i="1" dirty="0">
                    <a:solidFill>
                      <a:srgbClr val="BA2121"/>
                    </a:solidFill>
                    <a:latin typeface="Courier"/>
                  </a:rPr>
                  <a:t>##               n = 44.58577</a:t>
                </a:r>
                <a:br>
                  <a:rPr dirty="0"/>
                </a:br>
                <a:r>
                  <a:rPr i="1" dirty="0">
                    <a:solidFill>
                      <a:srgbClr val="BA2121"/>
                    </a:solidFill>
                    <a:latin typeface="Courier"/>
                  </a:rPr>
                  <a:t>##               d = 0.6</a:t>
                </a:r>
                <a:br>
                  <a:rPr dirty="0"/>
                </a:br>
                <a:r>
                  <a:rPr i="1" dirty="0">
                    <a:solidFill>
                      <a:srgbClr val="BA2121"/>
                    </a:solidFill>
                    <a:latin typeface="Courier"/>
                  </a:rPr>
                  <a:t>##       </a:t>
                </a:r>
                <a:r>
                  <a:rPr i="1" dirty="0" err="1">
                    <a:solidFill>
                      <a:srgbClr val="BA2121"/>
                    </a:solidFill>
                    <a:latin typeface="Courier"/>
                  </a:rPr>
                  <a:t>sig.level</a:t>
                </a:r>
                <a:r>
                  <a:rPr i="1" dirty="0">
                    <a:solidFill>
                      <a:srgbClr val="BA2121"/>
                    </a:solidFill>
                    <a:latin typeface="Courier"/>
                  </a:rPr>
                  <a:t> = 0.05</a:t>
                </a:r>
                <a:br>
                  <a:rPr dirty="0"/>
                </a:br>
                <a:r>
                  <a:rPr i="1" dirty="0">
                    <a:solidFill>
                      <a:srgbClr val="BA2121"/>
                    </a:solidFill>
                    <a:latin typeface="Courier"/>
                  </a:rPr>
                  <a:t>##           power = 0.8</a:t>
                </a:r>
                <a:br>
                  <a:rPr dirty="0"/>
                </a:br>
                <a:r>
                  <a:rPr i="1" dirty="0">
                    <a:solidFill>
                      <a:srgbClr val="BA2121"/>
                    </a:solidFill>
                    <a:latin typeface="Courier"/>
                  </a:rPr>
                  <a:t>##     alternative = </a:t>
                </a:r>
                <a:r>
                  <a:rPr i="1" dirty="0" err="1">
                    <a:solidFill>
                      <a:srgbClr val="BA2121"/>
                    </a:solidFill>
                    <a:latin typeface="Courier"/>
                  </a:rPr>
                  <a:t>two.sided</a:t>
                </a:r>
                <a:br>
                  <a:rPr dirty="0"/>
                </a:br>
                <a:r>
                  <a:rPr i="1" dirty="0">
                    <a:solidFill>
                      <a:srgbClr val="BA2121"/>
                    </a:solidFill>
                    <a:latin typeface="Courier"/>
                  </a:rPr>
                  <a:t>## </a:t>
                </a:r>
                <a:br>
                  <a:rPr dirty="0"/>
                </a:br>
                <a:r>
                  <a:rPr i="1" dirty="0">
                    <a:solidFill>
                      <a:srgbClr val="BA2121"/>
                    </a:solidFill>
                    <a:latin typeface="Courier"/>
                  </a:rPr>
                  <a:t>## </a:t>
                </a:r>
                <a:r>
                  <a:rPr b="1" dirty="0">
                    <a:solidFill>
                      <a:srgbClr val="FF0000"/>
                    </a:solidFill>
                    <a:latin typeface="Courier"/>
                  </a:rPr>
                  <a:t>NOTE</a:t>
                </a:r>
                <a:r>
                  <a:rPr i="1" dirty="0">
                    <a:solidFill>
                      <a:srgbClr val="BA2121"/>
                    </a:solidFill>
                    <a:latin typeface="Courier"/>
                  </a:rPr>
                  <a:t>: n is number in *each* group</a:t>
                </a:r>
              </a:p>
            </p:txBody>
          </p:sp>
        </mc:Choice>
        <mc:Fallback>
          <p:sp>
            <p:nvSpPr>
              <p:cNvPr id="3" name="Content Placeholder 2">
                <a:extLst>
                  <a:ext uri="{FF2B5EF4-FFF2-40B4-BE49-F238E27FC236}">
                    <a16:creationId xmlns:a16="http://schemas.microsoft.com/office/drawing/2014/main" id="{288BC91F-1C76-43AE-8B2A-956D48B768BE}"/>
                  </a:ext>
                </a:extLst>
              </p:cNvPr>
              <p:cNvSpPr>
                <a:spLocks noGrp="1" noRot="1" noChangeAspect="1" noMove="1" noResize="1" noEditPoints="1" noAdjustHandles="1" noChangeArrowheads="1" noChangeShapeType="1" noTextEdit="1"/>
              </p:cNvSpPr>
              <p:nvPr>
                <p:ph idx="1"/>
              </p:nvPr>
            </p:nvSpPr>
            <p:spPr>
              <a:xfrm>
                <a:off x="838200" y="1782759"/>
                <a:ext cx="10515600" cy="4667250"/>
              </a:xfrm>
              <a:blipFill>
                <a:blip r:embed="rId2"/>
                <a:stretch>
                  <a:fillRect l="-232" t="-1436"/>
                </a:stretch>
              </a:blipFill>
            </p:spPr>
            <p:txBody>
              <a:bodyPr/>
              <a:lstStyle/>
              <a:p>
                <a:r>
                  <a:rPr lang="en-US">
                    <a:noFill/>
                  </a:rPr>
                  <a:t> </a:t>
                </a:r>
              </a:p>
            </p:txBody>
          </p:sp>
        </mc:Fallback>
      </mc:AlternateContent>
      <p:sp>
        <p:nvSpPr>
          <p:cNvPr id="6" name="Slide Number Placeholder 5">
            <a:extLst>
              <a:ext uri="{FF2B5EF4-FFF2-40B4-BE49-F238E27FC236}">
                <a16:creationId xmlns:a16="http://schemas.microsoft.com/office/drawing/2014/main" id="{C03F998A-2A5E-471F-9FEB-2559B0A7F93D}"/>
              </a:ext>
            </a:extLst>
          </p:cNvPr>
          <p:cNvSpPr>
            <a:spLocks noGrp="1"/>
          </p:cNvSpPr>
          <p:nvPr>
            <p:ph type="sldNum" sz="quarter" idx="12"/>
          </p:nvPr>
        </p:nvSpPr>
        <p:spPr/>
        <p:txBody>
          <a:bodyPr/>
          <a:lstStyle/>
          <a:p>
            <a:fld id="{E1C5CB42-CF14-4293-8971-6DCD1AAE8BE7}" type="slidenum">
              <a:rPr lang="en-GB" smtClean="0"/>
              <a:t>104</a:t>
            </a:fld>
            <a:endParaRPr lang="en-GB"/>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marL="0" lvl="0" indent="0">
              <a:buNone/>
            </a:pPr>
            <a:r>
              <a:t>Sample size for cluster sampling</a:t>
            </a:r>
          </a:p>
        </p:txBody>
      </p:sp>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p:txBody>
          <a:bodyPr/>
          <a:lstStyle/>
          <a:p>
            <a:pPr lvl="0"/>
            <a:r>
              <a:t>In RCT and similar studies, we need to account for the additional sampling error</a:t>
            </a:r>
          </a:p>
          <a:p>
            <a:pPr lvl="1"/>
            <a:r>
              <a:t>Simple random sampling violated</a:t>
            </a:r>
          </a:p>
          <a:p>
            <a:pPr lvl="1"/>
            <a:r>
              <a:t>Within and between cluster variation</a:t>
            </a:r>
          </a:p>
          <a:p>
            <a:pPr lvl="0"/>
            <a:r>
              <a:t>Intra cluster correlation coefficient (ICC), </a:t>
            </a:r>
            <a14:m xmlns:a14="http://schemas.microsoft.com/office/drawing/2010/main">
              <m:oMath xmlns:m="http://schemas.openxmlformats.org/officeDocument/2006/math">
                <m:r>
                  <a:rPr>
                    <a:latin typeface="Cambria Math" panose="02040503050406030204" pitchFamily="18" charset="0"/>
                  </a:rPr>
                  <m:t>𝜌</m:t>
                </m:r>
              </m:oMath>
            </a14:m>
            <a:r>
              <a:t>.</a:t>
            </a:r>
          </a:p>
          <a:p>
            <a:pPr lvl="0"/>
            <a:r>
              <a:t>Average cluster size, </a:t>
            </a:r>
            <a14:m xmlns:a14="http://schemas.microsoft.com/office/drawing/2010/main">
              <m:oMath xmlns:m="http://schemas.openxmlformats.org/officeDocument/2006/math">
                <m:r>
                  <a:rPr>
                    <a:latin typeface="Cambria Math" panose="02040503050406030204" pitchFamily="18" charset="0"/>
                  </a:rPr>
                  <m:t>𝑚</m:t>
                </m:r>
              </m:oMath>
            </a14:m>
            <a:r>
              <a:t>.</a:t>
            </a:r>
          </a:p>
          <a:p>
            <a:pPr lvl="0"/>
            <a:r>
              <a:t>Design effect (D</a:t>
            </a:r>
            <a:r>
              <a:rPr baseline="-25000"/>
              <a:t>eff</a:t>
            </a:r>
            <a:r>
              <a:t>) - just multiply the sample size for an individually randomised / sample study by this.</a:t>
            </a:r>
          </a:p>
          <a:p>
            <a:pPr marL="0" lvl="0" indent="0">
              <a:buNone/>
            </a:pPr>
            <a14:m xmlns:a14="http://schemas.microsoft.com/office/drawing/2010/main">
              <m:oMathPara xmlns:m="http://schemas.openxmlformats.org/officeDocument/2006/math">
                <m:oMathParaPr>
                  <m:jc m:val="center"/>
                </m:oMathParaPr>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𝐷</m:t>
                      </m:r>
                    </m:e>
                    <m:sub>
                      <m:r>
                        <a:rPr>
                          <a:latin typeface="Cambria Math" panose="02040503050406030204" pitchFamily="18" charset="0"/>
                        </a:rPr>
                        <m:t>𝑒𝑓𝑓</m:t>
                      </m:r>
                    </m:sub>
                  </m:sSub>
                  <m:r>
                    <a:rPr>
                      <a:latin typeface="Cambria Math" panose="02040503050406030204" pitchFamily="18" charset="0"/>
                    </a:rPr>
                    <m:t>=1+</m:t>
                  </m:r>
                  <m:d>
                    <m:dPr>
                      <m:ctrlPr>
                        <a:rPr i="1">
                          <a:latin typeface="Cambria Math" panose="02040503050406030204" pitchFamily="18" charset="0"/>
                        </a:rPr>
                      </m:ctrlPr>
                    </m:dPr>
                    <m:e>
                      <m:r>
                        <a:rPr>
                          <a:latin typeface="Cambria Math" panose="02040503050406030204" pitchFamily="18" charset="0"/>
                        </a:rPr>
                        <m:t>𝑚</m:t>
                      </m:r>
                      <m:r>
                        <a:rPr>
                          <a:latin typeface="Cambria Math" panose="02040503050406030204" pitchFamily="18" charset="0"/>
                        </a:rPr>
                        <m:t>−1</m:t>
                      </m:r>
                    </m:e>
                  </m:d>
                  <m:r>
                    <a:rPr>
                      <a:latin typeface="Cambria Math" panose="02040503050406030204" pitchFamily="18" charset="0"/>
                    </a:rPr>
                    <m:t>𝜌</m:t>
                  </m:r>
                </m:oMath>
              </m:oMathPara>
            </a14:m>
            <a:endParaRPr/>
          </a:p>
          <a:p>
            <a:pPr lvl="0"/>
            <a:r>
              <a:t>Analysis will also need to account for clustering</a:t>
            </a:r>
          </a:p>
        </p:txBody>
      </p:sp>
      <p:sp>
        <p:nvSpPr>
          <p:cNvPr id="6" name="Slide Number Placeholder 5">
            <a:extLst>
              <a:ext uri="{FF2B5EF4-FFF2-40B4-BE49-F238E27FC236}">
                <a16:creationId xmlns:a16="http://schemas.microsoft.com/office/drawing/2014/main" id="{C03F998A-2A5E-471F-9FEB-2559B0A7F93D}"/>
              </a:ext>
            </a:extLst>
          </p:cNvPr>
          <p:cNvSpPr>
            <a:spLocks noGrp="1"/>
          </p:cNvSpPr>
          <p:nvPr>
            <p:ph type="sldNum" sz="quarter" idx="12"/>
          </p:nvPr>
        </p:nvSpPr>
        <p:spPr/>
        <p:txBody>
          <a:bodyPr/>
          <a:lstStyle/>
          <a:p>
            <a:fld id="{E1C5CB42-CF14-4293-8971-6DCD1AAE8BE7}" type="slidenum">
              <a:rPr lang="en-GB" smtClean="0"/>
              <a:t>105</a:t>
            </a:fld>
            <a:endParaRPr lang="en-GB"/>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marL="0" lvl="0" indent="0">
              <a:buNone/>
            </a:pPr>
            <a:r>
              <a:t>Useful reading and practice</a:t>
            </a:r>
          </a:p>
        </p:txBody>
      </p:sp>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p:txBody>
          <a:bodyPr/>
          <a:lstStyle/>
          <a:p>
            <a:pPr lvl="0"/>
            <a:r>
              <a:t>Package </a:t>
            </a:r>
            <a:r>
              <a:rPr b="1"/>
              <a:t>pwr</a:t>
            </a:r>
          </a:p>
          <a:p>
            <a:pPr lvl="0"/>
            <a:r>
              <a:t>Theory behind sample size</a:t>
            </a:r>
          </a:p>
          <a:p>
            <a:pPr lvl="1"/>
            <a:r>
              <a:t>Normal distribution</a:t>
            </a:r>
          </a:p>
          <a:p>
            <a:pPr lvl="1"/>
            <a:r>
              <a:t>Simulations may be better</a:t>
            </a:r>
          </a:p>
          <a:p>
            <a:pPr lvl="1"/>
            <a:r>
              <a:t>Statistician may be needed</a:t>
            </a:r>
          </a:p>
        </p:txBody>
      </p:sp>
      <p:sp>
        <p:nvSpPr>
          <p:cNvPr id="6" name="Slide Number Placeholder 5">
            <a:extLst>
              <a:ext uri="{FF2B5EF4-FFF2-40B4-BE49-F238E27FC236}">
                <a16:creationId xmlns:a16="http://schemas.microsoft.com/office/drawing/2014/main" id="{C03F998A-2A5E-471F-9FEB-2559B0A7F93D}"/>
              </a:ext>
            </a:extLst>
          </p:cNvPr>
          <p:cNvSpPr>
            <a:spLocks noGrp="1"/>
          </p:cNvSpPr>
          <p:nvPr>
            <p:ph type="sldNum" sz="quarter" idx="12"/>
          </p:nvPr>
        </p:nvSpPr>
        <p:spPr/>
        <p:txBody>
          <a:bodyPr/>
          <a:lstStyle/>
          <a:p>
            <a:fld id="{E1C5CB42-CF14-4293-8971-6DCD1AAE8BE7}" type="slidenum">
              <a:rPr lang="en-GB" smtClean="0"/>
              <a:t>106</a:t>
            </a:fld>
            <a:endParaRPr lang="en-GB"/>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marL="0" lvl="0" indent="0">
              <a:buNone/>
            </a:pPr>
            <a:r>
              <a:t>Power curves / sample size graphs</a:t>
            </a:r>
          </a:p>
        </p:txBody>
      </p:sp>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p:txBody>
          <a:bodyPr/>
          <a:lstStyle/>
          <a:p>
            <a:pPr marL="0" lvl="0" indent="0">
              <a:buNone/>
            </a:pPr>
            <a:r>
              <a:t>We have seen a few slides earlier an example of a sample size curve.</a:t>
            </a:r>
          </a:p>
          <a:p>
            <a:pPr marL="0" lvl="0" indent="0">
              <a:buNone/>
            </a:pPr>
            <a14:m xmlns:a14="http://schemas.microsoft.com/office/drawing/2010/main">
              <m:oMathPara xmlns:m="http://schemas.openxmlformats.org/officeDocument/2006/math">
                <m:oMathParaPr>
                  <m:jc m:val="center"/>
                </m:oMathParaPr>
                <m:oMath xmlns:m="http://schemas.openxmlformats.org/officeDocument/2006/math">
                  <m:r>
                    <a:rPr>
                      <a:latin typeface="Cambria Math" panose="02040503050406030204" pitchFamily="18" charset="0"/>
                    </a:rPr>
                    <m:t> </m:t>
                  </m:r>
                </m:oMath>
              </m:oMathPara>
            </a14:m>
            <a:endParaRPr/>
          </a:p>
          <a:p>
            <a:pPr lvl="0"/>
            <a:r>
              <a:t>Vary ranges of expected effect sizes</a:t>
            </a:r>
          </a:p>
          <a:p>
            <a:pPr lvl="0"/>
            <a:r>
              <a:t>Compute sample sizes for different scenarios</a:t>
            </a:r>
          </a:p>
          <a:p>
            <a:pPr lvl="0"/>
            <a:r>
              <a:t>Plot sample size against some value e.g. effect size</a:t>
            </a:r>
          </a:p>
          <a:p>
            <a:pPr lvl="0"/>
            <a:r>
              <a:t>Useful if you are not sure what an appropriate effect size would be (and want to see how sensitive your sample size requirement is to changes in effect size).</a:t>
            </a:r>
          </a:p>
          <a:p>
            <a:pPr lvl="0"/>
            <a:r>
              <a:t>Instead of varying effect size, you can also vary power or sample size (and keep other parameters fixed).</a:t>
            </a:r>
          </a:p>
        </p:txBody>
      </p:sp>
      <p:sp>
        <p:nvSpPr>
          <p:cNvPr id="6" name="Slide Number Placeholder 5">
            <a:extLst>
              <a:ext uri="{FF2B5EF4-FFF2-40B4-BE49-F238E27FC236}">
                <a16:creationId xmlns:a16="http://schemas.microsoft.com/office/drawing/2014/main" id="{C03F998A-2A5E-471F-9FEB-2559B0A7F93D}"/>
              </a:ext>
            </a:extLst>
          </p:cNvPr>
          <p:cNvSpPr>
            <a:spLocks noGrp="1"/>
          </p:cNvSpPr>
          <p:nvPr>
            <p:ph type="sldNum" sz="quarter" idx="12"/>
          </p:nvPr>
        </p:nvSpPr>
        <p:spPr/>
        <p:txBody>
          <a:bodyPr/>
          <a:lstStyle/>
          <a:p>
            <a:fld id="{E1C5CB42-CF14-4293-8971-6DCD1AAE8BE7}" type="slidenum">
              <a:rPr lang="en-GB" smtClean="0"/>
              <a:t>107</a:t>
            </a:fld>
            <a:endParaRPr lang="en-GB"/>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CC315F-F711-43BA-8C23-8D50769E33D2}"/>
              </a:ext>
            </a:extLst>
          </p:cNvPr>
          <p:cNvSpPr>
            <a:spLocks noGrp="1"/>
          </p:cNvSpPr>
          <p:nvPr>
            <p:ph type="title"/>
          </p:nvPr>
        </p:nvSpPr>
        <p:spPr>
          <a:xfrm>
            <a:off x="839788" y="457200"/>
            <a:ext cx="3932237" cy="1600200"/>
          </a:xfrm>
        </p:spPr>
        <p:txBody>
          <a:bodyPr/>
          <a:lstStyle/>
          <a:p>
            <a:pPr marL="0" lvl="0" indent="0">
              <a:buNone/>
            </a:pPr>
            <a:r>
              <a:t>Simple R code for producing sample size graph</a:t>
            </a:r>
          </a:p>
        </p:txBody>
      </p:sp>
      <p:sp>
        <p:nvSpPr>
          <p:cNvPr id="4" name="Text Placeholder 3">
            <a:extLst>
              <a:ext uri="{FF2B5EF4-FFF2-40B4-BE49-F238E27FC236}">
                <a16:creationId xmlns:a16="http://schemas.microsoft.com/office/drawing/2014/main" id="{F6C278EB-CD3C-4569-8B41-D3DDD3B4004E}"/>
              </a:ext>
            </a:extLst>
          </p:cNvPr>
          <p:cNvSpPr>
            <a:spLocks noGrp="1"/>
          </p:cNvSpPr>
          <p:nvPr>
            <p:ph type="body" sz="half" idx="2"/>
          </p:nvPr>
        </p:nvSpPr>
        <p:spPr>
          <a:xfrm>
            <a:off x="839788" y="2104845"/>
            <a:ext cx="3932237" cy="3811588"/>
          </a:xfrm>
        </p:spPr>
        <p:txBody>
          <a:bodyPr>
            <a:normAutofit fontScale="85000" lnSpcReduction="20000"/>
          </a:bodyPr>
          <a:lstStyle/>
          <a:p>
            <a:pPr lvl="0" indent="0">
              <a:buNone/>
            </a:pPr>
            <a:r>
              <a:rPr dirty="0">
                <a:latin typeface="Courier"/>
              </a:rPr>
              <a:t>h </a:t>
            </a:r>
            <a:r>
              <a:rPr dirty="0">
                <a:solidFill>
                  <a:srgbClr val="007020"/>
                </a:solidFill>
                <a:latin typeface="Courier"/>
              </a:rPr>
              <a:t>&lt;-</a:t>
            </a:r>
            <a:r>
              <a:rPr dirty="0">
                <a:latin typeface="Courier"/>
              </a:rPr>
              <a:t> </a:t>
            </a:r>
            <a:r>
              <a:rPr dirty="0">
                <a:solidFill>
                  <a:srgbClr val="06287E"/>
                </a:solidFill>
                <a:latin typeface="Courier"/>
              </a:rPr>
              <a:t>seq</a:t>
            </a:r>
            <a:r>
              <a:rPr dirty="0">
                <a:latin typeface="Courier"/>
              </a:rPr>
              <a:t>(.</a:t>
            </a:r>
            <a:r>
              <a:rPr dirty="0">
                <a:solidFill>
                  <a:srgbClr val="40A070"/>
                </a:solidFill>
                <a:latin typeface="Courier"/>
              </a:rPr>
              <a:t>05</a:t>
            </a:r>
            <a:r>
              <a:rPr dirty="0">
                <a:latin typeface="Courier"/>
              </a:rPr>
              <a:t>,.</a:t>
            </a:r>
            <a:r>
              <a:rPr dirty="0">
                <a:solidFill>
                  <a:srgbClr val="40A070"/>
                </a:solidFill>
                <a:latin typeface="Courier"/>
              </a:rPr>
              <a:t>8</a:t>
            </a:r>
            <a:r>
              <a:rPr dirty="0">
                <a:latin typeface="Courier"/>
              </a:rPr>
              <a:t>, </a:t>
            </a:r>
            <a:r>
              <a:rPr dirty="0">
                <a:solidFill>
                  <a:srgbClr val="7D9029"/>
                </a:solidFill>
                <a:latin typeface="Courier"/>
              </a:rPr>
              <a:t>by=</a:t>
            </a:r>
            <a:r>
              <a:rPr dirty="0">
                <a:latin typeface="Courier"/>
              </a:rPr>
              <a:t>.</a:t>
            </a:r>
            <a:r>
              <a:rPr dirty="0">
                <a:solidFill>
                  <a:srgbClr val="40A070"/>
                </a:solidFill>
                <a:latin typeface="Courier"/>
              </a:rPr>
              <a:t>05</a:t>
            </a:r>
            <a:r>
              <a:rPr dirty="0">
                <a:latin typeface="Courier"/>
              </a:rPr>
              <a:t>)</a:t>
            </a:r>
            <a:br>
              <a:rPr dirty="0"/>
            </a:br>
            <a:r>
              <a:rPr dirty="0">
                <a:latin typeface="Courier"/>
              </a:rPr>
              <a:t>n </a:t>
            </a:r>
            <a:r>
              <a:rPr dirty="0">
                <a:solidFill>
                  <a:srgbClr val="007020"/>
                </a:solidFill>
                <a:latin typeface="Courier"/>
              </a:rPr>
              <a:t>&lt;-</a:t>
            </a:r>
            <a:r>
              <a:rPr dirty="0">
                <a:latin typeface="Courier"/>
              </a:rPr>
              <a:t> </a:t>
            </a:r>
            <a:r>
              <a:rPr dirty="0">
                <a:solidFill>
                  <a:srgbClr val="06287E"/>
                </a:solidFill>
                <a:latin typeface="Courier"/>
              </a:rPr>
              <a:t>rep</a:t>
            </a:r>
            <a:r>
              <a:rPr dirty="0">
                <a:latin typeface="Courier"/>
              </a:rPr>
              <a:t>(</a:t>
            </a:r>
            <a:r>
              <a:rPr dirty="0" err="1">
                <a:solidFill>
                  <a:srgbClr val="880000"/>
                </a:solidFill>
                <a:latin typeface="Courier"/>
              </a:rPr>
              <a:t>NA</a:t>
            </a:r>
            <a:r>
              <a:rPr dirty="0" err="1">
                <a:latin typeface="Courier"/>
              </a:rPr>
              <a:t>,</a:t>
            </a:r>
            <a:r>
              <a:rPr dirty="0" err="1">
                <a:solidFill>
                  <a:srgbClr val="06287E"/>
                </a:solidFill>
                <a:latin typeface="Courier"/>
              </a:rPr>
              <a:t>length</a:t>
            </a:r>
            <a:r>
              <a:rPr dirty="0">
                <a:latin typeface="Courier"/>
              </a:rPr>
              <a:t>(h))</a:t>
            </a:r>
            <a:br>
              <a:rPr dirty="0"/>
            </a:br>
            <a:r>
              <a:rPr b="1" dirty="0">
                <a:solidFill>
                  <a:srgbClr val="007020"/>
                </a:solidFill>
                <a:latin typeface="Courier"/>
              </a:rPr>
              <a:t>for</a:t>
            </a:r>
            <a:r>
              <a:rPr dirty="0">
                <a:latin typeface="Courier"/>
              </a:rPr>
              <a:t>(</a:t>
            </a:r>
            <a:r>
              <a:rPr dirty="0" err="1">
                <a:latin typeface="Courier"/>
              </a:rPr>
              <a:t>i</a:t>
            </a:r>
            <a:r>
              <a:rPr dirty="0">
                <a:latin typeface="Courier"/>
              </a:rPr>
              <a:t> </a:t>
            </a:r>
            <a:r>
              <a:rPr b="1" dirty="0">
                <a:solidFill>
                  <a:srgbClr val="007020"/>
                </a:solidFill>
                <a:latin typeface="Courier"/>
              </a:rPr>
              <a:t>in</a:t>
            </a:r>
            <a:r>
              <a:rPr dirty="0">
                <a:latin typeface="Courier"/>
              </a:rPr>
              <a:t> </a:t>
            </a:r>
            <a:r>
              <a:rPr dirty="0">
                <a:solidFill>
                  <a:srgbClr val="40A070"/>
                </a:solidFill>
                <a:latin typeface="Courier"/>
              </a:rPr>
              <a:t>1</a:t>
            </a:r>
            <a:r>
              <a:rPr dirty="0">
                <a:solidFill>
                  <a:srgbClr val="4070A0"/>
                </a:solidFill>
                <a:latin typeface="Courier"/>
              </a:rPr>
              <a:t>:</a:t>
            </a:r>
            <a:r>
              <a:rPr dirty="0">
                <a:solidFill>
                  <a:srgbClr val="06287E"/>
                </a:solidFill>
                <a:latin typeface="Courier"/>
              </a:rPr>
              <a:t>length</a:t>
            </a:r>
            <a:r>
              <a:rPr dirty="0">
                <a:latin typeface="Courier"/>
              </a:rPr>
              <a:t>(h)){</a:t>
            </a:r>
            <a:br>
              <a:rPr dirty="0"/>
            </a:br>
            <a:r>
              <a:rPr dirty="0">
                <a:latin typeface="Courier"/>
              </a:rPr>
              <a:t>    n[</a:t>
            </a:r>
            <a:r>
              <a:rPr dirty="0" err="1">
                <a:latin typeface="Courier"/>
              </a:rPr>
              <a:t>i</a:t>
            </a:r>
            <a:r>
              <a:rPr dirty="0">
                <a:latin typeface="Courier"/>
              </a:rPr>
              <a:t>] </a:t>
            </a:r>
            <a:r>
              <a:rPr dirty="0">
                <a:solidFill>
                  <a:srgbClr val="007020"/>
                </a:solidFill>
                <a:latin typeface="Courier"/>
              </a:rPr>
              <a:t>&lt;-</a:t>
            </a:r>
            <a:r>
              <a:rPr dirty="0">
                <a:latin typeface="Courier"/>
              </a:rPr>
              <a:t>  </a:t>
            </a:r>
            <a:r>
              <a:rPr dirty="0" err="1">
                <a:solidFill>
                  <a:srgbClr val="06287E"/>
                </a:solidFill>
                <a:latin typeface="Courier"/>
              </a:rPr>
              <a:t>pwr.p.test</a:t>
            </a:r>
            <a:r>
              <a:rPr dirty="0">
                <a:latin typeface="Courier"/>
              </a:rPr>
              <a:t>(</a:t>
            </a:r>
            <a:r>
              <a:rPr dirty="0">
                <a:solidFill>
                  <a:srgbClr val="7D9029"/>
                </a:solidFill>
                <a:latin typeface="Courier"/>
              </a:rPr>
              <a:t>h =</a:t>
            </a:r>
            <a:r>
              <a:rPr dirty="0">
                <a:latin typeface="Courier"/>
              </a:rPr>
              <a:t> h[</a:t>
            </a:r>
            <a:r>
              <a:rPr dirty="0" err="1">
                <a:latin typeface="Courier"/>
              </a:rPr>
              <a:t>i</a:t>
            </a:r>
            <a:r>
              <a:rPr dirty="0">
                <a:latin typeface="Courier"/>
              </a:rPr>
              <a:t>] , </a:t>
            </a:r>
            <a:r>
              <a:rPr dirty="0" err="1">
                <a:solidFill>
                  <a:srgbClr val="7D9029"/>
                </a:solidFill>
                <a:latin typeface="Courier"/>
              </a:rPr>
              <a:t>sig.level</a:t>
            </a:r>
            <a:r>
              <a:rPr dirty="0">
                <a:solidFill>
                  <a:srgbClr val="7D9029"/>
                </a:solidFill>
                <a:latin typeface="Courier"/>
              </a:rPr>
              <a:t> =</a:t>
            </a:r>
            <a:r>
              <a:rPr dirty="0">
                <a:solidFill>
                  <a:srgbClr val="40A070"/>
                </a:solidFill>
                <a:latin typeface="Courier"/>
              </a:rPr>
              <a:t>0.05</a:t>
            </a:r>
            <a:r>
              <a:rPr dirty="0">
                <a:latin typeface="Courier"/>
              </a:rPr>
              <a:t>, </a:t>
            </a:r>
            <a:r>
              <a:rPr dirty="0">
                <a:solidFill>
                  <a:srgbClr val="7D9029"/>
                </a:solidFill>
                <a:latin typeface="Courier"/>
              </a:rPr>
              <a:t>power =</a:t>
            </a:r>
            <a:r>
              <a:rPr dirty="0">
                <a:latin typeface="Courier"/>
              </a:rPr>
              <a:t> .</a:t>
            </a:r>
            <a:r>
              <a:rPr dirty="0">
                <a:solidFill>
                  <a:srgbClr val="40A070"/>
                </a:solidFill>
                <a:latin typeface="Courier"/>
              </a:rPr>
              <a:t>8</a:t>
            </a:r>
            <a:r>
              <a:rPr dirty="0">
                <a:latin typeface="Courier"/>
              </a:rPr>
              <a:t>)[</a:t>
            </a:r>
            <a:r>
              <a:rPr dirty="0">
                <a:solidFill>
                  <a:srgbClr val="40A070"/>
                </a:solidFill>
                <a:latin typeface="Courier"/>
              </a:rPr>
              <a:t>2</a:t>
            </a:r>
            <a:r>
              <a:rPr dirty="0">
                <a:latin typeface="Courier"/>
              </a:rPr>
              <a:t>]</a:t>
            </a:r>
            <a:br>
              <a:rPr dirty="0"/>
            </a:br>
            <a:r>
              <a:rPr dirty="0">
                <a:latin typeface="Courier"/>
              </a:rPr>
              <a:t>}</a:t>
            </a:r>
            <a:br>
              <a:rPr dirty="0"/>
            </a:br>
            <a:br>
              <a:rPr dirty="0"/>
            </a:br>
            <a:r>
              <a:rPr dirty="0" err="1">
                <a:latin typeface="Courier"/>
              </a:rPr>
              <a:t>df</a:t>
            </a:r>
            <a:r>
              <a:rPr dirty="0">
                <a:solidFill>
                  <a:srgbClr val="007020"/>
                </a:solidFill>
                <a:latin typeface="Courier"/>
              </a:rPr>
              <a:t>&lt;-</a:t>
            </a:r>
            <a:r>
              <a:rPr dirty="0" err="1">
                <a:solidFill>
                  <a:srgbClr val="06287E"/>
                </a:solidFill>
                <a:latin typeface="Courier"/>
              </a:rPr>
              <a:t>data.frame</a:t>
            </a:r>
            <a:r>
              <a:rPr dirty="0">
                <a:latin typeface="Courier"/>
              </a:rPr>
              <a:t>(</a:t>
            </a:r>
            <a:r>
              <a:rPr dirty="0" err="1">
                <a:solidFill>
                  <a:srgbClr val="7D9029"/>
                </a:solidFill>
                <a:latin typeface="Courier"/>
              </a:rPr>
              <a:t>effectSize</a:t>
            </a:r>
            <a:r>
              <a:rPr dirty="0">
                <a:solidFill>
                  <a:srgbClr val="7D9029"/>
                </a:solidFill>
                <a:latin typeface="Courier"/>
              </a:rPr>
              <a:t>=</a:t>
            </a:r>
            <a:r>
              <a:rPr dirty="0" err="1">
                <a:latin typeface="Courier"/>
              </a:rPr>
              <a:t>h,</a:t>
            </a:r>
            <a:r>
              <a:rPr dirty="0" err="1">
                <a:solidFill>
                  <a:srgbClr val="7D9029"/>
                </a:solidFill>
                <a:latin typeface="Courier"/>
              </a:rPr>
              <a:t>sampleSize</a:t>
            </a:r>
            <a:r>
              <a:rPr dirty="0">
                <a:solidFill>
                  <a:srgbClr val="7D9029"/>
                </a:solidFill>
                <a:latin typeface="Courier"/>
              </a:rPr>
              <a:t>=</a:t>
            </a:r>
            <a:r>
              <a:rPr dirty="0" err="1">
                <a:solidFill>
                  <a:srgbClr val="06287E"/>
                </a:solidFill>
                <a:latin typeface="Courier"/>
              </a:rPr>
              <a:t>unlist</a:t>
            </a:r>
            <a:r>
              <a:rPr dirty="0">
                <a:latin typeface="Courier"/>
              </a:rPr>
              <a:t>(n))</a:t>
            </a:r>
            <a:br>
              <a:rPr dirty="0"/>
            </a:br>
            <a:br>
              <a:rPr dirty="0"/>
            </a:br>
            <a:r>
              <a:rPr dirty="0" err="1">
                <a:latin typeface="Courier"/>
              </a:rPr>
              <a:t>df</a:t>
            </a:r>
            <a:r>
              <a:rPr dirty="0">
                <a:latin typeface="Courier"/>
              </a:rPr>
              <a:t> </a:t>
            </a:r>
            <a:r>
              <a:rPr dirty="0">
                <a:solidFill>
                  <a:srgbClr val="4070A0"/>
                </a:solidFill>
                <a:latin typeface="Courier"/>
              </a:rPr>
              <a:t>%&gt;%</a:t>
            </a:r>
            <a:br>
              <a:rPr dirty="0"/>
            </a:br>
            <a:r>
              <a:rPr dirty="0">
                <a:latin typeface="Courier"/>
              </a:rPr>
              <a:t>  </a:t>
            </a:r>
            <a:r>
              <a:rPr dirty="0" err="1">
                <a:solidFill>
                  <a:srgbClr val="06287E"/>
                </a:solidFill>
                <a:latin typeface="Courier"/>
              </a:rPr>
              <a:t>ggplot</a:t>
            </a:r>
            <a:r>
              <a:rPr dirty="0">
                <a:latin typeface="Courier"/>
              </a:rPr>
              <a:t>(</a:t>
            </a:r>
            <a:r>
              <a:rPr dirty="0">
                <a:solidFill>
                  <a:srgbClr val="7D9029"/>
                </a:solidFill>
                <a:latin typeface="Courier"/>
              </a:rPr>
              <a:t>mapping=</a:t>
            </a:r>
            <a:r>
              <a:rPr dirty="0" err="1">
                <a:solidFill>
                  <a:srgbClr val="06287E"/>
                </a:solidFill>
                <a:latin typeface="Courier"/>
              </a:rPr>
              <a:t>aes</a:t>
            </a:r>
            <a:r>
              <a:rPr dirty="0">
                <a:latin typeface="Courier"/>
              </a:rPr>
              <a:t>(</a:t>
            </a:r>
            <a:r>
              <a:rPr dirty="0">
                <a:solidFill>
                  <a:srgbClr val="7D9029"/>
                </a:solidFill>
                <a:latin typeface="Courier"/>
              </a:rPr>
              <a:t>x=</a:t>
            </a:r>
            <a:r>
              <a:rPr dirty="0" err="1">
                <a:latin typeface="Courier"/>
              </a:rPr>
              <a:t>effectSize,</a:t>
            </a:r>
            <a:r>
              <a:rPr dirty="0" err="1">
                <a:solidFill>
                  <a:srgbClr val="7D9029"/>
                </a:solidFill>
                <a:latin typeface="Courier"/>
              </a:rPr>
              <a:t>y</a:t>
            </a:r>
            <a:r>
              <a:rPr dirty="0">
                <a:solidFill>
                  <a:srgbClr val="7D9029"/>
                </a:solidFill>
                <a:latin typeface="Courier"/>
              </a:rPr>
              <a:t>=</a:t>
            </a:r>
            <a:r>
              <a:rPr dirty="0" err="1">
                <a:latin typeface="Courier"/>
              </a:rPr>
              <a:t>sampleSize</a:t>
            </a:r>
            <a:r>
              <a:rPr dirty="0">
                <a:latin typeface="Courier"/>
              </a:rPr>
              <a:t>)) </a:t>
            </a:r>
            <a:r>
              <a:rPr dirty="0">
                <a:solidFill>
                  <a:srgbClr val="4070A0"/>
                </a:solidFill>
                <a:latin typeface="Courier"/>
              </a:rPr>
              <a:t>+</a:t>
            </a:r>
            <a:br>
              <a:rPr dirty="0"/>
            </a:br>
            <a:r>
              <a:rPr dirty="0">
                <a:latin typeface="Courier"/>
              </a:rPr>
              <a:t>  </a:t>
            </a:r>
            <a:r>
              <a:rPr dirty="0" err="1">
                <a:solidFill>
                  <a:srgbClr val="06287E"/>
                </a:solidFill>
                <a:latin typeface="Courier"/>
              </a:rPr>
              <a:t>geom_point</a:t>
            </a:r>
            <a:r>
              <a:rPr dirty="0">
                <a:latin typeface="Courier"/>
              </a:rPr>
              <a:t>(</a:t>
            </a:r>
            <a:r>
              <a:rPr dirty="0">
                <a:solidFill>
                  <a:srgbClr val="7D9029"/>
                </a:solidFill>
                <a:latin typeface="Courier"/>
              </a:rPr>
              <a:t>size=</a:t>
            </a:r>
            <a:r>
              <a:rPr dirty="0">
                <a:solidFill>
                  <a:srgbClr val="40A070"/>
                </a:solidFill>
                <a:latin typeface="Courier"/>
              </a:rPr>
              <a:t>8</a:t>
            </a:r>
            <a:r>
              <a:rPr dirty="0">
                <a:latin typeface="Courier"/>
              </a:rPr>
              <a:t>) </a:t>
            </a:r>
            <a:r>
              <a:rPr dirty="0">
                <a:solidFill>
                  <a:srgbClr val="4070A0"/>
                </a:solidFill>
                <a:latin typeface="Courier"/>
              </a:rPr>
              <a:t>+</a:t>
            </a:r>
            <a:br>
              <a:rPr dirty="0"/>
            </a:br>
            <a:r>
              <a:rPr dirty="0">
                <a:latin typeface="Courier"/>
              </a:rPr>
              <a:t>  </a:t>
            </a:r>
            <a:r>
              <a:rPr dirty="0" err="1">
                <a:solidFill>
                  <a:srgbClr val="06287E"/>
                </a:solidFill>
                <a:latin typeface="Courier"/>
              </a:rPr>
              <a:t>geom_line</a:t>
            </a:r>
            <a:r>
              <a:rPr dirty="0">
                <a:latin typeface="Courier"/>
              </a:rPr>
              <a:t>(</a:t>
            </a:r>
            <a:r>
              <a:rPr dirty="0" err="1">
                <a:solidFill>
                  <a:srgbClr val="7D9029"/>
                </a:solidFill>
                <a:latin typeface="Courier"/>
              </a:rPr>
              <a:t>lty</a:t>
            </a:r>
            <a:r>
              <a:rPr dirty="0">
                <a:solidFill>
                  <a:srgbClr val="7D9029"/>
                </a:solidFill>
                <a:latin typeface="Courier"/>
              </a:rPr>
              <a:t>=</a:t>
            </a:r>
            <a:r>
              <a:rPr dirty="0">
                <a:solidFill>
                  <a:srgbClr val="40A070"/>
                </a:solidFill>
                <a:latin typeface="Courier"/>
              </a:rPr>
              <a:t>2</a:t>
            </a:r>
            <a:r>
              <a:rPr dirty="0">
                <a:latin typeface="Courier"/>
              </a:rPr>
              <a:t>,</a:t>
            </a:r>
            <a:r>
              <a:rPr dirty="0">
                <a:solidFill>
                  <a:srgbClr val="7D9029"/>
                </a:solidFill>
                <a:latin typeface="Courier"/>
              </a:rPr>
              <a:t>lwd=</a:t>
            </a:r>
            <a:r>
              <a:rPr dirty="0">
                <a:solidFill>
                  <a:srgbClr val="40A070"/>
                </a:solidFill>
                <a:latin typeface="Courier"/>
              </a:rPr>
              <a:t>0.75</a:t>
            </a:r>
            <a:r>
              <a:rPr dirty="0">
                <a:latin typeface="Courier"/>
              </a:rPr>
              <a:t>,</a:t>
            </a:r>
            <a:r>
              <a:rPr dirty="0">
                <a:solidFill>
                  <a:srgbClr val="7D9029"/>
                </a:solidFill>
                <a:latin typeface="Courier"/>
              </a:rPr>
              <a:t>col=</a:t>
            </a:r>
            <a:r>
              <a:rPr dirty="0">
                <a:solidFill>
                  <a:srgbClr val="4070A0"/>
                </a:solidFill>
                <a:latin typeface="Courier"/>
              </a:rPr>
              <a:t>"</a:t>
            </a:r>
            <a:r>
              <a:rPr dirty="0" err="1">
                <a:solidFill>
                  <a:srgbClr val="4070A0"/>
                </a:solidFill>
                <a:latin typeface="Courier"/>
              </a:rPr>
              <a:t>darkgrey</a:t>
            </a:r>
            <a:r>
              <a:rPr dirty="0">
                <a:solidFill>
                  <a:srgbClr val="4070A0"/>
                </a:solidFill>
                <a:latin typeface="Courier"/>
              </a:rPr>
              <a:t>"</a:t>
            </a:r>
            <a:r>
              <a:rPr dirty="0">
                <a:latin typeface="Courier"/>
              </a:rPr>
              <a:t>) </a:t>
            </a:r>
            <a:r>
              <a:rPr dirty="0">
                <a:solidFill>
                  <a:srgbClr val="4070A0"/>
                </a:solidFill>
                <a:latin typeface="Courier"/>
              </a:rPr>
              <a:t>+</a:t>
            </a:r>
            <a:br>
              <a:rPr dirty="0"/>
            </a:br>
            <a:r>
              <a:rPr dirty="0">
                <a:latin typeface="Courier"/>
              </a:rPr>
              <a:t>  </a:t>
            </a:r>
            <a:r>
              <a:rPr dirty="0" err="1">
                <a:solidFill>
                  <a:srgbClr val="06287E"/>
                </a:solidFill>
                <a:latin typeface="Courier"/>
              </a:rPr>
              <a:t>theme_light</a:t>
            </a:r>
            <a:r>
              <a:rPr dirty="0">
                <a:latin typeface="Courier"/>
              </a:rPr>
              <a:t>() </a:t>
            </a:r>
            <a:r>
              <a:rPr dirty="0">
                <a:solidFill>
                  <a:srgbClr val="4070A0"/>
                </a:solidFill>
                <a:latin typeface="Courier"/>
              </a:rPr>
              <a:t>+</a:t>
            </a:r>
            <a:br>
              <a:rPr dirty="0"/>
            </a:br>
            <a:r>
              <a:rPr dirty="0">
                <a:latin typeface="Courier"/>
              </a:rPr>
              <a:t>  </a:t>
            </a:r>
            <a:r>
              <a:rPr dirty="0" err="1">
                <a:solidFill>
                  <a:srgbClr val="06287E"/>
                </a:solidFill>
                <a:latin typeface="Courier"/>
              </a:rPr>
              <a:t>ggtitle</a:t>
            </a:r>
            <a:r>
              <a:rPr dirty="0">
                <a:latin typeface="Courier"/>
              </a:rPr>
              <a:t>(</a:t>
            </a:r>
            <a:r>
              <a:rPr dirty="0">
                <a:solidFill>
                  <a:srgbClr val="4070A0"/>
                </a:solidFill>
                <a:latin typeface="Courier"/>
              </a:rPr>
              <a:t>"Sample size curve"</a:t>
            </a:r>
            <a:r>
              <a:rPr dirty="0">
                <a:latin typeface="Courier"/>
              </a:rPr>
              <a:t>) </a:t>
            </a:r>
            <a:r>
              <a:rPr dirty="0">
                <a:solidFill>
                  <a:srgbClr val="4070A0"/>
                </a:solidFill>
                <a:latin typeface="Courier"/>
              </a:rPr>
              <a:t>+</a:t>
            </a:r>
            <a:br>
              <a:rPr dirty="0"/>
            </a:br>
            <a:r>
              <a:rPr dirty="0">
                <a:latin typeface="Courier"/>
              </a:rPr>
              <a:t>  </a:t>
            </a:r>
            <a:r>
              <a:rPr dirty="0" err="1">
                <a:solidFill>
                  <a:srgbClr val="06287E"/>
                </a:solidFill>
                <a:latin typeface="Courier"/>
              </a:rPr>
              <a:t>xlab</a:t>
            </a:r>
            <a:r>
              <a:rPr dirty="0">
                <a:latin typeface="Courier"/>
              </a:rPr>
              <a:t>(</a:t>
            </a:r>
            <a:r>
              <a:rPr dirty="0">
                <a:solidFill>
                  <a:srgbClr val="4070A0"/>
                </a:solidFill>
                <a:latin typeface="Courier"/>
              </a:rPr>
              <a:t>"Effect size"</a:t>
            </a:r>
            <a:r>
              <a:rPr dirty="0">
                <a:latin typeface="Courier"/>
              </a:rPr>
              <a:t>) </a:t>
            </a:r>
            <a:r>
              <a:rPr dirty="0">
                <a:solidFill>
                  <a:srgbClr val="4070A0"/>
                </a:solidFill>
                <a:latin typeface="Courier"/>
              </a:rPr>
              <a:t>+</a:t>
            </a:r>
            <a:br>
              <a:rPr dirty="0"/>
            </a:br>
            <a:r>
              <a:rPr dirty="0">
                <a:latin typeface="Courier"/>
              </a:rPr>
              <a:t>  </a:t>
            </a:r>
            <a:r>
              <a:rPr dirty="0" err="1">
                <a:solidFill>
                  <a:srgbClr val="06287E"/>
                </a:solidFill>
                <a:latin typeface="Courier"/>
              </a:rPr>
              <a:t>ylab</a:t>
            </a:r>
            <a:r>
              <a:rPr dirty="0">
                <a:latin typeface="Courier"/>
              </a:rPr>
              <a:t>(</a:t>
            </a:r>
            <a:r>
              <a:rPr dirty="0">
                <a:solidFill>
                  <a:srgbClr val="4070A0"/>
                </a:solidFill>
                <a:latin typeface="Courier"/>
              </a:rPr>
              <a:t>"Sample size (per group)"</a:t>
            </a:r>
            <a:r>
              <a:rPr dirty="0">
                <a:latin typeface="Courier"/>
              </a:rPr>
              <a:t>) </a:t>
            </a:r>
            <a:r>
              <a:rPr dirty="0">
                <a:solidFill>
                  <a:srgbClr val="4070A0"/>
                </a:solidFill>
                <a:latin typeface="Courier"/>
              </a:rPr>
              <a:t>+</a:t>
            </a:r>
            <a:br>
              <a:rPr dirty="0"/>
            </a:br>
            <a:r>
              <a:rPr dirty="0">
                <a:latin typeface="Courier"/>
              </a:rPr>
              <a:t>  </a:t>
            </a:r>
            <a:r>
              <a:rPr dirty="0">
                <a:solidFill>
                  <a:srgbClr val="06287E"/>
                </a:solidFill>
                <a:latin typeface="Courier"/>
              </a:rPr>
              <a:t>theme</a:t>
            </a:r>
            <a:r>
              <a:rPr dirty="0">
                <a:latin typeface="Courier"/>
              </a:rPr>
              <a:t>(</a:t>
            </a:r>
            <a:r>
              <a:rPr dirty="0">
                <a:solidFill>
                  <a:srgbClr val="7D9029"/>
                </a:solidFill>
                <a:latin typeface="Courier"/>
              </a:rPr>
              <a:t>text=</a:t>
            </a:r>
            <a:r>
              <a:rPr dirty="0" err="1">
                <a:solidFill>
                  <a:srgbClr val="06287E"/>
                </a:solidFill>
                <a:latin typeface="Courier"/>
              </a:rPr>
              <a:t>element_text</a:t>
            </a:r>
            <a:r>
              <a:rPr dirty="0">
                <a:latin typeface="Courier"/>
              </a:rPr>
              <a:t>(</a:t>
            </a:r>
            <a:r>
              <a:rPr dirty="0">
                <a:solidFill>
                  <a:srgbClr val="7D9029"/>
                </a:solidFill>
                <a:latin typeface="Courier"/>
              </a:rPr>
              <a:t>size=</a:t>
            </a:r>
            <a:r>
              <a:rPr dirty="0">
                <a:solidFill>
                  <a:srgbClr val="40A070"/>
                </a:solidFill>
                <a:latin typeface="Courier"/>
              </a:rPr>
              <a:t>20</a:t>
            </a:r>
            <a:r>
              <a:rPr dirty="0">
                <a:latin typeface="Courier"/>
              </a:rPr>
              <a:t>))</a:t>
            </a:r>
          </a:p>
        </p:txBody>
      </p:sp>
      <p:pic>
        <p:nvPicPr>
          <p:cNvPr id="3" name="Picture 1" descr="MLW_KUHeS_RandStatistics_Session4_files/figure-pptx/unnamed-chunk-34-1.png"/>
          <p:cNvPicPr>
            <a:picLocks noGrp="1" noChangeAspect="1"/>
          </p:cNvPicPr>
          <p:nvPr/>
        </p:nvPicPr>
        <p:blipFill>
          <a:blip r:embed="rId2"/>
          <a:stretch>
            <a:fillRect/>
          </a:stretch>
        </p:blipFill>
        <p:spPr bwMode="auto">
          <a:xfrm>
            <a:off x="5181600" y="1676400"/>
            <a:ext cx="6172200" cy="3467100"/>
          </a:xfrm>
          <a:prstGeom prst="rect">
            <a:avLst/>
          </a:prstGeom>
          <a:noFill/>
          <a:ln w="9525">
            <a:noFill/>
            <a:headEnd/>
            <a:tailEnd/>
          </a:ln>
        </p:spPr>
      </p:pic>
      <p:sp>
        <p:nvSpPr>
          <p:cNvPr id="7" name="Slide Number Placeholder 6">
            <a:extLst>
              <a:ext uri="{FF2B5EF4-FFF2-40B4-BE49-F238E27FC236}">
                <a16:creationId xmlns:a16="http://schemas.microsoft.com/office/drawing/2014/main" id="{14DD33D4-F2B4-4E27-98BD-BC92728343CB}"/>
              </a:ext>
            </a:extLst>
          </p:cNvPr>
          <p:cNvSpPr>
            <a:spLocks noGrp="1"/>
          </p:cNvSpPr>
          <p:nvPr>
            <p:ph type="sldNum" sz="quarter" idx="12"/>
          </p:nvPr>
        </p:nvSpPr>
        <p:spPr/>
        <p:txBody>
          <a:bodyPr/>
          <a:lstStyle/>
          <a:p>
            <a:fld id="{E1C5CB42-CF14-4293-8971-6DCD1AAE8BE7}" type="slidenum">
              <a:rPr lang="en-GB" smtClean="0"/>
              <a:t>108</a:t>
            </a:fld>
            <a:endParaRPr lang="en-GB"/>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marL="0" lvl="0" indent="0">
              <a:buNone/>
            </a:pPr>
            <a:r>
              <a:t>Adjusting for attrition</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a:xfrm>
                <a:off x="838200" y="1690688"/>
                <a:ext cx="10515600" cy="4667250"/>
              </a:xfrm>
            </p:spPr>
            <p:txBody>
              <a:bodyPr>
                <a:normAutofit fontScale="92500" lnSpcReduction="10000"/>
              </a:bodyPr>
              <a:lstStyle/>
              <a:p>
                <a:pPr marL="0" lvl="0" indent="0">
                  <a:buNone/>
                </a:pPr>
                <a:r>
                  <a:rPr dirty="0"/>
                  <a:t>If you expect that some data will not be useable / available (e.g. loss to follow-up or because a given assay is known to fail in a proportion of samples), then you need to adjust your calculated sample size for this:</a:t>
                </a:r>
              </a:p>
              <a:p>
                <a:pPr lvl="0"/>
                <a:r>
                  <a:rPr dirty="0"/>
                  <a:t>Calculated sample size is </a:t>
                </a:r>
                <a14:m>
                  <m:oMath xmlns:m="http://schemas.openxmlformats.org/officeDocument/2006/math">
                    <m:r>
                      <a:rPr>
                        <a:latin typeface="Cambria Math" panose="02040503050406030204" pitchFamily="18" charset="0"/>
                      </a:rPr>
                      <m:t>𝑛</m:t>
                    </m:r>
                  </m:oMath>
                </a14:m>
                <a:endParaRPr dirty="0"/>
              </a:p>
              <a:p>
                <a:pPr lvl="0"/>
                <a:r>
                  <a:rPr dirty="0"/>
                  <a:t>Expected attrition proportion is </a:t>
                </a:r>
                <a14:m>
                  <m:oMath xmlns:m="http://schemas.openxmlformats.org/officeDocument/2006/math">
                    <m:r>
                      <a:rPr>
                        <a:latin typeface="Cambria Math" panose="02040503050406030204" pitchFamily="18" charset="0"/>
                      </a:rPr>
                      <m:t>𝑝</m:t>
                    </m:r>
                  </m:oMath>
                </a14:m>
                <a:endParaRPr dirty="0"/>
              </a:p>
              <a:p>
                <a:pPr marL="0" lvl="0" indent="0">
                  <a:buNone/>
                </a:pPr>
                <a:r>
                  <a:rPr dirty="0"/>
                  <a:t>Then the adjusted sample size is </a:t>
                </a:r>
                <a14:m>
                  <m:oMath xmlns:m="http://schemas.openxmlformats.org/officeDocument/2006/math">
                    <m:r>
                      <a:rPr>
                        <a:latin typeface="Cambria Math" panose="02040503050406030204" pitchFamily="18" charset="0"/>
                      </a:rPr>
                      <m:t>𝑛</m:t>
                    </m:r>
                    <m:r>
                      <a:rPr>
                        <a:latin typeface="Cambria Math" panose="02040503050406030204" pitchFamily="18" charset="0"/>
                      </a:rPr>
                      <m:t>′=</m:t>
                    </m:r>
                    <m:r>
                      <a:rPr>
                        <a:latin typeface="Cambria Math" panose="02040503050406030204" pitchFamily="18" charset="0"/>
                      </a:rPr>
                      <m:t>𝑛</m:t>
                    </m:r>
                    <m:r>
                      <a:rPr>
                        <a:latin typeface="Cambria Math" panose="02040503050406030204" pitchFamily="18" charset="0"/>
                      </a:rPr>
                      <m:t>/</m:t>
                    </m:r>
                    <m:d>
                      <m:dPr>
                        <m:ctrlPr>
                          <a:rPr i="1">
                            <a:latin typeface="Cambria Math" panose="02040503050406030204" pitchFamily="18" charset="0"/>
                          </a:rPr>
                        </m:ctrlPr>
                      </m:dPr>
                      <m:e>
                        <m:r>
                          <a:rPr>
                            <a:latin typeface="Cambria Math" panose="02040503050406030204" pitchFamily="18" charset="0"/>
                          </a:rPr>
                          <m:t>1−</m:t>
                        </m:r>
                        <m:r>
                          <a:rPr>
                            <a:latin typeface="Cambria Math" panose="02040503050406030204" pitchFamily="18" charset="0"/>
                          </a:rPr>
                          <m:t>𝑝</m:t>
                        </m:r>
                      </m:e>
                    </m:d>
                  </m:oMath>
                </a14:m>
                <a:r>
                  <a:rPr dirty="0"/>
                  <a:t>.</a:t>
                </a:r>
              </a:p>
              <a:p>
                <a:pPr marL="0" lvl="0" indent="0">
                  <a:buNone/>
                </a:pPr>
                <a:r>
                  <a:rPr dirty="0"/>
                  <a:t>Examples:</a:t>
                </a:r>
              </a:p>
              <a:p>
                <a:pPr lvl="0" indent="0">
                  <a:buNone/>
                </a:pPr>
                <a:r>
                  <a:rPr dirty="0">
                    <a:latin typeface="Courier"/>
                  </a:rPr>
                  <a:t>n</a:t>
                </a:r>
                <a:r>
                  <a:rPr dirty="0">
                    <a:solidFill>
                      <a:srgbClr val="007020"/>
                    </a:solidFill>
                    <a:latin typeface="Courier"/>
                  </a:rPr>
                  <a:t>&lt;-</a:t>
                </a:r>
                <a:r>
                  <a:rPr dirty="0">
                    <a:solidFill>
                      <a:srgbClr val="40A070"/>
                    </a:solidFill>
                    <a:latin typeface="Courier"/>
                  </a:rPr>
                  <a:t>100</a:t>
                </a:r>
                <a:r>
                  <a:rPr dirty="0">
                    <a:latin typeface="Courier"/>
                  </a:rPr>
                  <a:t> </a:t>
                </a:r>
                <a:r>
                  <a:rPr i="1" dirty="0">
                    <a:solidFill>
                      <a:srgbClr val="60A0B0"/>
                    </a:solidFill>
                    <a:latin typeface="Courier"/>
                  </a:rPr>
                  <a:t># previous calculation (say) told us we need 100 participants</a:t>
                </a:r>
                <a:br>
                  <a:rPr dirty="0"/>
                </a:br>
                <a:r>
                  <a:rPr dirty="0">
                    <a:latin typeface="Courier"/>
                  </a:rPr>
                  <a:t>p</a:t>
                </a:r>
                <a:r>
                  <a:rPr dirty="0">
                    <a:solidFill>
                      <a:srgbClr val="007020"/>
                    </a:solidFill>
                    <a:latin typeface="Courier"/>
                  </a:rPr>
                  <a:t>&lt;-</a:t>
                </a:r>
                <a:r>
                  <a:rPr dirty="0">
                    <a:solidFill>
                      <a:srgbClr val="40A070"/>
                    </a:solidFill>
                    <a:latin typeface="Courier"/>
                  </a:rPr>
                  <a:t>0.2</a:t>
                </a:r>
                <a:r>
                  <a:rPr dirty="0">
                    <a:latin typeface="Courier"/>
                  </a:rPr>
                  <a:t> </a:t>
                </a:r>
                <a:r>
                  <a:rPr i="1" dirty="0">
                    <a:solidFill>
                      <a:srgbClr val="60A0B0"/>
                    </a:solidFill>
                    <a:latin typeface="Courier"/>
                  </a:rPr>
                  <a:t># we expect 20% loss-to-follow-up</a:t>
                </a:r>
                <a:br>
                  <a:rPr dirty="0"/>
                </a:br>
                <a:br>
                  <a:rPr dirty="0"/>
                </a:br>
                <a:r>
                  <a:rPr dirty="0" err="1">
                    <a:latin typeface="Courier"/>
                  </a:rPr>
                  <a:t>nAdj</a:t>
                </a:r>
                <a:r>
                  <a:rPr dirty="0">
                    <a:solidFill>
                      <a:srgbClr val="007020"/>
                    </a:solidFill>
                    <a:latin typeface="Courier"/>
                  </a:rPr>
                  <a:t>&lt;-</a:t>
                </a:r>
                <a:r>
                  <a:rPr dirty="0">
                    <a:latin typeface="Courier"/>
                  </a:rPr>
                  <a:t>n</a:t>
                </a:r>
                <a:r>
                  <a:rPr dirty="0">
                    <a:solidFill>
                      <a:srgbClr val="4070A0"/>
                    </a:solidFill>
                    <a:latin typeface="Courier"/>
                  </a:rPr>
                  <a:t>/</a:t>
                </a:r>
                <a:r>
                  <a:rPr dirty="0">
                    <a:latin typeface="Courier"/>
                  </a:rPr>
                  <a:t>(</a:t>
                </a:r>
                <a:r>
                  <a:rPr dirty="0">
                    <a:solidFill>
                      <a:srgbClr val="40A070"/>
                    </a:solidFill>
                    <a:latin typeface="Courier"/>
                  </a:rPr>
                  <a:t>1</a:t>
                </a:r>
                <a:r>
                  <a:rPr dirty="0">
                    <a:solidFill>
                      <a:srgbClr val="4070A0"/>
                    </a:solidFill>
                    <a:latin typeface="Courier"/>
                  </a:rPr>
                  <a:t>-</a:t>
                </a:r>
                <a:r>
                  <a:rPr dirty="0">
                    <a:latin typeface="Courier"/>
                  </a:rPr>
                  <a:t>p)</a:t>
                </a:r>
                <a:br>
                  <a:rPr dirty="0"/>
                </a:br>
                <a:r>
                  <a:rPr dirty="0" err="1">
                    <a:latin typeface="Courier"/>
                  </a:rPr>
                  <a:t>nAdj</a:t>
                </a:r>
                <a:r>
                  <a:rPr dirty="0">
                    <a:solidFill>
                      <a:srgbClr val="007020"/>
                    </a:solidFill>
                    <a:latin typeface="Courier"/>
                  </a:rPr>
                  <a:t>&lt;-</a:t>
                </a:r>
                <a:r>
                  <a:rPr dirty="0">
                    <a:solidFill>
                      <a:srgbClr val="06287E"/>
                    </a:solidFill>
                    <a:latin typeface="Courier"/>
                  </a:rPr>
                  <a:t>ceiling</a:t>
                </a:r>
                <a:r>
                  <a:rPr dirty="0">
                    <a:latin typeface="Courier"/>
                  </a:rPr>
                  <a:t>(</a:t>
                </a:r>
                <a:r>
                  <a:rPr dirty="0" err="1">
                    <a:latin typeface="Courier"/>
                  </a:rPr>
                  <a:t>nAdj</a:t>
                </a:r>
                <a:r>
                  <a:rPr dirty="0">
                    <a:latin typeface="Courier"/>
                  </a:rPr>
                  <a:t>)</a:t>
                </a:r>
                <a:br>
                  <a:rPr dirty="0"/>
                </a:br>
                <a:br>
                  <a:rPr dirty="0"/>
                </a:br>
                <a:r>
                  <a:rPr dirty="0">
                    <a:solidFill>
                      <a:srgbClr val="06287E"/>
                    </a:solidFill>
                    <a:latin typeface="Courier"/>
                  </a:rPr>
                  <a:t>print</a:t>
                </a:r>
                <a:r>
                  <a:rPr dirty="0">
                    <a:latin typeface="Courier"/>
                  </a:rPr>
                  <a:t>(</a:t>
                </a:r>
                <a:r>
                  <a:rPr dirty="0" err="1">
                    <a:latin typeface="Courier"/>
                  </a:rPr>
                  <a:t>nAdj</a:t>
                </a:r>
                <a:r>
                  <a:rPr dirty="0">
                    <a:latin typeface="Courier"/>
                  </a:rPr>
                  <a:t>)</a:t>
                </a:r>
                <a:br>
                  <a:rPr dirty="0"/>
                </a:br>
                <a:r>
                  <a:rPr i="1" dirty="0">
                    <a:solidFill>
                      <a:srgbClr val="BA2121"/>
                    </a:solidFill>
                    <a:latin typeface="Courier"/>
                  </a:rPr>
                  <a:t>## [1] 125</a:t>
                </a:r>
              </a:p>
            </p:txBody>
          </p:sp>
        </mc:Choice>
        <mc:Fallback>
          <p:sp>
            <p:nvSpPr>
              <p:cNvPr id="3" name="Content Placeholder 2">
                <a:extLst>
                  <a:ext uri="{FF2B5EF4-FFF2-40B4-BE49-F238E27FC236}">
                    <a16:creationId xmlns:a16="http://schemas.microsoft.com/office/drawing/2014/main" id="{288BC91F-1C76-43AE-8B2A-956D48B768BE}"/>
                  </a:ext>
                </a:extLst>
              </p:cNvPr>
              <p:cNvSpPr>
                <a:spLocks noGrp="1" noRot="1" noChangeAspect="1" noMove="1" noResize="1" noEditPoints="1" noAdjustHandles="1" noChangeArrowheads="1" noChangeShapeType="1" noTextEdit="1"/>
              </p:cNvSpPr>
              <p:nvPr>
                <p:ph idx="1"/>
              </p:nvPr>
            </p:nvSpPr>
            <p:spPr>
              <a:xfrm>
                <a:off x="838200" y="1690688"/>
                <a:ext cx="10515600" cy="4667250"/>
              </a:xfrm>
              <a:blipFill>
                <a:blip r:embed="rId2"/>
                <a:stretch>
                  <a:fillRect l="-638" t="-1828" r="-870" b="-1828"/>
                </a:stretch>
              </a:blipFill>
            </p:spPr>
            <p:txBody>
              <a:bodyPr/>
              <a:lstStyle/>
              <a:p>
                <a:r>
                  <a:rPr lang="en-US">
                    <a:noFill/>
                  </a:rPr>
                  <a:t> </a:t>
                </a:r>
              </a:p>
            </p:txBody>
          </p:sp>
        </mc:Fallback>
      </mc:AlternateContent>
      <p:sp>
        <p:nvSpPr>
          <p:cNvPr id="6" name="Slide Number Placeholder 5">
            <a:extLst>
              <a:ext uri="{FF2B5EF4-FFF2-40B4-BE49-F238E27FC236}">
                <a16:creationId xmlns:a16="http://schemas.microsoft.com/office/drawing/2014/main" id="{C03F998A-2A5E-471F-9FEB-2559B0A7F93D}"/>
              </a:ext>
            </a:extLst>
          </p:cNvPr>
          <p:cNvSpPr>
            <a:spLocks noGrp="1"/>
          </p:cNvSpPr>
          <p:nvPr>
            <p:ph type="sldNum" sz="quarter" idx="12"/>
          </p:nvPr>
        </p:nvSpPr>
        <p:spPr/>
        <p:txBody>
          <a:bodyPr/>
          <a:lstStyle/>
          <a:p>
            <a:fld id="{E1C5CB42-CF14-4293-8971-6DCD1AAE8BE7}" type="slidenum">
              <a:rPr lang="en-GB" smtClean="0"/>
              <a:t>109</a:t>
            </a:fld>
            <a:endParaRPr lang="en-GB"/>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p:txBody>
          <a:bodyPr/>
          <a:lstStyle/>
          <a:p>
            <a:pPr marL="0" lvl="0" indent="0">
              <a:buNone/>
            </a:pPr>
            <a14:m xmlns:a14="http://schemas.microsoft.com/office/drawing/2010/main">
              <m:oMathPara xmlns:m="http://schemas.openxmlformats.org/officeDocument/2006/math">
                <m:oMathParaPr>
                  <m:jc m:val="center"/>
                </m:oMathParaPr>
                <m:oMath xmlns:m="http://schemas.openxmlformats.org/officeDocument/2006/math">
                  <m:r>
                    <a:rPr>
                      <a:latin typeface="Cambria Math" panose="02040503050406030204" pitchFamily="18" charset="0"/>
                    </a:rPr>
                    <m:t> </m:t>
                  </m:r>
                </m:oMath>
              </m:oMathPara>
            </a14:m>
            <a:endParaRPr/>
          </a:p>
          <a:p>
            <a:pPr marL="0" lvl="0" indent="0">
              <a:buNone/>
            </a:pPr>
            <a:r>
              <a:t>[end of Session 4]</a:t>
            </a:r>
          </a:p>
        </p:txBody>
      </p:sp>
      <p:sp>
        <p:nvSpPr>
          <p:cNvPr id="6" name="Slide Number Placeholder 5">
            <a:extLst>
              <a:ext uri="{FF2B5EF4-FFF2-40B4-BE49-F238E27FC236}">
                <a16:creationId xmlns:a16="http://schemas.microsoft.com/office/drawing/2014/main" id="{C03F998A-2A5E-471F-9FEB-2559B0A7F93D}"/>
              </a:ext>
            </a:extLst>
          </p:cNvPr>
          <p:cNvSpPr>
            <a:spLocks noGrp="1"/>
          </p:cNvSpPr>
          <p:nvPr>
            <p:ph type="sldNum" sz="quarter" idx="12"/>
          </p:nvPr>
        </p:nvSpPr>
        <p:spPr/>
        <p:txBody>
          <a:bodyPr/>
          <a:lstStyle/>
          <a:p>
            <a:fld id="{E1C5CB42-CF14-4293-8971-6DCD1AAE8BE7}" type="slidenum">
              <a:rPr lang="en-GB" smtClean="0"/>
              <a:t>110</a:t>
            </a:fld>
            <a:endParaRPr lang="en-GB"/>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10203</Words>
  <Application>Microsoft Office PowerPoint</Application>
  <PresentationFormat>Widescreen</PresentationFormat>
  <Paragraphs>724</Paragraphs>
  <Slides>110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110</vt:i4>
      </vt:variant>
    </vt:vector>
  </HeadingPairs>
  <TitlesOfParts>
    <vt:vector size="116" baseType="lpstr">
      <vt:lpstr>Arial</vt:lpstr>
      <vt:lpstr>Calibri</vt:lpstr>
      <vt:lpstr>Calibri Light</vt:lpstr>
      <vt:lpstr>Cambria Math</vt:lpstr>
      <vt:lpstr>Courier</vt:lpstr>
      <vt:lpstr>Office Theme</vt:lpstr>
      <vt:lpstr>Statistics and R short course</vt:lpstr>
      <vt:lpstr>Introduction</vt:lpstr>
      <vt:lpstr>Preliminaries</vt:lpstr>
      <vt:lpstr>Preliminaries</vt:lpstr>
      <vt:lpstr>Learning outcomes</vt:lpstr>
      <vt:lpstr>Outline</vt:lpstr>
      <vt:lpstr>Estimation</vt:lpstr>
      <vt:lpstr>Exercise</vt:lpstr>
      <vt:lpstr>General principles</vt:lpstr>
      <vt:lpstr>General principles</vt:lpstr>
      <vt:lpstr>Estimating a proportion</vt:lpstr>
      <vt:lpstr>Estimating a proportion</vt:lpstr>
      <vt:lpstr>Estimating a proportion</vt:lpstr>
      <vt:lpstr>Estimating a proportion</vt:lpstr>
      <vt:lpstr>Estimating a sample mean</vt:lpstr>
      <vt:lpstr>Estimating a sample mean</vt:lpstr>
      <vt:lpstr>Estimating a mean</vt:lpstr>
      <vt:lpstr>Estimating a mean</vt:lpstr>
      <vt:lpstr>Estimating a regression coefficient</vt:lpstr>
      <vt:lpstr>Null hypothesis significance testing</vt:lpstr>
      <vt:lpstr>Hypothesis</vt:lpstr>
      <vt:lpstr>Null Hypothesis</vt:lpstr>
      <vt:lpstr>Null Hypothesis</vt:lpstr>
      <vt:lpstr>Null hypothesis</vt:lpstr>
      <vt:lpstr>Alternative hypothesis</vt:lpstr>
      <vt:lpstr>Statistical hypothesis</vt:lpstr>
      <vt:lpstr>One and Two tailed Hypotheses</vt:lpstr>
      <vt:lpstr>Statistical null hypothesis testing</vt:lpstr>
      <vt:lpstr>A note on hypothesis testing</vt:lpstr>
      <vt:lpstr>A note on hypothesis testing</vt:lpstr>
      <vt:lpstr>Type I and Type II errors</vt:lpstr>
      <vt:lpstr>Type I and Type II errors</vt:lpstr>
      <vt:lpstr>Alpha and Beta</vt:lpstr>
      <vt:lpstr>Data</vt:lpstr>
      <vt:lpstr>Overview for the rest of this section</vt:lpstr>
      <vt:lpstr>General procedure</vt:lpstr>
      <vt:lpstr>When can hypothesis testing be used</vt:lpstr>
      <vt:lpstr>Parametric tests</vt:lpstr>
      <vt:lpstr>One-sample t test</vt:lpstr>
      <vt:lpstr>One-sample t test</vt:lpstr>
      <vt:lpstr>One-sample t test</vt:lpstr>
      <vt:lpstr>Check the assumptions</vt:lpstr>
      <vt:lpstr>One sample t-test</vt:lpstr>
      <vt:lpstr>One sample t-test - one sided</vt:lpstr>
      <vt:lpstr>One sample t-test - one sided</vt:lpstr>
      <vt:lpstr>Two sample t-test</vt:lpstr>
      <vt:lpstr>Two sample t-test</vt:lpstr>
      <vt:lpstr>Two sample t-test</vt:lpstr>
      <vt:lpstr>Assumptions</vt:lpstr>
      <vt:lpstr>Assumptions</vt:lpstr>
      <vt:lpstr>Two sample t-test</vt:lpstr>
      <vt:lpstr>Paired t-test</vt:lpstr>
      <vt:lpstr>Comparing means - &gt;2 groups</vt:lpstr>
      <vt:lpstr>One-way ANOVA</vt:lpstr>
      <vt:lpstr>One-way ANOVA</vt:lpstr>
      <vt:lpstr>One-way ANOVA</vt:lpstr>
      <vt:lpstr>Comparing proportions: one sample</vt:lpstr>
      <vt:lpstr>Comparing proportions: one sample</vt:lpstr>
      <vt:lpstr>Comparing proportions: one sample</vt:lpstr>
      <vt:lpstr>Comparing proportions: one sample</vt:lpstr>
      <vt:lpstr>Comparing proportions: one sample</vt:lpstr>
      <vt:lpstr>Comparing proportions: one sample</vt:lpstr>
      <vt:lpstr>Comparing proportions: two samples</vt:lpstr>
      <vt:lpstr>Comparing proportions: two samples</vt:lpstr>
      <vt:lpstr>Comparing proportions: two samples</vt:lpstr>
      <vt:lpstr>Comparing proportions: two samples</vt:lpstr>
      <vt:lpstr>Comparing proportions: chi-squared</vt:lpstr>
      <vt:lpstr>Comparing proportions: chi-squared</vt:lpstr>
      <vt:lpstr>Comparing proportions: chi-squared</vt:lpstr>
      <vt:lpstr>Comparing proportions: chi-squared</vt:lpstr>
      <vt:lpstr>Comparing proportions: chi-squared</vt:lpstr>
      <vt:lpstr>Non-parametric tests</vt:lpstr>
      <vt:lpstr>Non-parametric tests</vt:lpstr>
      <vt:lpstr>Wilcoxon one-sample signed rank test</vt:lpstr>
      <vt:lpstr>Wilcoxon one-sample signed rank test</vt:lpstr>
      <vt:lpstr>Wilcoxon one-sample signed rank test</vt:lpstr>
      <vt:lpstr>Wilcoxon two-sample rank-sum test</vt:lpstr>
      <vt:lpstr>Wilcoxon two-sample rank-sum test</vt:lpstr>
      <vt:lpstr>Wilcoxon paired signed rank test</vt:lpstr>
      <vt:lpstr>Kruskal-Wallis test – more than 2 groups</vt:lpstr>
      <vt:lpstr>Kruskal-Wallis test – more than 2 groups</vt:lpstr>
      <vt:lpstr>Fisher’s exact test</vt:lpstr>
      <vt:lpstr>Fisher’s exact test</vt:lpstr>
      <vt:lpstr>Fisher’s exact test</vt:lpstr>
      <vt:lpstr>Permutation tests</vt:lpstr>
      <vt:lpstr>Permutation tests</vt:lpstr>
      <vt:lpstr>Permutation tests</vt:lpstr>
      <vt:lpstr>Word of warning: to p or not to p</vt:lpstr>
      <vt:lpstr>Sample size calculations</vt:lpstr>
      <vt:lpstr>Sample size considerations</vt:lpstr>
      <vt:lpstr>Basic elements</vt:lpstr>
      <vt:lpstr>Basic elements</vt:lpstr>
      <vt:lpstr>Sample size and power</vt:lpstr>
      <vt:lpstr>Notes on sample size</vt:lpstr>
      <vt:lpstr>pwr library</vt:lpstr>
      <vt:lpstr>Sample size for estimating a proportion</vt:lpstr>
      <vt:lpstr>Sample size for estimating a proportion</vt:lpstr>
      <vt:lpstr>Sample size for estimating a proportion</vt:lpstr>
      <vt:lpstr>Sample size for testing one proportion</vt:lpstr>
      <vt:lpstr>Sample size for testing one proportion</vt:lpstr>
      <vt:lpstr>Sample size for comparing two proportions</vt:lpstr>
      <vt:lpstr>Sample size for estimating a mean</vt:lpstr>
      <vt:lpstr>Sample size for comparing two means</vt:lpstr>
      <vt:lpstr>Sample size for comparing two means</vt:lpstr>
      <vt:lpstr>Sample size for cluster sampling</vt:lpstr>
      <vt:lpstr>Useful reading and practice</vt:lpstr>
      <vt:lpstr>Power curves / sample size graphs</vt:lpstr>
      <vt:lpstr>Simple R code for producing sample size graph</vt:lpstr>
      <vt:lpstr>Adjusting for attrition</vt:lpstr>
      <vt:lpstr>PowerPoint Presentation</vt:lpstr>
    </vt:vector>
  </TitlesOfParts>
  <LinksUpToDate>false</LinksUpToDate>
  <SharedDoc>false</SharedDoc>
  <HyperlinksChanged>false</HyperlinksChanged>
  <AppVersion>16.0000</AppVersion>
</Properties>
</file>

<file path=docProps/app0.xml><?xml version="1.0" encoding="utf-8"?>
<Properties xmlns="http://schemas.openxmlformats.org/officeDocument/2006/extended-properties" xmlns:vt="http://schemas.openxmlformats.org/officeDocument/2006/docPropsVTypes">
  <TotalTime>22</TotalTime>
  <Words>2</Words>
  <Application>Microsoft Macintosh PowerPoint</Application>
  <PresentationFormat>Widescreen</PresentationFormat>
  <Paragraphs>2</Paragraphs>
  <Slides>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vt:i4>
      </vt:variant>
    </vt:vector>
  </HeadingPairs>
  <TitlesOfParts>
    <vt:vector size="6" baseType="lpstr">
      <vt:lpstr>Arial</vt:lpstr>
      <vt:lpstr>Calibri</vt:lpstr>
      <vt:lpstr>Calibri Light</vt:lpstr>
      <vt:lpstr>Office Theme</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Statistics and R short course</dc:title>
  <dc:creator>Vester Gunsaru</dc:creator>
  <cp:keywords/>
  <cp:lastModifiedBy>Vester Gunsaru</cp:lastModifiedBy>
  <cp:revision>1</cp:revision>
  <dcterms:created xsi:type="dcterms:W3CDTF">2026-01-27T13:42:43Z</dcterms:created>
  <dcterms:modified xsi:type="dcterms:W3CDTF">2026-01-27T13:49:05Z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ate">
    <vt:lpwstr>28 January 2026</vt:lpwstr>
  </property>
  <property fmtid="{D5CDD505-2E9C-101B-9397-08002B2CF9AE}" pid="3" name="output">
    <vt:lpwstr/>
  </property>
  <property fmtid="{D5CDD505-2E9C-101B-9397-08002B2CF9AE}" pid="4" name="subtitle">
    <vt:lpwstr>Session 4: Parameter estimation and Statistical hypothesis testing</vt:lpwstr>
  </property>
</Properties>
</file>