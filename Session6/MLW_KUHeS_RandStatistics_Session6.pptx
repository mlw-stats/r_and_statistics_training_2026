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4660"/>
  </p:normalViewPr>
  <p:slideViewPr>
    <p:cSldViewPr snapToGrid="0">
      <p:cViewPr varScale="1">
        <p:scale>
          <a:sx n="109" d="100"/>
          <a:sy n="109" d="100"/>
        </p:scale>
        <p:origin x="1040" y="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FE552-82FF-41CD-AE9B-C5B295BA4FFD}"/>
              </a:ext>
            </a:extLst>
          </p:cNvPr>
          <p:cNvSpPr>
            <a:spLocks noGrp="1"/>
          </p:cNvSpPr>
          <p:nvPr>
            <p:ph type="ctrTitle"/>
          </p:nvPr>
        </p:nvSpPr>
        <p:spPr>
          <a:xfrm>
            <a:off x="1524000" y="1122363"/>
            <a:ext cx="9144000" cy="2387600"/>
          </a:xfrm>
        </p:spPr>
        <p:txBody>
          <a:bodyPr anchor="b">
            <a:normAutofit/>
          </a:bodyPr>
          <a:lstStyle>
            <a:lvl1pPr algn="ctr">
              <a:defRPr sz="5400" b="1">
                <a:solidFill>
                  <a:srgbClr val="C00000"/>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8C47A7-1C60-48ED-9106-1A4E50CD85F0}"/>
              </a:ext>
            </a:extLst>
          </p:cNvPr>
          <p:cNvSpPr>
            <a:spLocks noGrp="1"/>
          </p:cNvSpPr>
          <p:nvPr>
            <p:ph type="subTitle" idx="1"/>
          </p:nvPr>
        </p:nvSpPr>
        <p:spPr>
          <a:xfrm>
            <a:off x="1524000" y="4026500"/>
            <a:ext cx="9144000" cy="12313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6" name="Slide Number Placeholder 5">
            <a:extLst>
              <a:ext uri="{FF2B5EF4-FFF2-40B4-BE49-F238E27FC236}">
                <a16:creationId xmlns:a16="http://schemas.microsoft.com/office/drawing/2014/main" id="{90A256D4-A46F-42D5-9B93-520AF7ED2811}"/>
              </a:ext>
            </a:extLst>
          </p:cNvPr>
          <p:cNvSpPr>
            <a:spLocks noGrp="1"/>
          </p:cNvSpPr>
          <p:nvPr>
            <p:ph type="sldNum" sz="quarter" idx="12"/>
          </p:nvPr>
        </p:nvSpPr>
        <p:spPr/>
        <p:txBody>
          <a:bodyPr/>
          <a:lstStyle/>
          <a:p>
            <a:fld id="{E1C5CB42-CF14-4293-8971-6DCD1AAE8BE7}" type="slidenum">
              <a:rPr lang="en-GB" smtClean="0"/>
              <a:t>‹#›</a:t>
            </a:fld>
            <a:endParaRPr lang="en-GB"/>
          </a:p>
        </p:txBody>
      </p:sp>
      <p:sp>
        <p:nvSpPr>
          <p:cNvPr id="7" name="Date Placeholder 3">
            <a:extLst>
              <a:ext uri="{FF2B5EF4-FFF2-40B4-BE49-F238E27FC236}">
                <a16:creationId xmlns:a16="http://schemas.microsoft.com/office/drawing/2014/main" id="{7CD99309-7B5F-490B-9BDE-AAF9B5F8DCFE}"/>
              </a:ext>
            </a:extLst>
          </p:cNvPr>
          <p:cNvSpPr>
            <a:spLocks noGrp="1"/>
          </p:cNvSpPr>
          <p:nvPr>
            <p:ph type="dt" sz="half" idx="2"/>
          </p:nvPr>
        </p:nvSpPr>
        <p:spPr>
          <a:xfrm>
            <a:off x="4724400" y="5580025"/>
            <a:ext cx="2743200" cy="311224"/>
          </a:xfrm>
          <a:prstGeom prst="rect">
            <a:avLst/>
          </a:prstGeom>
        </p:spPr>
        <p:txBody>
          <a:bodyPr vert="horz" lIns="91440" tIns="45720" rIns="91440" bIns="45720" rtlCol="0" anchor="ctr"/>
          <a:lstStyle>
            <a:lvl1pPr algn="ctr">
              <a:defRPr sz="1200">
                <a:solidFill>
                  <a:schemeClr val="bg2">
                    <a:lumMod val="50000"/>
                  </a:schemeClr>
                </a:solidFill>
              </a:defRPr>
            </a:lvl1pPr>
          </a:lstStyle>
          <a:p>
            <a:fld id="{C2113EE3-8373-4C14-933F-C1E589D5B246}" type="datetime1">
              <a:rPr lang="en-GB" smtClean="0"/>
              <a:t>03/02/2026</a:t>
            </a:fld>
            <a:endParaRPr lang="en-GB" dirty="0"/>
          </a:p>
        </p:txBody>
      </p:sp>
    </p:spTree>
    <p:extLst>
      <p:ext uri="{BB962C8B-B14F-4D97-AF65-F5344CB8AC3E}">
        <p14:creationId xmlns:p14="http://schemas.microsoft.com/office/powerpoint/2010/main" val="291206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lvl2pPr marL="685800" indent="-228600">
              <a:buClr>
                <a:srgbClr val="C00000"/>
              </a:buClr>
              <a:buFont typeface="Arial" panose="020B0604020202020204" pitchFamily="34" charset="0"/>
              <a:buChar char="•"/>
              <a:defRPr/>
            </a:lvl2pPr>
            <a:lvl3pPr marL="1143000" indent="-228600">
              <a:buClrTx/>
              <a:buFont typeface="Arial" panose="020B0604020202020204" pitchFamily="34" charset="0"/>
              <a:buChar char="•"/>
              <a:defRPr/>
            </a:lvl3pPr>
            <a:lvl4pPr>
              <a:buClr>
                <a:srgbClr val="C00000"/>
              </a:buClr>
              <a:defRPr/>
            </a:lvl4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3990030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nchor="b">
            <a:normAutofit/>
          </a:bodyPr>
          <a:lstStyle>
            <a:lvl1pPr>
              <a:defRPr sz="4400" b="1">
                <a:solidFill>
                  <a:srgbClr val="C00000"/>
                </a:solidFill>
              </a:defRPr>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8E6FC57D-47CF-4AB3-8F41-D74240EA10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3048679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C85BE-B3D8-4FF3-B29D-02E8297507B4}"/>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7E89358A-6410-47DE-B7D5-0F708CD13DF5}"/>
              </a:ext>
            </a:extLst>
          </p:cNvPr>
          <p:cNvSpPr>
            <a:spLocks noGrp="1"/>
          </p:cNvSpPr>
          <p:nvPr>
            <p:ph sz="half" idx="1"/>
          </p:nvPr>
        </p:nvSpPr>
        <p:spPr>
          <a:xfrm>
            <a:off x="838200" y="1825625"/>
            <a:ext cx="5181600" cy="4351338"/>
          </a:xfrm>
        </p:spPr>
        <p:txBody>
          <a:bodyPr/>
          <a:lstStyle>
            <a:lvl2pPr>
              <a:buClr>
                <a:srgbClr val="C00000"/>
              </a:buClr>
              <a:defRPr/>
            </a:lvl2pPr>
            <a:lvl3pPr>
              <a:buClrTx/>
              <a:defRPr/>
            </a:lvl3pPr>
            <a:lvl4pPr>
              <a:buClr>
                <a:srgbClr val="C00000"/>
              </a:buClr>
              <a:defRPr/>
            </a:lvl4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B94B0D16-5BFA-42AC-ADC2-646F18F108D0}"/>
              </a:ext>
            </a:extLst>
          </p:cNvPr>
          <p:cNvSpPr>
            <a:spLocks noGrp="1"/>
          </p:cNvSpPr>
          <p:nvPr>
            <p:ph sz="half" idx="2"/>
          </p:nvPr>
        </p:nvSpPr>
        <p:spPr>
          <a:xfrm>
            <a:off x="6172200" y="1825625"/>
            <a:ext cx="5181600" cy="4351338"/>
          </a:xfrm>
        </p:spPr>
        <p:txBody>
          <a:bodyPr/>
          <a:lstStyle>
            <a:lvl2pPr>
              <a:buClr>
                <a:srgbClr val="C00000"/>
              </a:buClr>
              <a:defRPr/>
            </a:lvl2pPr>
            <a:lvl3pPr>
              <a:buClrTx/>
              <a:defRPr/>
            </a:lvl3pPr>
            <a:lvl4pPr>
              <a:buClr>
                <a:srgbClr val="C00000"/>
              </a:buClr>
              <a:defRPr/>
            </a:lvl4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Slide Number Placeholder 6">
            <a:extLst>
              <a:ext uri="{FF2B5EF4-FFF2-40B4-BE49-F238E27FC236}">
                <a16:creationId xmlns:a16="http://schemas.microsoft.com/office/drawing/2014/main" id="{5392B6E7-0296-4DDC-8A37-ADBF03312730}"/>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123995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0E6CF-0013-49C7-AEB8-8E91374711D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83B4A6D-F116-4484-8C9C-A4639CC18B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A21EE16-2CAA-4269-9363-D2817EE0DF8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C135FF5-1094-4B0C-B250-AD8B448C6F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5D47F8F-0A27-4035-ACD4-A78ECFE4A29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26EF0084-C4B2-4571-BB9F-0F21077EB4E6}"/>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2052715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237DD-A251-437C-AEDD-CB5B4426A930}"/>
              </a:ext>
            </a:extLst>
          </p:cNvPr>
          <p:cNvSpPr>
            <a:spLocks noGrp="1"/>
          </p:cNvSpPr>
          <p:nvPr>
            <p:ph type="title"/>
          </p:nvPr>
        </p:nvSpPr>
        <p:spPr/>
        <p:txBody>
          <a:body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77CF1F1D-CD28-4160-A015-F8A9E022CFE3}"/>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69195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68FEFF-33E8-4DF3-9F82-C8924C647AEE}"/>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1686113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C315F-F711-43BA-8C23-8D50769E33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618A54E-07B9-4B62-B101-F97969B049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6C278EB-CD3C-4569-8B41-D3DDD3B400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a:extLst>
              <a:ext uri="{FF2B5EF4-FFF2-40B4-BE49-F238E27FC236}">
                <a16:creationId xmlns:a16="http://schemas.microsoft.com/office/drawing/2014/main" id="{14DD33D4-F2B4-4E27-98BD-BC92728343CB}"/>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930229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D806B-9951-41F8-8355-56988956D2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142C372-A8E3-48FB-BC6D-03E9BE45A1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57AF29B-6E7F-438B-A4F0-E7B08FC248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a:extLst>
              <a:ext uri="{FF2B5EF4-FFF2-40B4-BE49-F238E27FC236}">
                <a16:creationId xmlns:a16="http://schemas.microsoft.com/office/drawing/2014/main" id="{11CB0398-38BC-4D55-98B4-91433EB43CB7}"/>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2580211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C010A-D0D2-45E6-B04B-900AFC28069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79A6CE9-1503-44AE-9C80-F0F8D874EAE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C35A2AA1-1B6B-4E88-A09D-356FC68522B7}"/>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1944426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E5E3CF-3D05-44C8-88C8-D98ADD5B83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F504C6-15EF-447C-AD59-74FEC0CCC51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1767EC9-ADE0-4807-A12B-A966A05B8BB9}"/>
              </a:ext>
            </a:extLst>
          </p:cNvPr>
          <p:cNvSpPr>
            <a:spLocks noGrp="1"/>
          </p:cNvSpPr>
          <p:nvPr>
            <p:ph type="sldNum" sz="quarter" idx="12"/>
          </p:nvPr>
        </p:nvSpPr>
        <p:spPr/>
        <p:txBody>
          <a:bodyPr/>
          <a:lstStyle/>
          <a:p>
            <a:fld id="{E1C5CB42-CF14-4293-8971-6DCD1AAE8BE7}" type="slidenum">
              <a:rPr lang="en-GB" smtClean="0"/>
              <a:t>‹#›</a:t>
            </a:fld>
            <a:endParaRPr lang="en-GB"/>
          </a:p>
        </p:txBody>
      </p:sp>
    </p:spTree>
    <p:extLst>
      <p:ext uri="{BB962C8B-B14F-4D97-AF65-F5344CB8AC3E}">
        <p14:creationId xmlns:p14="http://schemas.microsoft.com/office/powerpoint/2010/main" val="2586076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01289F0-EB91-42F5-8365-E3427F55C1DD}"/>
              </a:ext>
            </a:extLst>
          </p:cNvPr>
          <p:cNvSpPr>
            <a:spLocks noChangeAspect="1"/>
          </p:cNvSpPr>
          <p:nvPr userDrawn="1"/>
        </p:nvSpPr>
        <p:spPr>
          <a:xfrm>
            <a:off x="2262487" y="581720"/>
            <a:ext cx="7667022" cy="5935758"/>
          </a:xfrm>
          <a:prstGeom prst="rect">
            <a:avLst/>
          </a:prstGeom>
          <a:blipFill dpi="0" rotWithShape="1">
            <a:blip r:embed="rId13">
              <a:alphaModFix amt="25000"/>
              <a:extLst>
                <a:ext uri="{96DAC541-7B7A-43D3-8B79-37D633B846F1}">
                  <asvg:svgBlip xmlns:asvg="http://schemas.microsoft.com/office/drawing/2016/SVG/main" r:embed="rId14"/>
                </a:ext>
              </a:extLst>
            </a:blip>
            <a:srcRect/>
            <a:stretch>
              <a:fillRect/>
            </a:stretch>
          </a:blip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nchorCtr="0"/>
          <a:lstStyle/>
          <a:p>
            <a:pPr algn="ctr"/>
            <a:endParaRPr lang="en-GB" sz="1400" dirty="0" err="1">
              <a:solidFill>
                <a:schemeClr val="tx1"/>
              </a:solidFill>
            </a:endParaRPr>
          </a:p>
        </p:txBody>
      </p:sp>
      <p:sp>
        <p:nvSpPr>
          <p:cNvPr id="2" name="Title Placeholder 1">
            <a:extLst>
              <a:ext uri="{FF2B5EF4-FFF2-40B4-BE49-F238E27FC236}">
                <a16:creationId xmlns:a16="http://schemas.microsoft.com/office/drawing/2014/main" id="{1C1E1190-2136-48F0-AC05-CF8B70904B38}"/>
              </a:ext>
            </a:extLst>
          </p:cNvPr>
          <p:cNvSpPr>
            <a:spLocks noGrp="1"/>
          </p:cNvSpPr>
          <p:nvPr>
            <p:ph type="title"/>
          </p:nvPr>
        </p:nvSpPr>
        <p:spPr>
          <a:xfrm>
            <a:off x="949720" y="365125"/>
            <a:ext cx="10333113"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2345448-651E-4B5A-868C-102A5658F70B}"/>
              </a:ext>
            </a:extLst>
          </p:cNvPr>
          <p:cNvSpPr>
            <a:spLocks noGrp="1"/>
          </p:cNvSpPr>
          <p:nvPr>
            <p:ph type="body" idx="1"/>
          </p:nvPr>
        </p:nvSpPr>
        <p:spPr>
          <a:xfrm>
            <a:off x="838200" y="1825624"/>
            <a:ext cx="10515600" cy="466725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A570DB5-9A54-43D6-A1BD-EE919D586D51}"/>
              </a:ext>
            </a:extLst>
          </p:cNvPr>
          <p:cNvSpPr>
            <a:spLocks noGrp="1"/>
          </p:cNvSpPr>
          <p:nvPr>
            <p:ph type="sldNum" sz="quarter" idx="4"/>
          </p:nvPr>
        </p:nvSpPr>
        <p:spPr>
          <a:xfrm>
            <a:off x="9448799" y="6542081"/>
            <a:ext cx="2743200" cy="315919"/>
          </a:xfrm>
          <a:prstGeom prst="rect">
            <a:avLst/>
          </a:prstGeom>
        </p:spPr>
        <p:txBody>
          <a:bodyPr vert="horz" lIns="91440" tIns="45720" rIns="91440" bIns="45720" rtlCol="0" anchor="ctr"/>
          <a:lstStyle>
            <a:lvl1pPr algn="r">
              <a:defRPr sz="1200">
                <a:solidFill>
                  <a:schemeClr val="tx1">
                    <a:tint val="75000"/>
                  </a:schemeClr>
                </a:solidFill>
              </a:defRPr>
            </a:lvl1pPr>
          </a:lstStyle>
          <a:p>
            <a:fld id="{E1C5CB42-CF14-4293-8971-6DCD1AAE8BE7}" type="slidenum">
              <a:rPr lang="en-GB" smtClean="0"/>
              <a:t>‹#›</a:t>
            </a:fld>
            <a:endParaRPr lang="en-GB"/>
          </a:p>
        </p:txBody>
      </p:sp>
      <p:sp>
        <p:nvSpPr>
          <p:cNvPr id="7" name="Rectangle 2">
            <a:extLst>
              <a:ext uri="{FF2B5EF4-FFF2-40B4-BE49-F238E27FC236}">
                <a16:creationId xmlns:a16="http://schemas.microsoft.com/office/drawing/2014/main" id="{9B768418-2B2A-4DD4-AF20-A6EC6C03C465}"/>
              </a:ext>
            </a:extLst>
          </p:cNvPr>
          <p:cNvSpPr>
            <a:spLocks noChangeArrowheads="1"/>
          </p:cNvSpPr>
          <p:nvPr userDrawn="1"/>
        </p:nvSpPr>
        <p:spPr bwMode="auto">
          <a:xfrm>
            <a:off x="-2" y="86916"/>
            <a:ext cx="12192001" cy="228029"/>
          </a:xfrm>
          <a:prstGeom prst="rect">
            <a:avLst/>
          </a:prstGeom>
          <a:solidFill>
            <a:srgbClr val="B0120E"/>
          </a:solidFill>
          <a:ln>
            <a:noFill/>
          </a:ln>
          <a:extLst>
            <a:ext uri="{91240B29-F687-4f45-9708-019B960494DF}">
              <a14:hiddenLine xmlns:a14="http://schemas.microsoft.com/office/drawing/2010/main" xmlns="" w="0">
                <a:solidFill>
                  <a:srgbClr val="000000"/>
                </a:solidFill>
                <a:miter lim="800000"/>
                <a:headEnd/>
                <a:tailEnd/>
              </a14:hiddenLine>
            </a:ext>
          </a:extLst>
        </p:spPr>
        <p:txBody>
          <a:bodyPr wrap="none" lIns="77925" tIns="38963" rIns="77925" bIns="38963" anchor="ctr"/>
          <a:lstStyle/>
          <a:p>
            <a:endParaRPr lang="en-US">
              <a:latin typeface="Calibri" pitchFamily="34" charset="0"/>
            </a:endParaRPr>
          </a:p>
        </p:txBody>
      </p:sp>
      <p:pic>
        <p:nvPicPr>
          <p:cNvPr id="9" name="Picture 8" descr="logo.pdf">
            <a:extLst>
              <a:ext uri="{FF2B5EF4-FFF2-40B4-BE49-F238E27FC236}">
                <a16:creationId xmlns:a16="http://schemas.microsoft.com/office/drawing/2014/main" id="{102BA6D8-072F-4F9F-A5A0-82DCD1210E27}"/>
              </a:ext>
            </a:extLst>
          </p:cNvPr>
          <p:cNvPicPr>
            <a:picLocks/>
          </p:cNvPicPr>
          <p:nvPr userDrawn="1"/>
        </p:nvPicPr>
        <p:blipFill>
          <a:blip r:embed="rId15" cstate="print">
            <a:extLst>
              <a:ext uri="{28A0092B-C50C-407E-A947-70E740481C1C}">
                <a14:useLocalDpi xmlns:a14="http://schemas.microsoft.com/office/drawing/2010/main" val="0"/>
              </a:ext>
            </a:extLst>
          </a:blip>
          <a:stretch>
            <a:fillRect/>
          </a:stretch>
        </p:blipFill>
        <p:spPr>
          <a:xfrm>
            <a:off x="11367532" y="326042"/>
            <a:ext cx="708279" cy="972000"/>
          </a:xfrm>
          <a:prstGeom prst="rect">
            <a:avLst/>
          </a:prstGeom>
        </p:spPr>
      </p:pic>
      <p:sp>
        <p:nvSpPr>
          <p:cNvPr id="4" name="Rectangle 3">
            <a:extLst>
              <a:ext uri="{FF2B5EF4-FFF2-40B4-BE49-F238E27FC236}">
                <a16:creationId xmlns:a16="http://schemas.microsoft.com/office/drawing/2014/main" id="{0530C013-6450-9241-806F-A84F38C100C4}"/>
              </a:ext>
            </a:extLst>
          </p:cNvPr>
          <p:cNvSpPr/>
          <p:nvPr userDrawn="1"/>
        </p:nvSpPr>
        <p:spPr>
          <a:xfrm>
            <a:off x="1069560" y="6618679"/>
            <a:ext cx="11678081" cy="276999"/>
          </a:xfrm>
          <a:prstGeom prst="rect">
            <a:avLst/>
          </a:prstGeom>
        </p:spPr>
        <p:txBody>
          <a:bodyPr wrap="square">
            <a:spAutoFit/>
          </a:bodyPr>
          <a:lstStyle/>
          <a:p>
            <a:r>
              <a:rPr lang="en-GB" sz="1200" b="1" dirty="0">
                <a:solidFill>
                  <a:schemeClr val="bg2">
                    <a:lumMod val="50000"/>
                  </a:schemeClr>
                </a:solidFill>
              </a:rPr>
              <a:t>Except where otherwise noted, these slides by Marc </a:t>
            </a:r>
            <a:r>
              <a:rPr lang="en-GB" sz="1200" b="1" dirty="0" err="1">
                <a:solidFill>
                  <a:schemeClr val="bg2">
                    <a:lumMod val="50000"/>
                  </a:schemeClr>
                </a:solidFill>
              </a:rPr>
              <a:t>Henrion</a:t>
            </a:r>
            <a:r>
              <a:rPr lang="en-GB" sz="1200" b="1" dirty="0">
                <a:solidFill>
                  <a:schemeClr val="bg2">
                    <a:lumMod val="50000"/>
                  </a:schemeClr>
                </a:solidFill>
              </a:rPr>
              <a:t> are licensed under a Creative Commons Attribution 4.0 License: http://</a:t>
            </a:r>
            <a:r>
              <a:rPr lang="en-GB" sz="1200" b="1" dirty="0" err="1">
                <a:solidFill>
                  <a:schemeClr val="bg2">
                    <a:lumMod val="50000"/>
                  </a:schemeClr>
                </a:solidFill>
              </a:rPr>
              <a:t>creativecommons.org</a:t>
            </a:r>
            <a:r>
              <a:rPr lang="en-GB" sz="1200" b="1" dirty="0">
                <a:solidFill>
                  <a:schemeClr val="bg2">
                    <a:lumMod val="50000"/>
                  </a:schemeClr>
                </a:solidFill>
              </a:rPr>
              <a:t>/by/4.0</a:t>
            </a:r>
            <a:endParaRPr lang="en-MW" sz="1200" b="1" dirty="0">
              <a:solidFill>
                <a:schemeClr val="bg2">
                  <a:lumMod val="50000"/>
                </a:schemeClr>
              </a:solidFill>
            </a:endParaRPr>
          </a:p>
        </p:txBody>
      </p:sp>
      <p:pic>
        <p:nvPicPr>
          <p:cNvPr id="11" name="Picture 10" descr="A drawing of a face  Description automatically generated">
            <a:extLst>
              <a:ext uri="{FF2B5EF4-FFF2-40B4-BE49-F238E27FC236}">
                <a16:creationId xmlns:a16="http://schemas.microsoft.com/office/drawing/2014/main" id="{EE356342-7E80-AD4B-BA14-513E4B339F25}"/>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0" y="6478840"/>
            <a:ext cx="1103012" cy="379160"/>
          </a:xfrm>
          <a:prstGeom prst="rect">
            <a:avLst/>
          </a:prstGeom>
        </p:spPr>
      </p:pic>
      <p:pic>
        <p:nvPicPr>
          <p:cNvPr id="5" name="Picture 4">
            <a:extLst>
              <a:ext uri="{FF2B5EF4-FFF2-40B4-BE49-F238E27FC236}">
                <a16:creationId xmlns:a16="http://schemas.microsoft.com/office/drawing/2014/main" id="{3B116630-6B0B-BDDE-E9C1-B82678EC1EF6}"/>
              </a:ext>
            </a:extLst>
          </p:cNvPr>
          <p:cNvPicPr>
            <a:picLocks noChangeAspect="1"/>
          </p:cNvPicPr>
          <p:nvPr userDrawn="1"/>
        </p:nvPicPr>
        <p:blipFill>
          <a:blip r:embed="rId17"/>
          <a:stretch>
            <a:fillRect/>
          </a:stretch>
        </p:blipFill>
        <p:spPr>
          <a:xfrm>
            <a:off x="-2" y="326042"/>
            <a:ext cx="981646" cy="981646"/>
          </a:xfrm>
          <a:prstGeom prst="rect">
            <a:avLst/>
          </a:prstGeom>
        </p:spPr>
      </p:pic>
    </p:spTree>
    <p:extLst>
      <p:ext uri="{BB962C8B-B14F-4D97-AF65-F5344CB8AC3E}">
        <p14:creationId xmlns:p14="http://schemas.microsoft.com/office/powerpoint/2010/main" val="297477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1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7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mlw-stats/R_And_Statistics_Training_2026"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rmarkdown.rstudio.com/articles.html" TargetMode="External"/><Relationship Id="rId7" Type="http://schemas.openxmlformats.org/officeDocument/2006/relationships/hyperlink" Target="https://osf.io" TargetMode="External"/><Relationship Id="rId2" Type="http://schemas.openxmlformats.org/officeDocument/2006/relationships/hyperlink" Target="https://quarto.org/docs/computations/r.html" TargetMode="External"/><Relationship Id="rId1" Type="http://schemas.openxmlformats.org/officeDocument/2006/relationships/slideLayout" Target="../slideLayouts/slideLayout2.xml"/><Relationship Id="rId6" Type="http://schemas.openxmlformats.org/officeDocument/2006/relationships/hyperlink" Target="https://guides.github.com/introduction/git-handbook" TargetMode="External"/><Relationship Id="rId5" Type="http://schemas.openxmlformats.org/officeDocument/2006/relationships/hyperlink" Target="https://guides.github.com/activities/hello-world" TargetMode="External"/><Relationship Id="rId4" Type="http://schemas.openxmlformats.org/officeDocument/2006/relationships/hyperlink" Target="https://youtube.com/playlist?list=PL0lo9MOBetEFcp4SCWinBdpml9B2U25-f&amp;si=Y4PsXrAVdRqTSCDz"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hyperlink" Target="http://opendefinition.or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openscienceasap.org/open-science"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 Target="slide4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slide" Target="slide4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docs.github.com/en/repositories/releasing-projects-on-github/managing-releases-in-a-repository"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 Target="slide4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r-pkgs.org/"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zenodo.org" TargetMode="External"/><Relationship Id="rId2" Type="http://schemas.openxmlformats.org/officeDocument/2006/relationships/hyperlink" Target="https://figshare.com"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hyperlink" Target="https://opensource.org/licenses/alphabetical" TargetMode="External"/><Relationship Id="rId1" Type="http://schemas.openxmlformats.org/officeDocument/2006/relationships/slideLayout" Target="../slideLayouts/slideLayout2.xml"/><Relationship Id="rId4" Type="http://schemas.openxmlformats.org/officeDocument/2006/relationships/hyperlink" Target="http://unlicense.org"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r4ds.had.co.nz"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FE552-82FF-41CD-AE9B-C5B295BA4FFD}"/>
              </a:ext>
            </a:extLst>
          </p:cNvPr>
          <p:cNvSpPr>
            <a:spLocks noGrp="1"/>
          </p:cNvSpPr>
          <p:nvPr>
            <p:ph type="ctrTitle"/>
          </p:nvPr>
        </p:nvSpPr>
        <p:spPr>
          <a:xfrm>
            <a:off x="1524000" y="1122363"/>
            <a:ext cx="9144000" cy="2387600"/>
          </a:xfrm>
        </p:spPr>
        <p:txBody>
          <a:bodyPr/>
          <a:lstStyle/>
          <a:p>
            <a:pPr marL="0" lvl="0" indent="0">
              <a:buNone/>
            </a:pPr>
            <a:r>
              <a:t>Statistics and R short course</a:t>
            </a:r>
            <a:br/>
            <a:r>
              <a:t>Session 6: Open Science</a:t>
            </a:r>
          </a:p>
        </p:txBody>
      </p:sp>
      <p:sp>
        <p:nvSpPr>
          <p:cNvPr id="3" name="Subtitle 2">
            <a:extLst>
              <a:ext uri="{FF2B5EF4-FFF2-40B4-BE49-F238E27FC236}">
                <a16:creationId xmlns:a16="http://schemas.microsoft.com/office/drawing/2014/main" id="{4E8C47A7-1C60-48ED-9106-1A4E50CD85F0}"/>
              </a:ext>
            </a:extLst>
          </p:cNvPr>
          <p:cNvSpPr>
            <a:spLocks noGrp="1"/>
          </p:cNvSpPr>
          <p:nvPr>
            <p:ph type="subTitle" idx="1"/>
          </p:nvPr>
        </p:nvSpPr>
        <p:spPr>
          <a:xfrm>
            <a:off x="1524000" y="4026500"/>
            <a:ext cx="9144000" cy="1231300"/>
          </a:xfrm>
        </p:spPr>
        <p:txBody>
          <a:bodyPr/>
          <a:lstStyle/>
          <a:p>
            <a:pPr marL="0" lvl="0" indent="0">
              <a:buNone/>
            </a:pPr>
            <a:br/>
            <a:br/>
            <a:r>
              <a:t>Marc Henrion</a:t>
            </a:r>
          </a:p>
        </p:txBody>
      </p:sp>
      <p:sp>
        <p:nvSpPr>
          <p:cNvPr id="7" name="Date Placeholder 3">
            <a:extLst>
              <a:ext uri="{FF2B5EF4-FFF2-40B4-BE49-F238E27FC236}">
                <a16:creationId xmlns:a16="http://schemas.microsoft.com/office/drawing/2014/main" id="{7CD99309-7B5F-490B-9BDE-AAF9B5F8DCFE}"/>
              </a:ext>
            </a:extLst>
          </p:cNvPr>
          <p:cNvSpPr>
            <a:spLocks noGrp="1"/>
          </p:cNvSpPr>
          <p:nvPr>
            <p:ph type="dt" sz="half" idx="2"/>
          </p:nvPr>
        </p:nvSpPr>
        <p:spPr>
          <a:xfrm>
            <a:off x="4724400" y="5580025"/>
            <a:ext cx="2743200" cy="311224"/>
          </a:xfrm>
          <a:prstGeom prst="rect">
            <a:avLst/>
          </a:prstGeom>
        </p:spPr>
        <p:txBody>
          <a:bodyPr/>
          <a:lstStyle/>
          <a:p>
            <a:pPr marL="0" lvl="0" indent="0">
              <a:buNone/>
            </a:pPr>
            <a:r>
              <a:t>2026-02-04</a:t>
            </a:r>
          </a:p>
        </p:txBody>
      </p:sp>
      <p:sp>
        <p:nvSpPr>
          <p:cNvPr id="6" name="Slide Number Placeholder 5">
            <a:extLst>
              <a:ext uri="{FF2B5EF4-FFF2-40B4-BE49-F238E27FC236}">
                <a16:creationId xmlns:a16="http://schemas.microsoft.com/office/drawing/2014/main" id="{90A256D4-A46F-42D5-9B93-520AF7ED2811}"/>
              </a:ext>
            </a:extLst>
          </p:cNvPr>
          <p:cNvSpPr>
            <a:spLocks noGrp="1"/>
          </p:cNvSpPr>
          <p:nvPr>
            <p:ph type="sldNum" sz="quarter" idx="12"/>
          </p:nvPr>
        </p:nvSpPr>
        <p:spPr/>
        <p:txBody>
          <a:bodyPr/>
          <a:lstStyle/>
          <a:p>
            <a:fld id="{E1C5CB42-CF14-4293-8971-6DCD1AAE8BE7}" type="slidenum">
              <a:rPr lang="en-GB" smtClean="0"/>
              <a:t>1</a:t>
            </a:fld>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marL="0" lvl="0" indent="0">
              <a:buNone/>
            </a:pPr>
            <a:r>
              <a:t>Introduction</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2</a:t>
            </a:fld>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Preliminaries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normAutofit fontScale="92500" lnSpcReduction="20000"/>
              </a:bodyPr>
              <a:lstStyle/>
              <a:p>
                <a:pPr lvl="0"/>
                <a:r>
                  <a:rPr dirty="0"/>
                  <a:t>Certificates of attendance</a:t>
                </a:r>
                <a:r>
                  <a:rPr lang="en-GB" dirty="0"/>
                  <a:t> </a:t>
                </a:r>
                <a:endParaRPr dirty="0"/>
              </a:p>
              <a:p>
                <a:pPr lvl="1"/>
                <a:r>
                  <a:rPr dirty="0"/>
                  <a:t>You need to attend all 6 sessions.</a:t>
                </a:r>
              </a:p>
              <a:p>
                <a:pPr lvl="1"/>
                <a:r>
                  <a:rPr dirty="0"/>
                  <a:t>Sign in &amp; check spelling of name on the sign-in sheet!</a:t>
                </a:r>
              </a:p>
              <a:p>
                <a:pPr lvl="1"/>
                <a:r>
                  <a:rPr dirty="0"/>
                  <a:t>Only issued if paid-up and in exchange for completed feedback form.</a:t>
                </a:r>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dirty="0"/>
              </a:p>
              <a:p>
                <a:pPr lvl="0"/>
                <a:r>
                  <a:rPr dirty="0"/>
                  <a:t>Course website / GitHub: </a:t>
                </a:r>
                <a:r>
                  <a:rPr dirty="0">
                    <a:hlinkClick r:id="rId2"/>
                  </a:rPr>
                  <a:t>https://github.com/mlw-stats/R_And_Statistics_Training_2026</a:t>
                </a:r>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dirty="0">
                  <a:hlinkClick r:id="rId2"/>
                </a:endParaRPr>
              </a:p>
              <a:p>
                <a:pPr lvl="0"/>
                <a:r>
                  <a:rPr dirty="0"/>
                  <a:t>Office hours</a:t>
                </a:r>
              </a:p>
              <a:p>
                <a:pPr lvl="1"/>
                <a:r>
                  <a:rPr b="1" dirty="0"/>
                  <a:t>Vester</a:t>
                </a:r>
                <a:r>
                  <a:rPr dirty="0"/>
                  <a:t> - Mondays @ 2pm; </a:t>
                </a:r>
                <a:r>
                  <a:rPr b="1" dirty="0"/>
                  <a:t>Kapeni Meeting 1</a:t>
                </a:r>
              </a:p>
              <a:p>
                <a:pPr lvl="1"/>
                <a:r>
                  <a:rPr b="1" dirty="0"/>
                  <a:t>Eva</a:t>
                </a:r>
                <a:r>
                  <a:rPr dirty="0"/>
                  <a:t> - Tuesdays @ 2pm; </a:t>
                </a:r>
                <a:r>
                  <a:rPr b="1" dirty="0"/>
                  <a:t>Creator Ground Floor</a:t>
                </a:r>
              </a:p>
              <a:p>
                <a:pPr lvl="1"/>
                <a:r>
                  <a:rPr b="1" dirty="0"/>
                  <a:t>Marc</a:t>
                </a:r>
                <a:r>
                  <a:rPr dirty="0"/>
                  <a:t> - Thursdays @ 9am; </a:t>
                </a:r>
                <a:r>
                  <a:rPr b="1" dirty="0"/>
                  <a:t>Kapeni Meeting 2</a:t>
                </a:r>
              </a:p>
              <a:p>
                <a:pPr lvl="1"/>
                <a:r>
                  <a:rPr b="1" dirty="0"/>
                  <a:t>Jessie</a:t>
                </a:r>
                <a:r>
                  <a:rPr dirty="0"/>
                  <a:t> - Mondays @ 3pm; </a:t>
                </a:r>
                <a:r>
                  <a:rPr b="1" dirty="0"/>
                  <a:t>Kapeni Hurdle 1</a:t>
                </a:r>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b="1" dirty="0"/>
              </a:p>
              <a:p>
                <a:pPr lvl="0"/>
                <a:r>
                  <a:rPr dirty="0"/>
                  <a:t>Housekeeping</a:t>
                </a:r>
              </a:p>
              <a:p>
                <a:pPr lvl="1"/>
                <a:r>
                  <a:rPr dirty="0"/>
                  <a:t>Refreshments (no lunch - sorry)</a:t>
                </a:r>
              </a:p>
              <a:p>
                <a:pPr lvl="1"/>
                <a:r>
                  <a:rPr dirty="0"/>
                  <a:t>Fire exits &amp; bathrooms</a:t>
                </a:r>
              </a:p>
            </p:txBody>
          </p:sp>
        </mc:Choice>
        <mc:Fallback>
          <p:sp>
            <p:nvSpPr>
              <p:cNvPr id="3" name="Content Placeholder 2">
                <a:extLst>
                  <a:ext uri="{FF2B5EF4-FFF2-40B4-BE49-F238E27FC236}">
                    <a16:creationId xmlns:a16="http://schemas.microsoft.com/office/drawing/2014/main" id="{288BC91F-1C76-43AE-8B2A-956D48B768BE}"/>
                  </a:ext>
                </a:extLst>
              </p:cNvPr>
              <p:cNvSpPr>
                <a:spLocks noGrp="1" noRot="1" noChangeAspect="1" noMove="1" noResize="1" noEditPoints="1" noAdjustHandles="1" noChangeArrowheads="1" noChangeShapeType="1" noTextEdit="1"/>
              </p:cNvSpPr>
              <p:nvPr>
                <p:ph idx="1"/>
              </p:nvPr>
            </p:nvSpPr>
            <p:spPr>
              <a:blipFill>
                <a:blip r:embed="rId3"/>
                <a:stretch>
                  <a:fillRect l="-603" t="-2439"/>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a:t>
            </a:fld>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Preliminaries</a:t>
            </a:r>
          </a:p>
        </p:txBody>
      </p:sp>
      <p:pic>
        <p:nvPicPr>
          <p:cNvPr id="3" name="Picture 1" descr="dataAndSupportDocs/CourseRepo_QR.png"/>
          <p:cNvPicPr>
            <a:picLocks noGrp="1" noChangeAspect="1"/>
          </p:cNvPicPr>
          <p:nvPr/>
        </p:nvPicPr>
        <p:blipFill>
          <a:blip r:embed="rId2"/>
          <a:stretch>
            <a:fillRect/>
          </a:stretch>
        </p:blipFill>
        <p:spPr bwMode="auto">
          <a:xfrm>
            <a:off x="4013200" y="1816100"/>
            <a:ext cx="4152900" cy="4152900"/>
          </a:xfrm>
          <a:prstGeom prst="rect">
            <a:avLst/>
          </a:prstGeom>
          <a:noFill/>
          <a:ln w="9525">
            <a:noFill/>
            <a:headEnd/>
            <a:tailEnd/>
          </a:ln>
        </p:spPr>
      </p:pic>
      <p:sp>
        <p:nvSpPr>
          <p:cNvPr id="4" name="TextBox 3"/>
          <p:cNvSpPr txBox="1"/>
          <p:nvPr/>
        </p:nvSpPr>
        <p:spPr>
          <a:xfrm>
            <a:off x="838200" y="5969000"/>
            <a:ext cx="10515600" cy="508000"/>
          </a:xfrm>
          <a:prstGeom prst="rect">
            <a:avLst/>
          </a:prstGeom>
          <a:noFill/>
        </p:spPr>
        <p:txBody>
          <a:bodyPr/>
          <a:lstStyle/>
          <a:p>
            <a:pPr marL="0" lvl="0" indent="0" algn="ctr">
              <a:buNone/>
            </a:pPr>
            <a:r>
              <a:t>https://github.com/mlw-stats/R_And_Statistics_Training_2026</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4</a:t>
            </a:fld>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Learning outcomes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normAutofit lnSpcReduction="10000"/>
          </a:bodyPr>
          <a:lstStyle/>
          <a:p>
            <a:pPr marL="457200" lvl="0" indent="-457200">
              <a:buAutoNum type="arabicPeriod"/>
            </a:pPr>
            <a:r>
              <a:rPr b="1" dirty="0"/>
              <a:t>KNOW R</a:t>
            </a:r>
            <a:r>
              <a:rPr dirty="0"/>
              <a:t>: Explain know what R is &amp; what it can do.</a:t>
            </a:r>
            <a:r>
              <a:rPr lang="en-GB" dirty="0"/>
              <a:t> </a:t>
            </a:r>
            <a:endParaRPr dirty="0"/>
          </a:p>
          <a:p>
            <a:pPr marL="457200" lvl="0" indent="-457200">
              <a:buAutoNum type="arabicPeriod"/>
            </a:pPr>
            <a:r>
              <a:rPr b="1" dirty="0"/>
              <a:t>KNOW R RESOURCES</a:t>
            </a:r>
            <a:r>
              <a:rPr dirty="0"/>
              <a:t>: List useful R resources and access them.</a:t>
            </a:r>
          </a:p>
          <a:p>
            <a:pPr marL="457200" lvl="0" indent="-457200">
              <a:buAutoNum type="arabicPeriod"/>
            </a:pPr>
            <a:r>
              <a:rPr b="1" dirty="0"/>
              <a:t>DO R</a:t>
            </a:r>
            <a:r>
              <a:rPr dirty="0"/>
              <a:t>: Perform basic operations relevant for your research in R:</a:t>
            </a:r>
          </a:p>
          <a:p>
            <a:pPr marL="914400" lvl="1" indent="-457200">
              <a:buAutoNum type="alphaLcPeriod"/>
            </a:pPr>
            <a:r>
              <a:rPr dirty="0"/>
              <a:t>Read data into R &amp; write data or results to the </a:t>
            </a:r>
            <a:r>
              <a:rPr dirty="0" err="1"/>
              <a:t>harddrive</a:t>
            </a:r>
            <a:r>
              <a:rPr dirty="0"/>
              <a:t>.</a:t>
            </a:r>
          </a:p>
          <a:p>
            <a:pPr marL="914400" lvl="1" indent="-457200">
              <a:buAutoNum type="alphaLcPeriod"/>
            </a:pPr>
            <a:r>
              <a:rPr dirty="0"/>
              <a:t>Manipulate &amp; use different object types.</a:t>
            </a:r>
          </a:p>
          <a:p>
            <a:pPr marL="914400" lvl="1" indent="-457200">
              <a:buAutoNum type="alphaLcPeriod"/>
            </a:pPr>
            <a:r>
              <a:rPr dirty="0"/>
              <a:t>Write &amp; use functions in R</a:t>
            </a:r>
          </a:p>
          <a:p>
            <a:pPr marL="914400" lvl="1" indent="-457200">
              <a:buAutoNum type="alphaLcPeriod"/>
            </a:pPr>
            <a:r>
              <a:rPr dirty="0"/>
              <a:t>Perform basic analyses on a dataset: mean, standard deviation, linear regression.</a:t>
            </a:r>
          </a:p>
          <a:p>
            <a:pPr marL="914400" lvl="1" indent="-457200">
              <a:buAutoNum type="alphaLcPeriod"/>
            </a:pPr>
            <a:r>
              <a:rPr dirty="0"/>
              <a:t>Produce various standard graphs and tables</a:t>
            </a:r>
          </a:p>
          <a:p>
            <a:pPr marL="457200" lvl="0" indent="-457200">
              <a:buAutoNum type="arabicPeriod"/>
            </a:pPr>
            <a:r>
              <a:rPr b="1" dirty="0"/>
              <a:t>UNDERSTAND BASICS OF STATISTICS</a:t>
            </a:r>
            <a:r>
              <a:rPr dirty="0"/>
              <a:t>: Explain basic statistical theory: common distributions, standard statistical techniques, assumptions behind common statistical tests and regression models.</a:t>
            </a:r>
          </a:p>
          <a:p>
            <a:pPr marL="457200" lvl="0" indent="-457200">
              <a:buAutoNum type="arabicPeriod"/>
            </a:pPr>
            <a:r>
              <a:rPr b="1" dirty="0"/>
              <a:t>COMPREHEND OPEN SCIENCE</a:t>
            </a:r>
            <a:r>
              <a:rPr dirty="0"/>
              <a:t>: </a:t>
            </a:r>
            <a:r>
              <a:rPr dirty="0" err="1"/>
              <a:t>Summarise</a:t>
            </a:r>
            <a:r>
              <a:rPr dirty="0"/>
              <a:t> principles of open, reproducible research.</a:t>
            </a:r>
          </a:p>
          <a:p>
            <a:pPr marL="457200" lvl="0" indent="-457200">
              <a:buAutoNum type="arabicPeriod"/>
            </a:pPr>
            <a:r>
              <a:rPr b="1" dirty="0"/>
              <a:t>DO OPEN SCIENCE WITH R</a:t>
            </a:r>
            <a:r>
              <a:rPr dirty="0"/>
              <a:t>: Use R scripts, R markdown, packages &amp; GitHub.</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5</a:t>
            </a:fld>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marL="0" lvl="0" indent="0">
              <a:buNone/>
            </a:pPr>
            <a:r>
              <a:t>Resources</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6</a:t>
            </a:fld>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Resources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Quarto &amp; R markdown</a:t>
            </a:r>
          </a:p>
          <a:p>
            <a:pPr marL="0" lvl="0" indent="0">
              <a:buNone/>
            </a:pPr>
            <a:r>
              <a:rPr>
                <a:hlinkClick r:id="rId2"/>
              </a:rPr>
              <a:t>https://quarto.org/docs/computations/r.html</a:t>
            </a:r>
          </a:p>
          <a:p>
            <a:pPr marL="0" lvl="0" indent="0">
              <a:buNone/>
            </a:pPr>
            <a:r>
              <a:rPr>
                <a:hlinkClick r:id="rId3"/>
              </a:rPr>
              <a:t>https://rmarkdown.rstudio.com/articles.html</a:t>
            </a:r>
          </a:p>
          <a:p>
            <a:pPr lvl="0"/>
            <a:r>
              <a:t>GitHub &amp; git</a:t>
            </a:r>
          </a:p>
          <a:p>
            <a:pPr marL="0" lvl="0" indent="0">
              <a:buNone/>
            </a:pPr>
            <a:r>
              <a:rPr>
                <a:hlinkClick r:id="rId4"/>
              </a:rPr>
              <a:t>https://youtube.com/playlist?list=PL0lo9MOBetEFcp4SCWinBdpml9B2U25-f&amp;si=Y4PsXrAVdRqTSCDz</a:t>
            </a:r>
          </a:p>
          <a:p>
            <a:pPr marL="0" lvl="0" indent="0">
              <a:buNone/>
            </a:pPr>
            <a:r>
              <a:rPr>
                <a:hlinkClick r:id="rId5"/>
              </a:rPr>
              <a:t>https://guides.github.com/activities/hello-world</a:t>
            </a:r>
          </a:p>
          <a:p>
            <a:pPr marL="0" lvl="0" indent="0">
              <a:buNone/>
            </a:pPr>
            <a:r>
              <a:rPr>
                <a:hlinkClick r:id="rId6"/>
              </a:rPr>
              <a:t>https://guides.github.com/introduction/git-handbook</a:t>
            </a:r>
          </a:p>
          <a:p>
            <a:pPr lvl="0"/>
            <a:r>
              <a:t>Open Science Framework</a:t>
            </a:r>
          </a:p>
          <a:p>
            <a:pPr marL="0" lvl="0" indent="0">
              <a:buNone/>
            </a:pPr>
            <a:r>
              <a:rPr>
                <a:hlinkClick r:id="rId7"/>
              </a:rPr>
              <a:t>https://osf.io</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7</a:t>
            </a:fld>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marL="0" lvl="0" indent="0">
              <a:buNone/>
            </a:pPr>
            <a:r>
              <a:t>Open Science</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8</a:t>
            </a:fld>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Open Science</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Discuss: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What do you understand by Open Science?</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Why is Open Science important?</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Is not all science open?</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9</a:t>
            </a:fld>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Open Science</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rPr i="1"/>
              <a:t>“If I have seen further it is by standing on the shoulders of Giants.”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i="1"/>
          </a:p>
          <a:p>
            <a:pPr marL="0" lvl="0" indent="0">
              <a:buNone/>
            </a:pPr>
            <a:r>
              <a:t>Isaac Newton, 1675</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10</a:t>
            </a:fld>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Open Science</a:t>
            </a:r>
          </a:p>
        </p:txBody>
      </p:sp>
      <p:pic>
        <p:nvPicPr>
          <p:cNvPr id="3" name="Picture 1" descr="dataAndSupportDocs/OpenSciencePub2_Ioannidis.png"/>
          <p:cNvPicPr>
            <a:picLocks noGrp="1" noChangeAspect="1"/>
          </p:cNvPicPr>
          <p:nvPr/>
        </p:nvPicPr>
        <p:blipFill>
          <a:blip r:embed="rId2"/>
          <a:stretch>
            <a:fillRect/>
          </a:stretch>
        </p:blipFill>
        <p:spPr bwMode="auto">
          <a:xfrm>
            <a:off x="838200" y="2654300"/>
            <a:ext cx="10515600" cy="2984500"/>
          </a:xfrm>
          <a:prstGeom prst="rect">
            <a:avLst/>
          </a:prstGeom>
          <a:noFill/>
          <a:ln w="9525">
            <a:noFill/>
            <a:headEnd/>
            <a:tailEnd/>
          </a:ln>
        </p:spPr>
      </p:pic>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11</a:t>
            </a:fld>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Open Science</a:t>
            </a:r>
          </a:p>
        </p:txBody>
      </p:sp>
      <p:pic>
        <p:nvPicPr>
          <p:cNvPr id="3" name="Picture 1" descr="dataAndSupportDocs/OpenSciencePub1_Covid.png"/>
          <p:cNvPicPr>
            <a:picLocks noGrp="1" noChangeAspect="1"/>
          </p:cNvPicPr>
          <p:nvPr/>
        </p:nvPicPr>
        <p:blipFill>
          <a:blip r:embed="rId2"/>
          <a:stretch>
            <a:fillRect/>
          </a:stretch>
        </p:blipFill>
        <p:spPr bwMode="auto">
          <a:xfrm>
            <a:off x="838200" y="2159000"/>
            <a:ext cx="10515600" cy="3975100"/>
          </a:xfrm>
          <a:prstGeom prst="rect">
            <a:avLst/>
          </a:prstGeom>
          <a:noFill/>
          <a:ln w="9525">
            <a:noFill/>
            <a:headEnd/>
            <a:tailEnd/>
          </a:ln>
        </p:spPr>
      </p:pic>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12</a:t>
            </a:fld>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Open Science</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Scientific outputs are freely available to anybody - policymakers, professional and amateur researchers, lay public.</a:t>
            </a:r>
          </a:p>
          <a:p>
            <a:pPr lvl="1"/>
            <a:r>
              <a:t>Research findings.</a:t>
            </a:r>
          </a:p>
          <a:p>
            <a:pPr lvl="1"/>
            <a:r>
              <a:t>Datasets.</a:t>
            </a:r>
          </a:p>
          <a:p>
            <a:pPr lvl="1"/>
            <a:r>
              <a:t>Methods.</a:t>
            </a:r>
          </a:p>
          <a:p>
            <a:pPr lvl="1"/>
            <a:r>
              <a:t>Other resources.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Science is transparent &amp; reproducible.</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Part of a wider movement for open data, content, knowledge </a:t>
            </a:r>
            <a:r>
              <a:rPr>
                <a:hlinkClick r:id="rId2"/>
              </a:rPr>
              <a:t>http://opendefinition.org</a:t>
            </a:r>
            <a:r>
              <a:t>. Started in the 17th century with the advent of the academic journal</a:t>
            </a:r>
            <a:r>
              <a:rPr baseline="30000">
                <a:hlinkClick r:id="rId3" action="ppaction://hlinksldjump"/>
              </a:rPr>
              <a:t>1</a:t>
            </a:r>
            <a: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13</a:t>
            </a:fld>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Open Science</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6 principles: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457200" lvl="0" indent="-457200">
              <a:buAutoNum type="arabicPeriod"/>
            </a:pPr>
            <a:r>
              <a:rPr b="1"/>
              <a:t>Open methodology</a:t>
            </a:r>
            <a:r>
              <a:t> - document the entire research process.</a:t>
            </a:r>
          </a:p>
          <a:p>
            <a:pPr marL="457200" lvl="0" indent="-457200">
              <a:buAutoNum type="arabicPeriod"/>
            </a:pPr>
            <a:r>
              <a:rPr b="1"/>
              <a:t>Open source</a:t>
            </a:r>
            <a:r>
              <a:t> - use open source technology only.</a:t>
            </a:r>
          </a:p>
          <a:p>
            <a:pPr marL="457200" lvl="0" indent="-457200">
              <a:buAutoNum type="arabicPeriod"/>
            </a:pPr>
            <a:r>
              <a:rPr b="1"/>
              <a:t>Open data</a:t>
            </a:r>
            <a:r>
              <a:t> - make generated data publicly available.</a:t>
            </a:r>
          </a:p>
          <a:p>
            <a:pPr marL="457200" lvl="0" indent="-457200">
              <a:buAutoNum type="arabicPeriod"/>
            </a:pPr>
            <a:r>
              <a:rPr b="1"/>
              <a:t>Open access</a:t>
            </a:r>
            <a:r>
              <a:t> - make results and data accessible by anybody.</a:t>
            </a:r>
          </a:p>
          <a:p>
            <a:pPr marL="457200" lvl="0" indent="-457200">
              <a:buAutoNum type="arabicPeriod"/>
            </a:pPr>
            <a:r>
              <a:rPr b="1"/>
              <a:t>Open peer review</a:t>
            </a:r>
            <a:r>
              <a:t> - transparent, published quality assurance.</a:t>
            </a:r>
          </a:p>
          <a:p>
            <a:pPr marL="457200" lvl="0" indent="-457200">
              <a:buAutoNum type="arabicPeriod"/>
            </a:pPr>
            <a:r>
              <a:rPr b="1"/>
              <a:t>Open educational resources</a:t>
            </a:r>
            <a:r>
              <a:t> - use / generate free, open training resources.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rPr>
                <a:hlinkClick r:id="rId2"/>
              </a:rPr>
              <a:t>http://openscienceasap.org/open-science</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14</a:t>
            </a:fld>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Open Science</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rPr b="1"/>
              <a:t>Limits (?)</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b="1"/>
          </a:p>
          <a:p>
            <a:pPr lvl="0"/>
            <a:r>
              <a:t>Confidential, sensitive, identifiable data </a:t>
            </a:r>
            <a14:m xmlns:a14="http://schemas.microsoft.com/office/drawing/2010/main">
              <m:oMath xmlns:m="http://schemas.openxmlformats.org/officeDocument/2006/math">
                <m:r>
                  <a:rPr>
                    <a:latin typeface="Cambria Math" panose="02040503050406030204" pitchFamily="18" charset="0"/>
                  </a:rPr>
                  <m:t>→</m:t>
                </m:r>
              </m:oMath>
            </a14:m>
            <a:r>
              <a:t> GDPR, HIPAA etc. Some data may need to access controlled (e.g. human genomic data </a:t>
            </a:r>
            <a14:m xmlns:a14="http://schemas.microsoft.com/office/drawing/2010/main">
              <m:oMath xmlns:m="http://schemas.openxmlformats.org/officeDocument/2006/math">
                <m:r>
                  <a:rPr>
                    <a:latin typeface="Cambria Math" panose="02040503050406030204" pitchFamily="18" charset="0"/>
                  </a:rPr>
                  <m:t>→</m:t>
                </m:r>
              </m:oMath>
            </a14:m>
            <a:r>
              <a:t> dbGaP).</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Dangerous technology liable to misuse (e.g. H5N1 transmission studies in ferrets</a:t>
            </a:r>
            <a:r>
              <a:rPr baseline="30000">
                <a:hlinkClick r:id="rId2" action="ppaction://hlinksldjump"/>
              </a:rPr>
              <a:t>2</a:t>
            </a:r>
            <a:r>
              <a:t>) - a false argument?</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After fake news, fake science?</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15</a:t>
            </a:fld>
            <a:endParaRPr lang="en-GB"/>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C85BE-B3D8-4FF3-B29D-02E8297507B4}"/>
              </a:ext>
            </a:extLst>
          </p:cNvPr>
          <p:cNvSpPr>
            <a:spLocks noGrp="1"/>
          </p:cNvSpPr>
          <p:nvPr>
            <p:ph type="title"/>
          </p:nvPr>
        </p:nvSpPr>
        <p:spPr/>
        <p:txBody>
          <a:bodyPr/>
          <a:lstStyle/>
          <a:p>
            <a:pPr marL="0" lvl="0" indent="0">
              <a:buNone/>
            </a:pPr>
            <a:r>
              <a:t>Open Science: how to do open science?</a:t>
            </a:r>
          </a:p>
        </p:txBody>
      </p:sp>
      <p:sp>
        <p:nvSpPr>
          <p:cNvPr id="3" name="Content Placeholder 2">
            <a:extLst>
              <a:ext uri="{FF2B5EF4-FFF2-40B4-BE49-F238E27FC236}">
                <a16:creationId xmlns:a16="http://schemas.microsoft.com/office/drawing/2014/main" id="{7E89358A-6410-47DE-B7D5-0F708CD13DF5}"/>
              </a:ext>
            </a:extLst>
          </p:cNvPr>
          <p:cNvSpPr>
            <a:spLocks noGrp="1"/>
          </p:cNvSpPr>
          <p:nvPr>
            <p:ph sz="half" idx="1"/>
          </p:nvPr>
        </p:nvSpPr>
        <p:spPr/>
        <p:txBody>
          <a:bodyPr/>
          <a:lstStyle/>
          <a:p>
            <a:pPr lvl="0"/>
            <a:r>
              <a:t>Publish research protocols.</a:t>
            </a:r>
          </a:p>
          <a:p>
            <a:pPr lvl="1"/>
            <a14:m xmlns:a14="http://schemas.microsoft.com/office/drawing/2010/main">
              <m:oMath xmlns:m="http://schemas.openxmlformats.org/officeDocument/2006/math">
                <m:r>
                  <a:rPr>
                    <a:latin typeface="Cambria Math" panose="02040503050406030204" pitchFamily="18" charset="0"/>
                  </a:rPr>
                  <m:t>→</m:t>
                </m:r>
              </m:oMath>
            </a14:m>
            <a:r>
              <a:t> Peer-reviewed protocol paper.</a:t>
            </a:r>
          </a:p>
          <a:p>
            <a:pPr lvl="1"/>
            <a14:m xmlns:a14="http://schemas.microsoft.com/office/drawing/2010/main">
              <m:oMath xmlns:m="http://schemas.openxmlformats.org/officeDocument/2006/math">
                <m:r>
                  <a:rPr>
                    <a:latin typeface="Cambria Math" panose="02040503050406030204" pitchFamily="18" charset="0"/>
                  </a:rPr>
                  <m:t>→</m:t>
                </m:r>
              </m:oMath>
            </a14:m>
            <a:r>
              <a:t> Pre-print server.</a:t>
            </a:r>
          </a:p>
          <a:p>
            <a:pPr lvl="1"/>
            <a14:m xmlns:a14="http://schemas.microsoft.com/office/drawing/2010/main">
              <m:oMath xmlns:m="http://schemas.openxmlformats.org/officeDocument/2006/math">
                <m:r>
                  <a:rPr>
                    <a:latin typeface="Cambria Math" panose="02040503050406030204" pitchFamily="18" charset="0"/>
                  </a:rPr>
                  <m:t>→</m:t>
                </m:r>
              </m:oMath>
            </a14:m>
            <a:r>
              <a:t> Zenodo / figshare / …</a:t>
            </a:r>
          </a:p>
          <a:p>
            <a:pPr lvl="0"/>
            <a:r>
              <a:t>Publish lab protocols / analysis plans.</a:t>
            </a:r>
          </a:p>
          <a:p>
            <a:pPr lvl="1"/>
            <a:r>
              <a:t>See later session in this course.</a:t>
            </a:r>
          </a:p>
          <a:p>
            <a:pPr lvl="1"/>
            <a14:m xmlns:a14="http://schemas.microsoft.com/office/drawing/2010/main">
              <m:oMath xmlns:m="http://schemas.openxmlformats.org/officeDocument/2006/math">
                <m:r>
                  <a:rPr>
                    <a:latin typeface="Cambria Math" panose="02040503050406030204" pitchFamily="18" charset="0"/>
                  </a:rPr>
                  <m:t>→</m:t>
                </m:r>
              </m:oMath>
            </a14:m>
            <a:r>
              <a:t> Publish as peer-reviewed lab protocol / analysis plan.</a:t>
            </a:r>
          </a:p>
          <a:p>
            <a:pPr lvl="1"/>
            <a14:m xmlns:a14="http://schemas.microsoft.com/office/drawing/2010/main">
              <m:oMath xmlns:m="http://schemas.openxmlformats.org/officeDocument/2006/math">
                <m:r>
                  <a:rPr>
                    <a:latin typeface="Cambria Math" panose="02040503050406030204" pitchFamily="18" charset="0"/>
                  </a:rPr>
                  <m:t>→</m:t>
                </m:r>
              </m:oMath>
            </a14:m>
            <a:r>
              <a:t> Pre-print server.</a:t>
            </a:r>
          </a:p>
          <a:p>
            <a:pPr lvl="1"/>
            <a14:m xmlns:a14="http://schemas.microsoft.com/office/drawing/2010/main">
              <m:oMath xmlns:m="http://schemas.openxmlformats.org/officeDocument/2006/math">
                <m:r>
                  <a:rPr>
                    <a:latin typeface="Cambria Math" panose="02040503050406030204" pitchFamily="18" charset="0"/>
                  </a:rPr>
                  <m:t>→</m:t>
                </m:r>
              </m:oMath>
            </a14:m>
            <a:r>
              <a:t> Zenodo / figshare / …</a:t>
            </a:r>
          </a:p>
          <a:p>
            <a:pPr lvl="0"/>
            <a:r>
              <a:t>Publish findings (open access, open peer review).</a:t>
            </a:r>
          </a:p>
          <a:p>
            <a:pPr lvl="1"/>
            <a:r>
              <a:t>CC BY license, use pre-print if possible.</a:t>
            </a:r>
          </a:p>
        </p:txBody>
      </p:sp>
      <p:sp>
        <p:nvSpPr>
          <p:cNvPr id="4" name="Content Placeholder 3">
            <a:extLst>
              <a:ext uri="{FF2B5EF4-FFF2-40B4-BE49-F238E27FC236}">
                <a16:creationId xmlns:a16="http://schemas.microsoft.com/office/drawing/2014/main" id="{B94B0D16-5BFA-42AC-ADC2-646F18F108D0}"/>
              </a:ext>
            </a:extLst>
          </p:cNvPr>
          <p:cNvSpPr>
            <a:spLocks noGrp="1"/>
          </p:cNvSpPr>
          <p:nvPr>
            <p:ph sz="half" idx="2"/>
          </p:nvPr>
        </p:nvSpPr>
        <p:spPr/>
        <p:txBody>
          <a:bodyPr/>
          <a:lstStyle/>
          <a:p>
            <a:pPr lvl="0"/>
            <a:r>
              <a:t>Publish data.</a:t>
            </a:r>
          </a:p>
          <a:p>
            <a:pPr lvl="1"/>
            <a:r>
              <a:t>If ethical and legal to do so.</a:t>
            </a:r>
          </a:p>
          <a:p>
            <a:pPr lvl="1"/>
            <a14:m xmlns:a14="http://schemas.microsoft.com/office/drawing/2010/main">
              <m:oMath xmlns:m="http://schemas.openxmlformats.org/officeDocument/2006/math">
                <m:r>
                  <a:rPr>
                    <a:latin typeface="Cambria Math" panose="02040503050406030204" pitchFamily="18" charset="0"/>
                  </a:rPr>
                  <m:t>→</m:t>
                </m:r>
              </m:oMath>
            </a14:m>
            <a:r>
              <a:t> Zenodo / figshare / specialised repositories (e.g. GEO, dbGaP, …)</a:t>
            </a:r>
          </a:p>
          <a:p>
            <a:pPr lvl="0"/>
            <a:r>
              <a:t>Publish analysis code.</a:t>
            </a:r>
          </a:p>
          <a:p>
            <a:pPr lvl="1"/>
            <a:r>
              <a:t>Use Quarto (for example).</a:t>
            </a:r>
          </a:p>
          <a:p>
            <a:pPr lvl="1"/>
            <a14:m xmlns:a14="http://schemas.microsoft.com/office/drawing/2010/main">
              <m:oMath xmlns:m="http://schemas.openxmlformats.org/officeDocument/2006/math">
                <m:r>
                  <a:rPr>
                    <a:latin typeface="Cambria Math" panose="02040503050406030204" pitchFamily="18" charset="0"/>
                  </a:rPr>
                  <m:t>→</m:t>
                </m:r>
              </m:oMath>
            </a14:m>
            <a:r>
              <a:t> GitHub</a:t>
            </a:r>
          </a:p>
          <a:p>
            <a:pPr lvl="1"/>
            <a14:m xmlns:a14="http://schemas.microsoft.com/office/drawing/2010/main">
              <m:oMath xmlns:m="http://schemas.openxmlformats.org/officeDocument/2006/math">
                <m:r>
                  <a:rPr>
                    <a:latin typeface="Cambria Math" panose="02040503050406030204" pitchFamily="18" charset="0"/>
                  </a:rPr>
                  <m:t>→</m:t>
                </m:r>
              </m:oMath>
            </a14:m>
            <a:r>
              <a:t> R data + code compendium package</a:t>
            </a:r>
          </a:p>
          <a:p>
            <a:pPr lvl="1"/>
            <a14:m xmlns:a14="http://schemas.microsoft.com/office/drawing/2010/main">
              <m:oMath xmlns:m="http://schemas.openxmlformats.org/officeDocument/2006/math">
                <m:r>
                  <a:rPr>
                    <a:latin typeface="Cambria Math" panose="02040503050406030204" pitchFamily="18" charset="0"/>
                  </a:rPr>
                  <m:t>→</m:t>
                </m:r>
              </m:oMath>
            </a14:m>
            <a:r>
              <a:t> Zenodo / figshare / …</a:t>
            </a:r>
          </a:p>
          <a:p>
            <a:pPr lvl="0"/>
            <a:r>
              <a:t>Use Open Science Framework.</a:t>
            </a:r>
          </a:p>
        </p:txBody>
      </p:sp>
      <p:sp>
        <p:nvSpPr>
          <p:cNvPr id="7" name="Slide Number Placeholder 6">
            <a:extLst>
              <a:ext uri="{FF2B5EF4-FFF2-40B4-BE49-F238E27FC236}">
                <a16:creationId xmlns:a16="http://schemas.microsoft.com/office/drawing/2014/main" id="{5392B6E7-0296-4DDC-8A37-ADBF03312730}"/>
              </a:ext>
            </a:extLst>
          </p:cNvPr>
          <p:cNvSpPr>
            <a:spLocks noGrp="1"/>
          </p:cNvSpPr>
          <p:nvPr>
            <p:ph type="sldNum" sz="quarter" idx="12"/>
          </p:nvPr>
        </p:nvSpPr>
        <p:spPr/>
        <p:txBody>
          <a:bodyPr/>
          <a:lstStyle/>
          <a:p>
            <a:fld id="{E1C5CB42-CF14-4293-8971-6DCD1AAE8BE7}" type="slidenum">
              <a:rPr lang="en-GB" smtClean="0"/>
              <a:t>16</a:t>
            </a:fld>
            <a:endParaRPr 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marL="0" lvl="0" indent="0">
              <a:buNone/>
            </a:pPr>
            <a:r>
              <a:t>Quarto / R markdown</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17</a:t>
            </a:fld>
            <a:endParaRPr 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Quarto / R markdown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As a researcher it is important that you can effectively </a:t>
            </a:r>
            <a:r>
              <a:rPr b="1"/>
              <a:t>communicate</a:t>
            </a:r>
            <a:r>
              <a:t> your results.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Quarto and R markdown are open-source science and technical publishing systems, both relying on Pandoc (a universal document converter). Both are markdown languages.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Quarto and R markdown allow creating reports that combine R code with the analysis output. R markdown, and quarto, is a “unified authoring framework for data science, combining your code, its results and your prose commentary”</a:t>
            </a:r>
            <a:r>
              <a:rPr baseline="30000">
                <a:hlinkClick r:id="rId2" action="ppaction://hlinksldjump"/>
              </a:rPr>
              <a:t>3</a:t>
            </a:r>
            <a: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18</a:t>
            </a:fld>
            <a:endParaRPr lang="en-GB"/>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Quarto / R markdown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Quarto allows you to tell a story and share a report that transparently lists the code the generated your results. Markdown documents are fully reproducible (up to a point!) and support a number of output format: html, pdf, docx, pptx…</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Quarto is meant to achieve 3 things:</a:t>
            </a:r>
          </a:p>
          <a:p>
            <a:pPr lvl="0"/>
            <a:r>
              <a:t>Communicate with stakeholders.</a:t>
            </a:r>
          </a:p>
          <a:p>
            <a:pPr lvl="0"/>
            <a:r>
              <a:t>Collaborate with other researchers.</a:t>
            </a:r>
          </a:p>
          <a:p>
            <a:pPr lvl="0"/>
            <a:r>
              <a:t>A framework within which to do data science (like a modern-day lab notebook).</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19</a:t>
            </a:fld>
            <a:endParaRPr lang="en-GB"/>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Quarto / R mardown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Main differences between quarto and R markdown:</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Quarto is newer and will probably supersede R markdown - so best to just learn quarto (but both are almost identical to use).</a:t>
            </a:r>
          </a:p>
          <a:p>
            <a:pPr lvl="0"/>
            <a:r>
              <a:t>Quarto is independent of R and works with many other programming languages (python, Julia, …)</a:t>
            </a:r>
          </a:p>
          <a:p>
            <a:pPr lvl="0"/>
            <a:r>
              <a:t>Slight differences in YAML header specification.</a:t>
            </a:r>
          </a:p>
          <a:p>
            <a:pPr lvl="0"/>
            <a:r>
              <a:t>Slightly different layout &amp; style of final document.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20</a:t>
            </a:fld>
            <a:endParaRPr lang="en-GB"/>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C85BE-B3D8-4FF3-B29D-02E8297507B4}"/>
              </a:ext>
            </a:extLst>
          </p:cNvPr>
          <p:cNvSpPr>
            <a:spLocks noGrp="1"/>
          </p:cNvSpPr>
          <p:nvPr>
            <p:ph type="title"/>
          </p:nvPr>
        </p:nvSpPr>
        <p:spPr/>
        <p:txBody>
          <a:bodyPr/>
          <a:lstStyle/>
          <a:p>
            <a:pPr marL="0" lvl="0" indent="0">
              <a:buNone/>
            </a:pPr>
            <a:r>
              <a:t>Quarto / R markdown</a:t>
            </a:r>
          </a:p>
        </p:txBody>
      </p:sp>
      <p:sp>
        <p:nvSpPr>
          <p:cNvPr id="3" name="Content Placeholder 2">
            <a:extLst>
              <a:ext uri="{FF2B5EF4-FFF2-40B4-BE49-F238E27FC236}">
                <a16:creationId xmlns:a16="http://schemas.microsoft.com/office/drawing/2014/main" id="{7E89358A-6410-47DE-B7D5-0F708CD13DF5}"/>
              </a:ext>
            </a:extLst>
          </p:cNvPr>
          <p:cNvSpPr>
            <a:spLocks noGrp="1"/>
          </p:cNvSpPr>
          <p:nvPr>
            <p:ph sz="half" idx="1"/>
          </p:nvPr>
        </p:nvSpPr>
        <p:spPr/>
        <p:txBody>
          <a:bodyPr/>
          <a:lstStyle/>
          <a:p>
            <a:pPr marL="0" lvl="0" indent="0">
              <a:buNone/>
            </a:pPr>
            <a:r>
              <a:t>There are 3 building blocks to a markdown document:</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457200" lvl="0" indent="-457200">
              <a:buAutoNum type="arabicPeriod"/>
            </a:pPr>
            <a:r>
              <a:t>A YAML header.</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457200" lvl="0" indent="-457200">
              <a:buAutoNum type="arabicPeriod" startAt="2"/>
            </a:pPr>
            <a:r>
              <a:t>Chunks of R code (if you want to strip out all chunks of R code within a markdown document to write a pure R script, you can use the </a:t>
            </a:r>
            <a:r>
              <a:rPr>
                <a:latin typeface="Courier"/>
              </a:rPr>
              <a:t>purl()</a:t>
            </a:r>
            <a:r>
              <a:t> function from the </a:t>
            </a:r>
            <a:r>
              <a:rPr>
                <a:latin typeface="Courier"/>
              </a:rPr>
              <a:t>knitr</a:t>
            </a:r>
            <a:r>
              <a:t> package).</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457200" lvl="0" indent="-457200">
              <a:buAutoNum type="arabicPeriod" startAt="3"/>
            </a:pPr>
            <a:r>
              <a:t>Narrative, formatted text.</a:t>
            </a:r>
          </a:p>
        </p:txBody>
      </p:sp>
      <p:pic>
        <p:nvPicPr>
          <p:cNvPr id="4" name="Picture 1" descr="dataAndSupportDocs/yaml_chunk_text.png"/>
          <p:cNvPicPr>
            <a:picLocks noGrp="1" noChangeAspect="1"/>
          </p:cNvPicPr>
          <p:nvPr/>
        </p:nvPicPr>
        <p:blipFill>
          <a:blip r:embed="rId2"/>
          <a:stretch>
            <a:fillRect/>
          </a:stretch>
        </p:blipFill>
        <p:spPr bwMode="auto">
          <a:xfrm>
            <a:off x="6172200" y="2298700"/>
            <a:ext cx="5181600" cy="3378200"/>
          </a:xfrm>
          <a:prstGeom prst="rect">
            <a:avLst/>
          </a:prstGeom>
          <a:noFill/>
          <a:ln w="9525">
            <a:noFill/>
            <a:headEnd/>
            <a:tailEnd/>
          </a:ln>
        </p:spPr>
      </p:pic>
      <p:sp>
        <p:nvSpPr>
          <p:cNvPr id="7" name="Slide Number Placeholder 6">
            <a:extLst>
              <a:ext uri="{FF2B5EF4-FFF2-40B4-BE49-F238E27FC236}">
                <a16:creationId xmlns:a16="http://schemas.microsoft.com/office/drawing/2014/main" id="{5392B6E7-0296-4DDC-8A37-ADBF03312730}"/>
              </a:ext>
            </a:extLst>
          </p:cNvPr>
          <p:cNvSpPr>
            <a:spLocks noGrp="1"/>
          </p:cNvSpPr>
          <p:nvPr>
            <p:ph type="sldNum" sz="quarter" idx="12"/>
          </p:nvPr>
        </p:nvSpPr>
        <p:spPr/>
        <p:txBody>
          <a:bodyPr/>
          <a:lstStyle/>
          <a:p>
            <a:fld id="{E1C5CB42-CF14-4293-8971-6DCD1AAE8BE7}" type="slidenum">
              <a:rPr lang="en-GB" smtClean="0"/>
              <a:t>21</a:t>
            </a:fld>
            <a:endParaRPr lang="en-GB"/>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Quarto / R markdown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normAutofit fontScale="92500"/>
              </a:bodyPr>
              <a:lstStyle/>
              <a:p>
                <a:pPr marL="0" lvl="0" indent="0">
                  <a:buNone/>
                </a:pPr>
                <a:r>
                  <a:rPr b="1" dirty="0"/>
                  <a:t>Try it!</a:t>
                </a:r>
                <a:r>
                  <a:rPr dirty="0"/>
                  <a:t> In RStudio:</a:t>
                </a:r>
                <a:r>
                  <a:rPr lang="en-GB" dirty="0"/>
                  <a:t> </a:t>
                </a:r>
                <a:endParaRPr dirty="0"/>
              </a:p>
              <a:p>
                <a:pPr lvl="0"/>
                <a:r>
                  <a:rPr dirty="0"/>
                  <a:t>Select </a:t>
                </a:r>
                <a:r>
                  <a:rPr i="1" dirty="0"/>
                  <a:t>File</a:t>
                </a:r>
              </a:p>
              <a:p>
                <a:pPr lvl="0"/>
                <a:r>
                  <a:rPr dirty="0"/>
                  <a:t>Select </a:t>
                </a:r>
                <a:r>
                  <a:rPr i="1" dirty="0"/>
                  <a:t>New File</a:t>
                </a:r>
              </a:p>
              <a:p>
                <a:pPr lvl="0"/>
                <a:r>
                  <a:rPr dirty="0"/>
                  <a:t>Select </a:t>
                </a:r>
                <a:r>
                  <a:rPr i="1" dirty="0"/>
                  <a:t>Quarto document…</a:t>
                </a:r>
              </a:p>
              <a:p>
                <a:pPr lvl="0"/>
                <a:r>
                  <a:rPr dirty="0"/>
                  <a:t>(select type of output; choose html; untick the ‘use visual markdown editor’ box if ticked)</a:t>
                </a:r>
              </a:p>
              <a:p>
                <a:pPr lvl="0"/>
                <a:r>
                  <a:rPr dirty="0"/>
                  <a:t>(select </a:t>
                </a:r>
                <a:r>
                  <a:rPr i="1" dirty="0"/>
                  <a:t>Source</a:t>
                </a:r>
                <a:r>
                  <a:rPr dirty="0"/>
                  <a:t> instead of </a:t>
                </a:r>
                <a:r>
                  <a:rPr i="1" dirty="0"/>
                  <a:t>Visual</a:t>
                </a:r>
                <a:r>
                  <a:rPr dirty="0"/>
                  <a:t> at the top of the editor panel if </a:t>
                </a:r>
                <a:r>
                  <a:rPr i="1" dirty="0"/>
                  <a:t>Visual</a:t>
                </a:r>
                <a:r>
                  <a:rPr dirty="0"/>
                  <a:t> is selected)</a:t>
                </a:r>
              </a:p>
              <a:p>
                <a:pPr lvl="0"/>
                <a:r>
                  <a:rPr dirty="0"/>
                  <a:t>Click on </a:t>
                </a:r>
                <a:r>
                  <a:rPr i="1" dirty="0"/>
                  <a:t>Render</a:t>
                </a:r>
                <a:r>
                  <a:rPr dirty="0"/>
                  <a:t> in the script editor panel.</a:t>
                </a:r>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dirty="0"/>
              </a:p>
              <a:p>
                <a:pPr marL="0" lvl="0" indent="0">
                  <a:buNone/>
                </a:pPr>
                <a:r>
                  <a:rPr dirty="0"/>
                  <a:t>Inspect the document that was generated and compare with the source quarto / markdown code.</a:t>
                </a:r>
              </a:p>
              <a:p>
                <a:pPr marL="0" lvl="0" indent="0">
                  <a:buNone/>
                </a:pPr>
                <a:r>
                  <a:rPr dirty="0"/>
                  <a:t>Do you understand how titles, bold text, links were formatted?</a:t>
                </a:r>
              </a:p>
              <a:p>
                <a:pPr marL="0" lvl="0" indent="0">
                  <a:buNone/>
                </a:pPr>
                <a:r>
                  <a:rPr dirty="0"/>
                  <a:t>Check how R code is rendered and how chunk options let you control how it displays.</a:t>
                </a:r>
              </a:p>
            </p:txBody>
          </p:sp>
        </mc:Choice>
        <mc:Fallback>
          <p:sp>
            <p:nvSpPr>
              <p:cNvPr id="3" name="Content Placeholder 2">
                <a:extLst>
                  <a:ext uri="{FF2B5EF4-FFF2-40B4-BE49-F238E27FC236}">
                    <a16:creationId xmlns:a16="http://schemas.microsoft.com/office/drawing/2014/main" id="{288BC91F-1C76-43AE-8B2A-956D48B768BE}"/>
                  </a:ext>
                </a:extLst>
              </p:cNvPr>
              <p:cNvSpPr>
                <a:spLocks noGrp="1" noRot="1" noChangeAspect="1" noMove="1" noResize="1" noEditPoints="1" noAdjustHandles="1" noChangeArrowheads="1" noChangeShapeType="1" noTextEdit="1"/>
              </p:cNvSpPr>
              <p:nvPr>
                <p:ph idx="1"/>
              </p:nvPr>
            </p:nvSpPr>
            <p:spPr>
              <a:blipFill>
                <a:blip r:embed="rId2"/>
                <a:stretch>
                  <a:fillRect l="-724" t="-1355"/>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22</a:t>
            </a:fld>
            <a:endParaRPr lang="en-GB"/>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marL="0" lvl="0" indent="0">
              <a:buNone/>
            </a:pPr>
            <a:r>
              <a:t>Publishing data &amp; code</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23</a:t>
            </a:fld>
            <a:endParaRPr lang="en-GB"/>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GitHub</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While you can use markdown document and R packages as part of your own workflow, if you want to use them as part of an Open Science paradigm, then you really need to </a:t>
            </a:r>
            <a:r>
              <a:rPr b="1"/>
              <a:t>publish</a:t>
            </a:r>
            <a:r>
              <a:t> them.</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The easiest way to do this is using </a:t>
            </a:r>
            <a:r>
              <a:rPr b="1"/>
              <a:t>GitHub</a:t>
            </a:r>
            <a:r>
              <a:t>.</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GitHub is a hosting service for software development and fully integrates with </a:t>
            </a:r>
            <a:r>
              <a:rPr>
                <a:latin typeface="Courier"/>
              </a:rPr>
              <a:t>git</a:t>
            </a:r>
            <a:r>
              <a:t> a powerful, open source version control software (you are </a:t>
            </a:r>
            <a:r>
              <a:rPr i="1"/>
              <a:t>highly</a:t>
            </a:r>
            <a:r>
              <a:t> encouraged to use git, but we will not cover that here).</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24</a:t>
            </a:fld>
            <a:endParaRPr lang="en-GB"/>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GitHub</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To use GitHub:</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Create a GitHub account if you have not done so already.</a:t>
            </a:r>
          </a:p>
          <a:p>
            <a:pPr lvl="0"/>
            <a:r>
              <a:t>Create a repository on GitHub and upload your package files (either using </a:t>
            </a:r>
            <a:r>
              <a:rPr>
                <a:latin typeface="Courier"/>
              </a:rPr>
              <a:t>git</a:t>
            </a:r>
            <a:r>
              <a:t> or through the GitHub direct website upload feature).</a:t>
            </a:r>
          </a:p>
          <a:p>
            <a:pPr lvl="0"/>
            <a:r>
              <a:t>Make sure your branch is called </a:t>
            </a:r>
            <a:r>
              <a:rPr b="1"/>
              <a:t>main</a:t>
            </a:r>
            <a:r>
              <a:t> (previously the main branch was called </a:t>
            </a:r>
            <a:r>
              <a:rPr i="1"/>
              <a:t>master</a:t>
            </a:r>
            <a:r>
              <a:t>).</a:t>
            </a:r>
          </a:p>
          <a:p>
            <a:pPr lvl="0"/>
            <a:r>
              <a:t>Upload files using either the upload function or using git directly on your computer.</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25</a:t>
            </a:fld>
            <a:endParaRPr lang="en-GB"/>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GitHub</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GitHub project releases: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GitHub is primarily meant for colaboratively developing code. It uses version control allows branching projects into different directions, adding and removing files, … In other words, any given repository on GitHub can change over time.</a:t>
            </a:r>
          </a:p>
          <a:p>
            <a:pPr lvl="0"/>
            <a:r>
              <a:t>For users, you may wish to create a release to bundle and deliver iterations of a project to users.</a:t>
            </a:r>
          </a:p>
          <a:p>
            <a:pPr lvl="0"/>
            <a:r>
              <a:t>See </a:t>
            </a:r>
            <a:r>
              <a:rPr>
                <a:hlinkClick r:id="rId2"/>
              </a:rPr>
              <a:t>https://docs.github.com/en/repositories/releasing-projects-on-github/managing-releases-in-a-repository</a:t>
            </a:r>
            <a:r>
              <a:t> how to create and manage GitHub releases.</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26</a:t>
            </a:fld>
            <a:endParaRPr lang="en-GB"/>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R packages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lvl="0"/>
            <a:r>
              <a:t>Packages in R are </a:t>
            </a:r>
            <a:r>
              <a:rPr b="1"/>
              <a:t>bundles of shareable code, data and documentation</a:t>
            </a:r>
            <a:r>
              <a:t>.</a:t>
            </a:r>
          </a:p>
          <a:p>
            <a:pPr lvl="0"/>
            <a:r>
              <a:t>Packages allow users to contribute functionality to R and avoid having to re-invent the wheel. They are what make R so powerful a tool.</a:t>
            </a:r>
          </a:p>
          <a:p>
            <a:pPr lvl="0"/>
            <a:r>
              <a:t>Anybody can write an R package: this includes you (in fact you will write one before the session is up)!</a:t>
            </a:r>
          </a:p>
          <a:p>
            <a:pPr lvl="0"/>
            <a:r>
              <a:t>To publish an R package formally (CRAN, Bioconductor) will take a bit more effort and provides </a:t>
            </a:r>
            <a:r>
              <a:rPr i="1"/>
              <a:t>minimal</a:t>
            </a:r>
            <a:r>
              <a:t> quality control.</a:t>
            </a:r>
          </a:p>
          <a:p>
            <a:pPr lvl="0"/>
            <a:r>
              <a:t>Packages are not formally peer reviewed, the R community will provide feedback to package authors and maintainers but very new and/or little used packages could do incorrect analyses (buyer beware!). This is where commercial software with stringent QA and validation processes have a role to play.</a:t>
            </a:r>
          </a:p>
          <a:p>
            <a:pPr lvl="0"/>
            <a:r>
              <a:t>Crucially, you can also use R packages to organise your own work flow and to publish your work as a reproducible </a:t>
            </a:r>
            <a:r>
              <a:rPr b="1"/>
              <a:t>research compendium</a:t>
            </a:r>
            <a:r>
              <a:rPr baseline="30000">
                <a:hlinkClick r:id="rId2" action="ppaction://hlinksldjump"/>
              </a:rPr>
              <a:t>4</a:t>
            </a:r>
            <a:r>
              <a:rPr baseline="30000"/>
              <a:t>,</a:t>
            </a:r>
            <a:r>
              <a:rPr baseline="30000">
                <a:hlinkClick r:id="rId2" action="ppaction://hlinksldjump"/>
              </a:rPr>
              <a:t>5</a:t>
            </a:r>
            <a: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27</a:t>
            </a:fld>
            <a:endParaRPr lang="en-GB"/>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R packages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An R package can be in one of 5 states: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457200" lvl="0" indent="-457200">
              <a:buAutoNum type="arabicPeriod"/>
            </a:pPr>
            <a:r>
              <a:t>Source (i.e. a directory)</a:t>
            </a:r>
          </a:p>
          <a:p>
            <a:pPr marL="457200" lvl="0" indent="-457200">
              <a:buAutoNum type="arabicPeriod"/>
            </a:pPr>
            <a:r>
              <a:t>Bundled (i.e. a tarball, typically a </a:t>
            </a:r>
            <a:r>
              <a:rPr>
                <a:latin typeface="Courier"/>
              </a:rPr>
              <a:t>*.tar.gz</a:t>
            </a:r>
            <a:r>
              <a:t> file)</a:t>
            </a:r>
          </a:p>
          <a:p>
            <a:pPr marL="457200" lvl="0" indent="-457200">
              <a:buAutoNum type="arabicPeriod"/>
            </a:pPr>
            <a:r>
              <a:t>Binary (pre-compiled, single file, platform specific, typically a </a:t>
            </a:r>
            <a:r>
              <a:rPr>
                <a:latin typeface="Courier"/>
              </a:rPr>
              <a:t>*.tgz</a:t>
            </a:r>
            <a:r>
              <a:t> file for Mac OS and </a:t>
            </a:r>
            <a:r>
              <a:rPr>
                <a:latin typeface="Courier"/>
              </a:rPr>
              <a:t>*.zip</a:t>
            </a:r>
            <a:r>
              <a:t> for Windows)</a:t>
            </a:r>
          </a:p>
          <a:p>
            <a:pPr marL="457200" lvl="0" indent="-457200">
              <a:buAutoNum type="arabicPeriod"/>
            </a:pPr>
            <a:r>
              <a:t>Installed (i.e. after you called </a:t>
            </a:r>
            <a:r>
              <a:rPr>
                <a:latin typeface="Courier"/>
              </a:rPr>
              <a:t>install.packages()</a:t>
            </a:r>
            <a:r>
              <a:t>)</a:t>
            </a:r>
          </a:p>
          <a:p>
            <a:pPr marL="457200" lvl="0" indent="-457200">
              <a:buAutoNum type="arabicPeriod"/>
            </a:pPr>
            <a:r>
              <a:t>In memory (i.e. after you called </a:t>
            </a:r>
            <a:r>
              <a:rPr>
                <a:latin typeface="Courier"/>
              </a:rPr>
              <a:t>library()</a:t>
            </a:r>
            <a:r>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28</a:t>
            </a:fld>
            <a:endParaRPr lang="en-GB"/>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R packages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normAutofit lnSpcReduction="10000"/>
              </a:bodyPr>
              <a:lstStyle/>
              <a:p>
                <a:pPr marL="0" lvl="0" indent="0">
                  <a:buNone/>
                </a:pPr>
                <a:r>
                  <a:rPr dirty="0"/>
                  <a:t>A source R package has a required file and folder structure. Inside a source package directory you will need:</a:t>
                </a:r>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dirty="0"/>
              </a:p>
              <a:p>
                <a:pPr lvl="0"/>
                <a:r>
                  <a:rPr dirty="0">
                    <a:latin typeface="Courier"/>
                  </a:rPr>
                  <a:t>DESCRIPTION</a:t>
                </a:r>
                <a:r>
                  <a:rPr dirty="0"/>
                  <a:t> [*]</a:t>
                </a:r>
                <a:r>
                  <a:rPr lang="en-GB" dirty="0"/>
                  <a:t> </a:t>
                </a:r>
                <a:endParaRPr dirty="0"/>
              </a:p>
              <a:p>
                <a:pPr lvl="0"/>
                <a:r>
                  <a:rPr dirty="0">
                    <a:latin typeface="Courier"/>
                  </a:rPr>
                  <a:t>NAMESPACE</a:t>
                </a:r>
                <a:r>
                  <a:rPr dirty="0"/>
                  <a:t> [*]</a:t>
                </a:r>
              </a:p>
              <a:p>
                <a:pPr lvl="0"/>
                <a:r>
                  <a:rPr dirty="0" err="1">
                    <a:latin typeface="Courier"/>
                  </a:rPr>
                  <a:t>README.md</a:t>
                </a:r>
                <a:endParaRPr dirty="0">
                  <a:latin typeface="Courier"/>
                </a:endParaRPr>
              </a:p>
              <a:p>
                <a:pPr lvl="0"/>
                <a:r>
                  <a:rPr dirty="0" err="1">
                    <a:latin typeface="Courier"/>
                  </a:rPr>
                  <a:t>NEWS.md</a:t>
                </a:r>
                <a:endParaRPr dirty="0">
                  <a:latin typeface="Courier"/>
                </a:endParaRPr>
              </a:p>
              <a:p>
                <a:pPr lvl="0"/>
                <a:r>
                  <a:rPr dirty="0">
                    <a:latin typeface="Courier"/>
                  </a:rPr>
                  <a:t>R</a:t>
                </a:r>
                <a:r>
                  <a:rPr dirty="0"/>
                  <a:t> directory [*]</a:t>
                </a:r>
              </a:p>
              <a:p>
                <a:pPr lvl="0"/>
                <a:r>
                  <a:rPr dirty="0">
                    <a:latin typeface="Courier"/>
                  </a:rPr>
                  <a:t>man</a:t>
                </a:r>
                <a:r>
                  <a:rPr dirty="0"/>
                  <a:t> directory</a:t>
                </a:r>
              </a:p>
              <a:p>
                <a:pPr lvl="0"/>
                <a:r>
                  <a:rPr dirty="0">
                    <a:latin typeface="Courier"/>
                  </a:rPr>
                  <a:t>data</a:t>
                </a:r>
                <a:r>
                  <a:rPr dirty="0"/>
                  <a:t> directory</a:t>
                </a:r>
              </a:p>
              <a:p>
                <a:pPr lvl="0"/>
                <a:r>
                  <a:rPr dirty="0" err="1">
                    <a:latin typeface="Courier"/>
                  </a:rPr>
                  <a:t>inst</a:t>
                </a:r>
                <a:r>
                  <a:rPr dirty="0"/>
                  <a:t> directory</a:t>
                </a:r>
              </a:p>
              <a:p>
                <a:pPr marL="0" lvl="0" indent="0">
                  <a:buNone/>
                </a:pPr>
                <a:r>
                  <a:rPr dirty="0"/>
                  <a:t>The items marked by [*] are the minimum, bare-bones essentials.</a:t>
                </a:r>
              </a:p>
            </p:txBody>
          </p:sp>
        </mc:Choice>
        <mc:Fallback>
          <p:sp>
            <p:nvSpPr>
              <p:cNvPr id="3" name="Content Placeholder 2">
                <a:extLst>
                  <a:ext uri="{FF2B5EF4-FFF2-40B4-BE49-F238E27FC236}">
                    <a16:creationId xmlns:a16="http://schemas.microsoft.com/office/drawing/2014/main" id="{288BC91F-1C76-43AE-8B2A-956D48B768BE}"/>
                  </a:ext>
                </a:extLst>
              </p:cNvPr>
              <p:cNvSpPr>
                <a:spLocks noGrp="1" noRot="1" noChangeAspect="1" noMove="1" noResize="1" noEditPoints="1" noAdjustHandles="1" noChangeArrowheads="1" noChangeShapeType="1" noTextEdit="1"/>
              </p:cNvSpPr>
              <p:nvPr>
                <p:ph idx="1"/>
              </p:nvPr>
            </p:nvSpPr>
            <p:spPr>
              <a:blipFill>
                <a:blip r:embed="rId2"/>
                <a:stretch>
                  <a:fillRect l="-724" t="-2168"/>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29</a:t>
            </a:fld>
            <a:endParaRPr lang="en-GB"/>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R packages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normAutofit lnSpcReduction="10000"/>
              </a:bodyPr>
              <a:lstStyle/>
              <a:p>
                <a:pPr marL="0" lvl="0" indent="0">
                  <a:buNone/>
                </a:pPr>
                <a:r>
                  <a:rPr dirty="0"/>
                  <a:t>A source R package has a required file and folder structure. Inside a source package directory you will need:</a:t>
                </a:r>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dirty="0"/>
              </a:p>
              <a:p>
                <a:pPr lvl="0"/>
                <a:r>
                  <a:rPr dirty="0">
                    <a:latin typeface="Courier"/>
                  </a:rPr>
                  <a:t>DESCRIPTION</a:t>
                </a:r>
                <a:r>
                  <a:rPr dirty="0"/>
                  <a:t> </a:t>
                </a:r>
                <a:r>
                  <a:rPr b="1" dirty="0"/>
                  <a:t>lists version, author, license info &amp; dependencies</a:t>
                </a:r>
                <a:r>
                  <a:rPr dirty="0"/>
                  <a:t>[*]</a:t>
                </a:r>
                <a:r>
                  <a:rPr lang="en-GB" dirty="0"/>
                  <a:t> </a:t>
                </a:r>
                <a:endParaRPr dirty="0"/>
              </a:p>
              <a:p>
                <a:pPr lvl="0"/>
                <a:r>
                  <a:rPr dirty="0">
                    <a:latin typeface="Courier"/>
                  </a:rPr>
                  <a:t>NAMESPACE</a:t>
                </a:r>
                <a:r>
                  <a:rPr dirty="0"/>
                  <a:t> </a:t>
                </a:r>
                <a:r>
                  <a:rPr b="1" dirty="0"/>
                  <a:t>identifies functions to be exported or imported</a:t>
                </a:r>
                <a:r>
                  <a:rPr dirty="0"/>
                  <a:t> [*]</a:t>
                </a:r>
              </a:p>
              <a:p>
                <a:pPr lvl="0"/>
                <a:r>
                  <a:rPr dirty="0" err="1">
                    <a:latin typeface="Courier"/>
                  </a:rPr>
                  <a:t>README.md</a:t>
                </a:r>
                <a:r>
                  <a:rPr dirty="0"/>
                  <a:t> </a:t>
                </a:r>
                <a:r>
                  <a:rPr b="1" dirty="0"/>
                  <a:t>optional documentation / information file</a:t>
                </a:r>
              </a:p>
              <a:p>
                <a:pPr lvl="0"/>
                <a:r>
                  <a:rPr dirty="0" err="1">
                    <a:latin typeface="Courier"/>
                  </a:rPr>
                  <a:t>NEWS.md</a:t>
                </a:r>
                <a:r>
                  <a:rPr dirty="0"/>
                  <a:t> </a:t>
                </a:r>
                <a:r>
                  <a:rPr b="1" dirty="0"/>
                  <a:t>typically lists version history and updates to the package</a:t>
                </a:r>
              </a:p>
              <a:p>
                <a:pPr lvl="0"/>
                <a:r>
                  <a:rPr dirty="0">
                    <a:latin typeface="Courier"/>
                  </a:rPr>
                  <a:t>R</a:t>
                </a:r>
                <a:r>
                  <a:rPr dirty="0"/>
                  <a:t> directory </a:t>
                </a:r>
                <a:r>
                  <a:rPr b="1" dirty="0"/>
                  <a:t>contains R code defining package functions</a:t>
                </a:r>
                <a:r>
                  <a:rPr dirty="0"/>
                  <a:t> [*]</a:t>
                </a:r>
              </a:p>
              <a:p>
                <a:pPr lvl="0"/>
                <a:r>
                  <a:rPr dirty="0">
                    <a:latin typeface="Courier"/>
                  </a:rPr>
                  <a:t>man</a:t>
                </a:r>
                <a:r>
                  <a:rPr dirty="0"/>
                  <a:t> directory </a:t>
                </a:r>
                <a:r>
                  <a:rPr b="1" dirty="0"/>
                  <a:t>contains documentation files (best auto-generated)</a:t>
                </a:r>
              </a:p>
              <a:p>
                <a:pPr lvl="0"/>
                <a:r>
                  <a:rPr dirty="0">
                    <a:latin typeface="Courier"/>
                  </a:rPr>
                  <a:t>data</a:t>
                </a:r>
                <a:r>
                  <a:rPr dirty="0"/>
                  <a:t> directory </a:t>
                </a:r>
                <a:r>
                  <a:rPr b="1" dirty="0"/>
                  <a:t>contains datasets (if needed)</a:t>
                </a:r>
              </a:p>
              <a:p>
                <a:pPr lvl="0"/>
                <a:r>
                  <a:rPr dirty="0" err="1">
                    <a:latin typeface="Courier"/>
                  </a:rPr>
                  <a:t>inst</a:t>
                </a:r>
                <a:r>
                  <a:rPr dirty="0"/>
                  <a:t> directory </a:t>
                </a:r>
                <a:r>
                  <a:rPr b="1" dirty="0"/>
                  <a:t>extra resources, e.g. markdown scripts</a:t>
                </a:r>
              </a:p>
              <a:p>
                <a:pPr marL="0" lvl="0" indent="0">
                  <a:buNone/>
                </a:pPr>
                <a:r>
                  <a:rPr dirty="0"/>
                  <a:t>The items marked by [*] are the minimum, bare-bones essentials.</a:t>
                </a:r>
              </a:p>
            </p:txBody>
          </p:sp>
        </mc:Choice>
        <mc:Fallback>
          <p:sp>
            <p:nvSpPr>
              <p:cNvPr id="3" name="Content Placeholder 2">
                <a:extLst>
                  <a:ext uri="{FF2B5EF4-FFF2-40B4-BE49-F238E27FC236}">
                    <a16:creationId xmlns:a16="http://schemas.microsoft.com/office/drawing/2014/main" id="{288BC91F-1C76-43AE-8B2A-956D48B768BE}"/>
                  </a:ext>
                </a:extLst>
              </p:cNvPr>
              <p:cNvSpPr>
                <a:spLocks noGrp="1" noRot="1" noChangeAspect="1" noMove="1" noResize="1" noEditPoints="1" noAdjustHandles="1" noChangeArrowheads="1" noChangeShapeType="1" noTextEdit="1"/>
              </p:cNvSpPr>
              <p:nvPr>
                <p:ph idx="1"/>
              </p:nvPr>
            </p:nvSpPr>
            <p:spPr>
              <a:blipFill>
                <a:blip r:embed="rId2"/>
                <a:stretch>
                  <a:fillRect l="-724" t="-2168"/>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30</a:t>
            </a:fld>
            <a:endParaRPr lang="en-GB"/>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R packages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normAutofit lnSpcReduction="10000"/>
              </a:bodyPr>
              <a:lstStyle/>
              <a:p>
                <a:pPr marL="0" lvl="0" indent="0">
                  <a:buNone/>
                </a:pPr>
                <a:r>
                  <a:rPr dirty="0"/>
                  <a:t>To create a new R package, make use of RStudio’s project feature:</a:t>
                </a:r>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dirty="0"/>
              </a:p>
              <a:p>
                <a:pPr lvl="0"/>
                <a:r>
                  <a:rPr dirty="0"/>
                  <a:t>Create a new project in a new directory (you should have an option to create a new package; if so delete </a:t>
                </a:r>
                <a:r>
                  <a:rPr dirty="0" err="1">
                    <a:latin typeface="Courier"/>
                  </a:rPr>
                  <a:t>Hello.R</a:t>
                </a:r>
                <a:r>
                  <a:rPr dirty="0"/>
                  <a:t> from </a:t>
                </a:r>
                <a:r>
                  <a:rPr dirty="0">
                    <a:latin typeface="Courier"/>
                  </a:rPr>
                  <a:t>R/</a:t>
                </a:r>
                <a:r>
                  <a:rPr dirty="0"/>
                  <a:t> and </a:t>
                </a:r>
                <a:r>
                  <a:rPr dirty="0" err="1">
                    <a:latin typeface="Courier"/>
                  </a:rPr>
                  <a:t>Hello.Rd</a:t>
                </a:r>
                <a:r>
                  <a:rPr dirty="0"/>
                  <a:t> from </a:t>
                </a:r>
                <a:r>
                  <a:rPr dirty="0">
                    <a:latin typeface="Courier"/>
                  </a:rPr>
                  <a:t>man/</a:t>
                </a:r>
                <a:r>
                  <a:rPr dirty="0"/>
                  <a:t>).</a:t>
                </a:r>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dirty="0"/>
              </a:p>
              <a:p>
                <a:pPr lvl="0"/>
                <a:r>
                  <a:rPr dirty="0"/>
                  <a:t>If needed, create the files &amp; directories from the previous slide either manually or </a:t>
                </a:r>
                <a:r>
                  <a:rPr b="1" dirty="0"/>
                  <a:t>using packages </a:t>
                </a:r>
                <a:r>
                  <a:rPr b="1" dirty="0" err="1">
                    <a:latin typeface="Courier"/>
                  </a:rPr>
                  <a:t>devtools</a:t>
                </a:r>
                <a:r>
                  <a:rPr dirty="0"/>
                  <a:t> (function </a:t>
                </a:r>
                <a:r>
                  <a:rPr dirty="0">
                    <a:latin typeface="Courier"/>
                  </a:rPr>
                  <a:t>document()</a:t>
                </a:r>
                <a:r>
                  <a:rPr dirty="0"/>
                  <a:t>) </a:t>
                </a:r>
                <a:r>
                  <a:rPr b="1" dirty="0"/>
                  <a:t>and </a:t>
                </a:r>
                <a:r>
                  <a:rPr b="1" dirty="0" err="1">
                    <a:latin typeface="Courier"/>
                  </a:rPr>
                  <a:t>usethis</a:t>
                </a:r>
                <a:r>
                  <a:rPr dirty="0"/>
                  <a:t> (function </a:t>
                </a:r>
                <a:r>
                  <a:rPr dirty="0" err="1">
                    <a:latin typeface="Courier"/>
                  </a:rPr>
                  <a:t>create_package</a:t>
                </a:r>
                <a:r>
                  <a:rPr dirty="0">
                    <a:latin typeface="Courier"/>
                  </a:rPr>
                  <a:t>()</a:t>
                </a:r>
                <a:r>
                  <a:rPr dirty="0"/>
                  <a:t>, when initiating a package).</a:t>
                </a:r>
              </a:p>
              <a:p>
                <a:pPr lvl="0"/>
                <a:r>
                  <a:rPr dirty="0"/>
                  <a:t>Edit the files as needed.</a:t>
                </a:r>
              </a:p>
              <a:p>
                <a:pPr lvl="0"/>
                <a:r>
                  <a:rPr dirty="0"/>
                  <a:t>Compile &amp; test.</a:t>
                </a:r>
              </a:p>
              <a:p>
                <a:pPr lvl="0"/>
                <a:r>
                  <a:rPr dirty="0"/>
                  <a:t>Upload to GitHub (informal release) or CRAN / Bioconductor (formal release).</a:t>
                </a:r>
              </a:p>
              <a:p>
                <a:pPr marL="0" lvl="0" indent="0">
                  <a:buNone/>
                </a:pPr>
                <a14:m>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dirty="0"/>
              </a:p>
              <a:p>
                <a:pPr marL="0" lvl="0" indent="0">
                  <a:buNone/>
                </a:pPr>
                <a:r>
                  <a:rPr dirty="0"/>
                  <a:t>Go to </a:t>
                </a:r>
                <a:r>
                  <a:rPr dirty="0">
                    <a:hlinkClick r:id="rId2"/>
                  </a:rPr>
                  <a:t>https://r-pkgs.org/</a:t>
                </a:r>
                <a:r>
                  <a:rPr dirty="0"/>
                  <a:t> for a deep dive on how to create your own package.</a:t>
                </a:r>
                <a:r>
                  <a:rPr lang="en-GB" dirty="0"/>
                  <a:t> </a:t>
                </a:r>
                <a:endParaRPr dirty="0"/>
              </a:p>
            </p:txBody>
          </p:sp>
        </mc:Choice>
        <mc:Fallback>
          <p:sp>
            <p:nvSpPr>
              <p:cNvPr id="3" name="Content Placeholder 2">
                <a:extLst>
                  <a:ext uri="{FF2B5EF4-FFF2-40B4-BE49-F238E27FC236}">
                    <a16:creationId xmlns:a16="http://schemas.microsoft.com/office/drawing/2014/main" id="{288BC91F-1C76-43AE-8B2A-956D48B768BE}"/>
                  </a:ext>
                </a:extLst>
              </p:cNvPr>
              <p:cNvSpPr>
                <a:spLocks noGrp="1" noRot="1" noChangeAspect="1" noMove="1" noResize="1" noEditPoints="1" noAdjustHandles="1" noChangeArrowheads="1" noChangeShapeType="1" noTextEdit="1"/>
              </p:cNvSpPr>
              <p:nvPr>
                <p:ph idx="1"/>
              </p:nvPr>
            </p:nvSpPr>
            <p:spPr>
              <a:blipFill>
                <a:blip r:embed="rId3"/>
                <a:stretch>
                  <a:fillRect l="-724" t="-2168"/>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31</a:t>
            </a:fld>
            <a:endParaRPr lang="en-GB"/>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Figshare / Zenodo</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t>You can also publish markdown documents, script files and data using repositories such as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figshare </a:t>
            </a:r>
            <a:r>
              <a:rPr>
                <a:hlinkClick r:id="rId2"/>
              </a:rPr>
              <a:t>https://figshare.com</a:t>
            </a:r>
          </a:p>
          <a:p>
            <a:pPr lvl="0"/>
            <a:r>
              <a:t>Zenodo </a:t>
            </a:r>
            <a:r>
              <a:rPr>
                <a:hlinkClick r:id="rId3"/>
              </a:rPr>
              <a:t>https://zenodo.org</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hlinkClick r:id="rId3"/>
            </a:endParaRPr>
          </a:p>
          <a:p>
            <a:pPr marL="0" lvl="0" indent="0">
              <a:buNone/>
            </a:pPr>
            <a:r>
              <a:t>These can be either private or public. Once public, they can only be updated, not modified. The main advantage of these repositories is that you can get a Digital Object Identifier (DOI) number for your data/code publication which can be directly cited by other researchers.</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32</a:t>
            </a:fld>
            <a:endParaRPr lang="en-GB"/>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marL="0" lvl="0" indent="0">
              <a:buNone/>
            </a:pPr>
            <a:r>
              <a:t>Licenses</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33</a:t>
            </a:fld>
            <a:endParaRPr lang="en-GB"/>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Licenses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Discuss:</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What is a license (in the context of documents, software, …)?</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lvl="0"/>
            <a:r>
              <a:t>Why should you use a license to publish content or software?</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34</a:t>
            </a:fld>
            <a:endParaRPr lang="en-GB"/>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Licenses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spcBef>
                <a:spcPts val="3000"/>
              </a:spcBef>
              <a:buNone/>
            </a:pPr>
            <a:r>
              <a:rPr b="1"/>
              <a:t>Why use licenses?</a:t>
            </a:r>
          </a:p>
          <a:p>
            <a:pPr marL="0" lvl="0" indent="0">
              <a:buNone/>
            </a:pPr>
            <a:r>
              <a:t>A license is a legal document that will provide you and your institution some protection regarding how your content or software can be used and what attribution / credit needs to be given to your and your co-authors.</a:t>
            </a:r>
          </a:p>
          <a:p>
            <a:pPr marL="0" lvl="0" indent="0">
              <a:buNone/>
            </a:pPr>
            <a:r>
              <a:t>While a license or a copyright license can obviously be used to restrict usage, you should still use one for open source documents to clarify wheher your work can be used for commercial purposes, how you should be given credit for your work, etc.</a:t>
            </a:r>
          </a:p>
          <a:p>
            <a:pPr marL="0" lvl="0" indent="0">
              <a:buNone/>
            </a:pPr>
            <a:r>
              <a:t>For software, it is generally recommended to have a no-warranty / AS-IS statement in the license to protect you and your organisation from lawsuits from users of your software.</a:t>
            </a:r>
          </a:p>
          <a:p>
            <a:pPr marL="0" lvl="0" indent="0">
              <a:spcBef>
                <a:spcPts val="3000"/>
              </a:spcBef>
              <a:buNone/>
            </a:pPr>
            <a:r>
              <a:rPr b="1"/>
              <a:t>Software vs content</a:t>
            </a:r>
          </a:p>
          <a:p>
            <a:pPr marL="0" lvl="0" indent="0">
              <a:buNone/>
            </a:pPr>
            <a:r>
              <a:t>You can use the same license for content and software but it is generally recommended to use content-specific licenses for content and software-specific licenses for computer code.</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35</a:t>
            </a:fld>
            <a:endParaRPr lang="en-GB"/>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Licenses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normAutofit lnSpcReduction="10000"/>
          </a:bodyPr>
          <a:lstStyle/>
          <a:p>
            <a:pPr marL="0" lvl="0" indent="0">
              <a:spcBef>
                <a:spcPts val="3000"/>
              </a:spcBef>
              <a:buNone/>
            </a:pPr>
            <a:r>
              <a:rPr b="1" dirty="0"/>
              <a:t>Common open source software licenses:</a:t>
            </a:r>
            <a:r>
              <a:rPr lang="en-GB" b="1" dirty="0"/>
              <a:t> </a:t>
            </a:r>
            <a:endParaRPr b="1" dirty="0"/>
          </a:p>
          <a:p>
            <a:pPr lvl="0"/>
            <a:r>
              <a:rPr dirty="0"/>
              <a:t>MIT</a:t>
            </a:r>
          </a:p>
          <a:p>
            <a:pPr lvl="0"/>
            <a:r>
              <a:rPr dirty="0"/>
              <a:t>GPL-3.0</a:t>
            </a:r>
          </a:p>
          <a:p>
            <a:pPr lvl="0"/>
            <a:r>
              <a:rPr dirty="0"/>
              <a:t>See </a:t>
            </a:r>
            <a:r>
              <a:rPr dirty="0">
                <a:hlinkClick r:id="rId2"/>
              </a:rPr>
              <a:t>https://opensource.org/licenses/alphabetical</a:t>
            </a:r>
            <a:r>
              <a:rPr dirty="0"/>
              <a:t> for OSI approved licenses.</a:t>
            </a:r>
          </a:p>
          <a:p>
            <a:pPr lvl="0"/>
            <a:r>
              <a:rPr dirty="0"/>
              <a:t>You can select one of several standard licenses on GitHub or upload your own.</a:t>
            </a:r>
          </a:p>
          <a:p>
            <a:pPr marL="0" lvl="0" indent="0">
              <a:spcBef>
                <a:spcPts val="3000"/>
              </a:spcBef>
              <a:buNone/>
            </a:pPr>
            <a:r>
              <a:rPr b="1" dirty="0"/>
              <a:t>Content licenses</a:t>
            </a:r>
          </a:p>
          <a:p>
            <a:pPr marL="0" lvl="0" indent="0">
              <a:buNone/>
            </a:pPr>
            <a:r>
              <a:rPr dirty="0"/>
              <a:t>The most common here is the Creative Commons Attribution International license, </a:t>
            </a:r>
            <a:r>
              <a:rPr dirty="0">
                <a:hlinkClick r:id="rId3"/>
              </a:rPr>
              <a:t>CC BY 4.0</a:t>
            </a:r>
            <a:r>
              <a:rPr dirty="0"/>
              <a:t>. </a:t>
            </a:r>
            <a:r>
              <a:rPr dirty="0" err="1"/>
              <a:t>Wellcome</a:t>
            </a:r>
            <a:r>
              <a:rPr dirty="0"/>
              <a:t> funded research needs to be published using this license.</a:t>
            </a:r>
          </a:p>
          <a:p>
            <a:pPr marL="0" lvl="0" indent="0">
              <a:spcBef>
                <a:spcPts val="3000"/>
              </a:spcBef>
              <a:buNone/>
            </a:pPr>
            <a:r>
              <a:rPr b="1" dirty="0"/>
              <a:t>The Unlicense</a:t>
            </a:r>
          </a:p>
          <a:p>
            <a:pPr marL="0" lvl="0" indent="0">
              <a:buNone/>
            </a:pPr>
            <a:r>
              <a:rPr dirty="0"/>
              <a:t>This is a public-domain equivalent license, without an attribution clause but with a no-warranty statement. See </a:t>
            </a:r>
            <a:r>
              <a:rPr dirty="0">
                <a:hlinkClick r:id="rId4"/>
              </a:rPr>
              <a:t>http://unlicense.org</a:t>
            </a:r>
            <a:r>
              <a:rPr dirty="0"/>
              <a: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36</a:t>
            </a:fld>
            <a:endParaRPr lang="en-GB"/>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Licenses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rPr b="1"/>
              <a:t>Patents</a:t>
            </a:r>
            <a:r>
              <a:t> are similar to licenses - in a way.</a:t>
            </a:r>
          </a:p>
          <a:p>
            <a:pPr marL="0" lvl="0" indent="0">
              <a:buNone/>
            </a:pPr>
            <a:r>
              <a:t>They provide a legal protection (for commercial purposes) of a technology. As a price for that protection, you need to share the principles of the technology.</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Mostly relevant for novel software, assays and other products rather than directly research output.</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37</a:t>
            </a:fld>
            <a:endParaRPr lang="en-GB"/>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042-BDFA-4708-84AB-F848A1D5D4A0}"/>
              </a:ext>
            </a:extLst>
          </p:cNvPr>
          <p:cNvSpPr>
            <a:spLocks noGrp="1"/>
          </p:cNvSpPr>
          <p:nvPr>
            <p:ph type="title"/>
          </p:nvPr>
        </p:nvSpPr>
        <p:spPr>
          <a:xfrm>
            <a:off x="831850" y="1709738"/>
            <a:ext cx="10515600" cy="2852737"/>
          </a:xfrm>
        </p:spPr>
        <p:txBody>
          <a:bodyPr/>
          <a:lstStyle/>
          <a:p>
            <a:pPr marL="0" lvl="0" indent="0">
              <a:buNone/>
            </a:pPr>
            <a:r>
              <a:t>Practical</a:t>
            </a:r>
          </a:p>
        </p:txBody>
      </p:sp>
      <p:sp>
        <p:nvSpPr>
          <p:cNvPr id="6" name="Slide Number Placeholder 5">
            <a:extLst>
              <a:ext uri="{FF2B5EF4-FFF2-40B4-BE49-F238E27FC236}">
                <a16:creationId xmlns:a16="http://schemas.microsoft.com/office/drawing/2014/main" id="{910AAC92-EEED-4232-ACDE-84003A6476BB}"/>
              </a:ext>
            </a:extLst>
          </p:cNvPr>
          <p:cNvSpPr>
            <a:spLocks noGrp="1"/>
          </p:cNvSpPr>
          <p:nvPr>
            <p:ph type="sldNum" sz="quarter" idx="12"/>
          </p:nvPr>
        </p:nvSpPr>
        <p:spPr/>
        <p:txBody>
          <a:bodyPr/>
          <a:lstStyle/>
          <a:p>
            <a:fld id="{E1C5CB42-CF14-4293-8971-6DCD1AAE8BE7}" type="slidenum">
              <a:rPr lang="en-GB" smtClean="0"/>
              <a:t>38</a:t>
            </a:fld>
            <a:endParaRPr lang="en-GB"/>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Quarto / R markdown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rPr b="1"/>
              <a:t>Practical</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b="1"/>
          </a:p>
          <a:p>
            <a:pPr marL="457200" lvl="0" indent="-457200">
              <a:buAutoNum type="arabicPeriod"/>
            </a:pPr>
            <a:r>
              <a:t>Simulate a dataset and save it as a binary R data file (*.rda or *.RData).</a:t>
            </a:r>
          </a:p>
          <a:p>
            <a:pPr marL="457200" lvl="0" indent="-457200">
              <a:buAutoNum type="arabicPeriod"/>
            </a:pPr>
            <a:r>
              <a:t>Write a new quarto document which:</a:t>
            </a:r>
          </a:p>
          <a:p>
            <a:pPr lvl="0"/>
            <a:r>
              <a:t>Loads the simulated data.</a:t>
            </a:r>
          </a:p>
          <a:p>
            <a:pPr lvl="0"/>
            <a:r>
              <a:t>Performs a basic analysis and produces a table with results.</a:t>
            </a:r>
          </a:p>
          <a:p>
            <a:pPr lvl="0"/>
            <a:r>
              <a:t>Displays a graph.</a:t>
            </a:r>
          </a:p>
          <a:p>
            <a:pPr lvl="0"/>
            <a:r>
              <a:t>Make sure to use quarto’s capability of providing a </a:t>
            </a:r>
            <a:r>
              <a:rPr i="1"/>
              <a:t>commentary</a:t>
            </a:r>
            <a:r>
              <a:t> along with your analysis.</a:t>
            </a:r>
          </a:p>
          <a:p>
            <a:pPr marL="457200" lvl="0" indent="-457200">
              <a:buAutoNum type="arabicPeriod" startAt="3"/>
            </a:pPr>
            <a:r>
              <a:t>Create an account on Zenodo, figshare or GitHub and upload your files there.</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39</a:t>
            </a:fld>
            <a:endParaRPr lang="en-GB"/>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Quarto / R markdown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rPr b="1"/>
              <a:t>Practical</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b="1"/>
          </a:p>
          <a:p>
            <a:pPr marL="0" lvl="0" indent="0">
              <a:buNone/>
            </a:pPr>
            <a:r>
              <a:t>Simulated data (as an example):</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40</a:t>
            </a:fld>
            <a:endParaRPr lang="en-GB"/>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Quarto / R markdown</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rPr b="1"/>
              <a:t>Practical</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b="1"/>
          </a:p>
          <a:p>
            <a:pPr marL="0" lvl="0" indent="0">
              <a:buNone/>
            </a:pPr>
            <a:r>
              <a:t>Analysis (as an example):</a:t>
            </a:r>
          </a:p>
          <a:p>
            <a:pPr lvl="0"/>
            <a:r>
              <a:t>t-test comparing variable z between types A &amp; B.</a:t>
            </a:r>
          </a:p>
          <a:p>
            <a:pPr lvl="0"/>
            <a:r>
              <a:t>Linear regression of z against x.</a:t>
            </a:r>
          </a:p>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Graph (as an example):</a:t>
            </a:r>
          </a:p>
          <a:p>
            <a:pPr lvl="0"/>
            <a:r>
              <a:t>Scatterplot of z against x, stratified by type.</a:t>
            </a:r>
          </a:p>
          <a:p>
            <a:pPr lvl="0"/>
            <a:r>
              <a:t>Boxplot of z values by type.</a:t>
            </a:r>
          </a:p>
          <a:p>
            <a:pPr lvl="0"/>
            <a:r>
              <a:t>Barplot of type.</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41</a:t>
            </a:fld>
            <a:endParaRPr lang="en-GB"/>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 </m:t>
                  </m:r>
                </m:oMath>
              </m:oMathPara>
            </a14:m>
            <a:endParaRPr/>
          </a:p>
          <a:p>
            <a:pPr marL="0" lvl="0" indent="0">
              <a:buNone/>
            </a:pPr>
            <a:r>
              <a:t>[end of Session 6]</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42</a:t>
            </a:fld>
            <a:endParaRPr lang="en-GB"/>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A89D5-560C-4369-A313-7C24EDF028A0}"/>
              </a:ext>
            </a:extLst>
          </p:cNvPr>
          <p:cNvSpPr>
            <a:spLocks noGrp="1"/>
          </p:cNvSpPr>
          <p:nvPr>
            <p:ph type="title"/>
          </p:nvPr>
        </p:nvSpPr>
        <p:spPr/>
        <p:txBody>
          <a:bodyPr/>
          <a:lstStyle/>
          <a:p>
            <a:pPr marL="0" lvl="0" indent="0">
              <a:buNone/>
            </a:pPr>
            <a:r>
              <a:t>Notes</a:t>
            </a:r>
          </a:p>
        </p:txBody>
      </p:sp>
      <p:sp>
        <p:nvSpPr>
          <p:cNvPr id="3" name="Content Placeholder 2">
            <a:extLst>
              <a:ext uri="{FF2B5EF4-FFF2-40B4-BE49-F238E27FC236}">
                <a16:creationId xmlns:a16="http://schemas.microsoft.com/office/drawing/2014/main" id="{288BC91F-1C76-43AE-8B2A-956D48B768BE}"/>
              </a:ext>
            </a:extLst>
          </p:cNvPr>
          <p:cNvSpPr>
            <a:spLocks noGrp="1"/>
          </p:cNvSpPr>
          <p:nvPr>
            <p:ph idx="1"/>
          </p:nvPr>
        </p:nvSpPr>
        <p:spPr/>
        <p:txBody>
          <a:bodyPr/>
          <a:lstStyle/>
          <a:p>
            <a:pPr marL="0" lvl="0" indent="0">
              <a:buNone/>
            </a:pPr>
            <a:r>
              <a:rPr sz="1800"/>
              <a:t>1. Machado, J., </a:t>
            </a:r>
            <a:r>
              <a:rPr sz="1800" i="1"/>
              <a:t>“Open data and open science”</a:t>
            </a:r>
            <a:r>
              <a:rPr sz="1800"/>
              <a:t>. In Albagli, Maciel &amp; Abdo, </a:t>
            </a:r>
            <a:r>
              <a:rPr sz="1800" i="1"/>
              <a:t>“Open Science, Open Questions”</a:t>
            </a:r>
            <a:r>
              <a:rPr sz="1800"/>
              <a:t> 2015.</a:t>
            </a:r>
          </a:p>
          <a:p>
            <a:pPr marL="0" lvl="0" indent="0">
              <a:buNone/>
            </a:pPr>
            <a:r>
              <a:rPr sz="1800"/>
              <a:t>2. [https://doi.org/10.1126/science.336.6088.1521)</a:t>
            </a:r>
          </a:p>
          <a:p>
            <a:pPr marL="0" lvl="0" indent="0">
              <a:buNone/>
            </a:pPr>
            <a:r>
              <a:rPr sz="1800"/>
              <a:t>3. </a:t>
            </a:r>
            <a:r>
              <a:rPr sz="1800">
                <a:hlinkClick r:id="rId2"/>
              </a:rPr>
              <a:t>https://r4ds.had.co.nz</a:t>
            </a:r>
          </a:p>
          <a:p>
            <a:pPr marL="0" lvl="0" indent="0">
              <a:buNone/>
            </a:pPr>
            <a:r>
              <a:rPr sz="1800"/>
              <a:t>4. Gentleman, R. &amp; Temple Lang, D. (2007). </a:t>
            </a:r>
            <a:r>
              <a:rPr sz="1800" i="1"/>
              <a:t>Statistical Analyses and Reproducible Research</a:t>
            </a:r>
            <a:r>
              <a:rPr sz="1800"/>
              <a:t>. Journal of Computational and Graphical Statistics, 16:1, 1-23, DOI:10.1198/106186007X178663</a:t>
            </a:r>
          </a:p>
          <a:p>
            <a:pPr marL="0" lvl="0" indent="0">
              <a:buNone/>
            </a:pPr>
            <a:r>
              <a:rPr sz="1800"/>
              <a:t>5. Marwick, B., Boettiger, C. &amp; Mullen, L. (2018). </a:t>
            </a:r>
            <a:r>
              <a:rPr sz="1800" i="1"/>
              <a:t>Packaging Data Analytical Work Reproducibly Using R (and Friends)</a:t>
            </a:r>
            <a:r>
              <a:rPr sz="1800"/>
              <a:t>. The American Statistician, 72:1, 80-88, DOI:10.1080/00031305.2017.1375986</a:t>
            </a:r>
          </a:p>
        </p:txBody>
      </p:sp>
      <p:sp>
        <p:nvSpPr>
          <p:cNvPr id="6" name="Slide Number Placeholder 5">
            <a:extLst>
              <a:ext uri="{FF2B5EF4-FFF2-40B4-BE49-F238E27FC236}">
                <a16:creationId xmlns:a16="http://schemas.microsoft.com/office/drawing/2014/main" id="{C03F998A-2A5E-471F-9FEB-2559B0A7F93D}"/>
              </a:ext>
            </a:extLst>
          </p:cNvPr>
          <p:cNvSpPr>
            <a:spLocks noGrp="1"/>
          </p:cNvSpPr>
          <p:nvPr>
            <p:ph type="sldNum" sz="quarter" idx="12"/>
          </p:nvPr>
        </p:nvSpPr>
        <p:spPr/>
        <p:txBody>
          <a:bodyPr/>
          <a:lstStyle/>
          <a:p>
            <a:fld id="{E1C5CB42-CF14-4293-8971-6DCD1AAE8BE7}" type="slidenum">
              <a:rPr lang="en-GB" smtClean="0"/>
              <a:t>43</a:t>
            </a:fld>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2781</Words>
  <Application>Microsoft Macintosh PowerPoint</Application>
  <PresentationFormat>Widescreen</PresentationFormat>
  <Paragraphs>343</Paragraphs>
  <Slides>43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Calibri Light</vt:lpstr>
      <vt:lpstr>Cambria Math</vt:lpstr>
      <vt:lpstr>Courier</vt:lpstr>
      <vt:lpstr>Office Theme</vt:lpstr>
      <vt:lpstr>Statistics and R short course Session 6: Open Science</vt:lpstr>
      <vt:lpstr>Introduction</vt:lpstr>
      <vt:lpstr>Preliminaries</vt:lpstr>
      <vt:lpstr>Preliminaries</vt:lpstr>
      <vt:lpstr>Learning outcomes</vt:lpstr>
      <vt:lpstr>Resources</vt:lpstr>
      <vt:lpstr>Resources</vt:lpstr>
      <vt:lpstr>Open Science</vt:lpstr>
      <vt:lpstr>Open Science</vt:lpstr>
      <vt:lpstr>Open Science</vt:lpstr>
      <vt:lpstr>Open Science</vt:lpstr>
      <vt:lpstr>Open Science</vt:lpstr>
      <vt:lpstr>Open Science</vt:lpstr>
      <vt:lpstr>Open Science</vt:lpstr>
      <vt:lpstr>Open Science</vt:lpstr>
      <vt:lpstr>Open Science: how to do open science?</vt:lpstr>
      <vt:lpstr>Quarto / R markdown</vt:lpstr>
      <vt:lpstr>Quarto / R markdown</vt:lpstr>
      <vt:lpstr>Quarto / R markdown</vt:lpstr>
      <vt:lpstr>Quarto / R mardown</vt:lpstr>
      <vt:lpstr>Quarto / R markdown</vt:lpstr>
      <vt:lpstr>Quarto / R markdown</vt:lpstr>
      <vt:lpstr>Publishing data &amp; code</vt:lpstr>
      <vt:lpstr>GitHub</vt:lpstr>
      <vt:lpstr>GitHub</vt:lpstr>
      <vt:lpstr>GitHub</vt:lpstr>
      <vt:lpstr>R packages</vt:lpstr>
      <vt:lpstr>R packages</vt:lpstr>
      <vt:lpstr>R packages</vt:lpstr>
      <vt:lpstr>R packages</vt:lpstr>
      <vt:lpstr>R packages</vt:lpstr>
      <vt:lpstr>Figshare / Zenodo</vt:lpstr>
      <vt:lpstr>Licenses</vt:lpstr>
      <vt:lpstr>Licenses</vt:lpstr>
      <vt:lpstr>Licenses</vt:lpstr>
      <vt:lpstr>Licenses</vt:lpstr>
      <vt:lpstr>Licenses</vt:lpstr>
      <vt:lpstr>Practical</vt:lpstr>
      <vt:lpstr>Quarto / R markdown</vt:lpstr>
      <vt:lpstr>Quarto / R markdown</vt:lpstr>
      <vt:lpstr>Quarto / R markdown</vt:lpstr>
      <vt:lpstr>PowerPoint Presentation</vt:lpstr>
      <vt:lpstr>Notes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22</TotalTime>
  <Words>2</Words>
  <Application>Microsoft Macintosh PowerPoint</Application>
  <PresentationFormat>Widescreen</PresentationFormat>
  <Paragraphs>2</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and R short course Session 6: Open Science</dc:title>
  <dc:creator>Marc Henrion</dc:creator>
  <cp:keywords/>
  <cp:lastModifiedBy>Marc Henrion</cp:lastModifiedBy>
  <cp:revision>1</cp:revision>
  <dcterms:created xsi:type="dcterms:W3CDTF">2026-02-03T16:11:10Z</dcterms:created>
  <dcterms:modified xsi:type="dcterms:W3CDTF">2026-02-03T16:13:06Z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2026-02-04</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
  </property>
  <property fmtid="{D5CDD505-2E9C-101B-9397-08002B2CF9AE}" pid="12" name="toc-title">
    <vt:lpwstr>Table of contents</vt:lpwstr>
  </property>
</Properties>
</file>