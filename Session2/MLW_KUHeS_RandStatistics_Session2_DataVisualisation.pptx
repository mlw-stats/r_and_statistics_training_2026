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ter Gunsaru" userId="fcbc3b57-5752-4646-b64c-42d739644f63" providerId="ADAL" clId="{3D054897-9A39-4848-982F-7C9BE3A1605B}"/>
    <pc:docChg chg="undo custSel modSld">
      <pc:chgData name="Vester Gunsaru" userId="fcbc3b57-5752-4646-b64c-42d739644f63" providerId="ADAL" clId="{3D054897-9A39-4848-982F-7C9BE3A1605B}" dt="2026-01-20T11:09:40.088" v="23" actId="27636"/>
      <pc:docMkLst>
        <pc:docMk/>
      </pc:docMkLst>
      <pc:sldChg chg="modSp mod">
        <pc:chgData name="Vester Gunsaru" userId="fcbc3b57-5752-4646-b64c-42d739644f63" providerId="ADAL" clId="{3D054897-9A39-4848-982F-7C9BE3A1605B}" dt="2026-01-16T06:47:05.588" v="2" actId="1076"/>
        <pc:sldMkLst>
          <pc:docMk/>
          <pc:sldMk cId="0" sldId="258"/>
        </pc:sldMkLst>
        <pc:spChg chg="mod">
          <ac:chgData name="Vester Gunsaru" userId="fcbc3b57-5752-4646-b64c-42d739644f63" providerId="ADAL" clId="{3D054897-9A39-4848-982F-7C9BE3A1605B}" dt="2026-01-16T06:47:05.588" v="2" actId="1076"/>
          <ac:spMkLst>
            <pc:docMk/>
            <pc:sldMk cId="0" sldId="258"/>
            <ac:spMk id="3" creationId="{288BC91F-1C76-43AE-8B2A-956D48B768BE}"/>
          </ac:spMkLst>
        </pc:spChg>
      </pc:sldChg>
      <pc:sldChg chg="modSp mod">
        <pc:chgData name="Vester Gunsaru" userId="fcbc3b57-5752-4646-b64c-42d739644f63" providerId="ADAL" clId="{3D054897-9A39-4848-982F-7C9BE3A1605B}" dt="2026-01-16T06:47:14.802" v="5" actId="1076"/>
        <pc:sldMkLst>
          <pc:docMk/>
          <pc:sldMk cId="0" sldId="259"/>
        </pc:sldMkLst>
        <pc:spChg chg="mod">
          <ac:chgData name="Vester Gunsaru" userId="fcbc3b57-5752-4646-b64c-42d739644f63" providerId="ADAL" clId="{3D054897-9A39-4848-982F-7C9BE3A1605B}" dt="2026-01-16T06:47:14.802" v="5" actId="1076"/>
          <ac:spMkLst>
            <pc:docMk/>
            <pc:sldMk cId="0" sldId="259"/>
            <ac:spMk id="3" creationId="{288BC91F-1C76-43AE-8B2A-956D48B768BE}"/>
          </ac:spMkLst>
        </pc:spChg>
      </pc:sldChg>
      <pc:sldChg chg="modSp mod">
        <pc:chgData name="Vester Gunsaru" userId="fcbc3b57-5752-4646-b64c-42d739644f63" providerId="ADAL" clId="{3D054897-9A39-4848-982F-7C9BE3A1605B}" dt="2026-01-16T06:47:35.148" v="8" actId="1076"/>
        <pc:sldMkLst>
          <pc:docMk/>
          <pc:sldMk cId="0" sldId="265"/>
        </pc:sldMkLst>
        <pc:spChg chg="mod">
          <ac:chgData name="Vester Gunsaru" userId="fcbc3b57-5752-4646-b64c-42d739644f63" providerId="ADAL" clId="{3D054897-9A39-4848-982F-7C9BE3A1605B}" dt="2026-01-16T06:47:35.148" v="8" actId="1076"/>
          <ac:spMkLst>
            <pc:docMk/>
            <pc:sldMk cId="0" sldId="265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16T06:47:47.397" v="11" actId="1076"/>
        <pc:sldMkLst>
          <pc:docMk/>
          <pc:sldMk cId="0" sldId="269"/>
        </pc:sldMkLst>
        <pc:spChg chg="mod">
          <ac:chgData name="Vester Gunsaru" userId="fcbc3b57-5752-4646-b64c-42d739644f63" providerId="ADAL" clId="{3D054897-9A39-4848-982F-7C9BE3A1605B}" dt="2026-01-16T06:47:47.397" v="11" actId="1076"/>
          <ac:spMkLst>
            <pc:docMk/>
            <pc:sldMk cId="0" sldId="269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16T06:47:54.414" v="13" actId="27636"/>
        <pc:sldMkLst>
          <pc:docMk/>
          <pc:sldMk cId="0" sldId="271"/>
        </pc:sldMkLst>
        <pc:spChg chg="mod">
          <ac:chgData name="Vester Gunsaru" userId="fcbc3b57-5752-4646-b64c-42d739644f63" providerId="ADAL" clId="{3D054897-9A39-4848-982F-7C9BE3A1605B}" dt="2026-01-16T06:47:54.414" v="13" actId="27636"/>
          <ac:spMkLst>
            <pc:docMk/>
            <pc:sldMk cId="0" sldId="271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20T11:09:40.088" v="23" actId="27636"/>
        <pc:sldMkLst>
          <pc:docMk/>
          <pc:sldMk cId="0" sldId="284"/>
        </pc:sldMkLst>
        <pc:spChg chg="mod">
          <ac:chgData name="Vester Gunsaru" userId="fcbc3b57-5752-4646-b64c-42d739644f63" providerId="ADAL" clId="{3D054897-9A39-4848-982F-7C9BE3A1605B}" dt="2026-01-20T11:09:40.088" v="23" actId="27636"/>
          <ac:spMkLst>
            <pc:docMk/>
            <pc:sldMk cId="0" sldId="284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16T06:48:12.434" v="15" actId="27636"/>
        <pc:sldMkLst>
          <pc:docMk/>
          <pc:sldMk cId="0" sldId="289"/>
        </pc:sldMkLst>
        <pc:spChg chg="mod">
          <ac:chgData name="Vester Gunsaru" userId="fcbc3b57-5752-4646-b64c-42d739644f63" providerId="ADAL" clId="{3D054897-9A39-4848-982F-7C9BE3A1605B}" dt="2026-01-16T06:48:12.434" v="15" actId="27636"/>
          <ac:spMkLst>
            <pc:docMk/>
            <pc:sldMk cId="0" sldId="289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16T06:48:26.244" v="17" actId="27636"/>
        <pc:sldMkLst>
          <pc:docMk/>
          <pc:sldMk cId="0" sldId="304"/>
        </pc:sldMkLst>
        <pc:spChg chg="mod">
          <ac:chgData name="Vester Gunsaru" userId="fcbc3b57-5752-4646-b64c-42d739644f63" providerId="ADAL" clId="{3D054897-9A39-4848-982F-7C9BE3A1605B}" dt="2026-01-16T06:48:26.244" v="17" actId="27636"/>
          <ac:spMkLst>
            <pc:docMk/>
            <pc:sldMk cId="0" sldId="304"/>
            <ac:spMk id="4" creationId="{F6C278EB-CD3C-4569-8B41-D3DDD3B4004E}"/>
          </ac:spMkLst>
        </pc:spChg>
      </pc:sldChg>
      <pc:sldChg chg="modSp mod">
        <pc:chgData name="Vester Gunsaru" userId="fcbc3b57-5752-4646-b64c-42d739644f63" providerId="ADAL" clId="{3D054897-9A39-4848-982F-7C9BE3A1605B}" dt="2026-01-16T06:48:35.573" v="19" actId="27636"/>
        <pc:sldMkLst>
          <pc:docMk/>
          <pc:sldMk cId="0" sldId="314"/>
        </pc:sldMkLst>
        <pc:spChg chg="mod">
          <ac:chgData name="Vester Gunsaru" userId="fcbc3b57-5752-4646-b64c-42d739644f63" providerId="ADAL" clId="{3D054897-9A39-4848-982F-7C9BE3A1605B}" dt="2026-01-16T06:48:35.573" v="19" actId="27636"/>
          <ac:spMkLst>
            <pc:docMk/>
            <pc:sldMk cId="0" sldId="314"/>
            <ac:spMk id="4" creationId="{F6C278EB-CD3C-4569-8B41-D3DDD3B400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20/01/2026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1289F0-EB91-42F5-8365-E3427F55C1DD}"/>
              </a:ext>
            </a:extLst>
          </p:cNvPr>
          <p:cNvSpPr>
            <a:spLocks noChangeAspect="1"/>
          </p:cNvSpPr>
          <p:nvPr userDrawn="1"/>
        </p:nvSpPr>
        <p:spPr>
          <a:xfrm>
            <a:off x="2262487" y="581720"/>
            <a:ext cx="7667022" cy="5935758"/>
          </a:xfrm>
          <a:prstGeom prst="rect">
            <a:avLst/>
          </a:prstGeom>
          <a:blipFill dpi="0" rotWithShape="1">
            <a:blip r:embed="rId13">
              <a:alphaModFix amt="2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a:blip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86916"/>
            <a:ext cx="12192001" cy="228029"/>
          </a:xfrm>
          <a:prstGeom prst="rect">
            <a:avLst/>
          </a:prstGeom>
          <a:solidFill>
            <a:srgbClr val="B0120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 descr="CoM new.jpg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  <p:pic>
        <p:nvPicPr>
          <p:cNvPr id="9" name="Picture 8" descr="logo.pdf">
            <a:extLst>
              <a:ext uri="{FF2B5EF4-FFF2-40B4-BE49-F238E27FC236}">
                <a16:creationId xmlns:a16="http://schemas.microsoft.com/office/drawing/2014/main" id="{102BA6D8-072F-4F9F-A5A0-82DCD1210E27}"/>
              </a:ext>
            </a:extLst>
          </p:cNvPr>
          <p:cNvPicPr>
            <a:picLocks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7532" y="326042"/>
            <a:ext cx="708279" cy="9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30C013-6450-9241-806F-A84F38C100C4}"/>
              </a:ext>
            </a:extLst>
          </p:cNvPr>
          <p:cNvSpPr/>
          <p:nvPr userDrawn="1"/>
        </p:nvSpPr>
        <p:spPr>
          <a:xfrm>
            <a:off x="1069560" y="6618679"/>
            <a:ext cx="116780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Except where otherwise noted, these slides by Marc 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Henrion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 are licensed under a Creative Commons Attribution 4.0 License: http://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creativecommons.org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/by/4.0</a:t>
            </a:r>
            <a:endParaRPr lang="en-MW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Picture 10" descr="A drawing of a face  Description automatically generated">
            <a:extLst>
              <a:ext uri="{FF2B5EF4-FFF2-40B4-BE49-F238E27FC236}">
                <a16:creationId xmlns:a16="http://schemas.microsoft.com/office/drawing/2014/main" id="{EE356342-7E80-AD4B-BA14-513E4B339F2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8840"/>
            <a:ext cx="1103012" cy="37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mlw-stats/R_And_Statistics_Training_202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lw-stats/R_And_Statistics_Training_2026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tudio/cheatsheets/raw/master/data-visualization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html/data-visualization.html" TargetMode="External"/><Relationship Id="rId2" Type="http://schemas.openxmlformats.org/officeDocument/2006/relationships/hyperlink" Target="https://www.r-graph-galler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r-graph-gallery.com/circular-barplot.html" TargetMode="Externa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marL="0" lvl="0" indent="0">
              <a:buNone/>
            </a:pPr>
            <a:r>
              <a:t>Statistics and R short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/>
          <a:p>
            <a:pPr marL="0" lvl="0" indent="0">
              <a:buNone/>
            </a:pPr>
            <a:r>
              <a:t>Session 2: Data visualisation</a:t>
            </a:r>
            <a:br/>
            <a:br/>
            <a:r>
              <a:t>Vester Gunsaru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21 January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Preliminaries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476" y="1523700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dirty="0"/>
                  <a:t>Certificates of attendance</a:t>
                </a:r>
              </a:p>
              <a:p>
                <a:pPr lvl="1"/>
                <a:r>
                  <a:rPr dirty="0"/>
                  <a:t>You need to attend all 6 sessions.</a:t>
                </a:r>
              </a:p>
              <a:p>
                <a:pPr lvl="1"/>
                <a:r>
                  <a:rPr dirty="0"/>
                  <a:t>Sign in &amp; check spelling of name on the sign-in sheet!</a:t>
                </a:r>
              </a:p>
              <a:p>
                <a:pPr lvl="1"/>
                <a:r>
                  <a:rPr dirty="0"/>
                  <a:t>Only issued if paid-up and in exchange for completed feedback form.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Course website / GitHub: </a:t>
                </a:r>
                <a:r>
                  <a:rPr dirty="0">
                    <a:hlinkClick r:id="rId2"/>
                  </a:rPr>
                  <a:t>https://github.com/mlw-stats/R_And_Statistics_Training_2026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>
                  <a:hlinkClick r:id="rId2"/>
                </a:endParaRPr>
              </a:p>
              <a:p>
                <a:pPr lvl="0"/>
                <a:r>
                  <a:rPr dirty="0"/>
                  <a:t>Office hours</a:t>
                </a:r>
              </a:p>
              <a:p>
                <a:pPr lvl="1"/>
                <a:r>
                  <a:rPr b="1" dirty="0"/>
                  <a:t>Vester</a:t>
                </a:r>
                <a:r>
                  <a:rPr dirty="0"/>
                  <a:t> - Mondays @ 2pm; </a:t>
                </a:r>
                <a:r>
                  <a:rPr b="1" dirty="0"/>
                  <a:t>Kapeni Meeting 1</a:t>
                </a:r>
              </a:p>
              <a:p>
                <a:pPr lvl="1"/>
                <a:r>
                  <a:rPr b="1" dirty="0"/>
                  <a:t>Eva</a:t>
                </a:r>
                <a:r>
                  <a:rPr dirty="0"/>
                  <a:t> - Tuesdays @ 2pm; </a:t>
                </a:r>
                <a:r>
                  <a:rPr b="1" dirty="0"/>
                  <a:t>Creator Ground Floor</a:t>
                </a:r>
              </a:p>
              <a:p>
                <a:pPr lvl="1"/>
                <a:r>
                  <a:rPr b="1" dirty="0"/>
                  <a:t>Marc</a:t>
                </a:r>
                <a:r>
                  <a:rPr dirty="0"/>
                  <a:t> - Thursdays @ 9am; </a:t>
                </a:r>
                <a:r>
                  <a:rPr b="1" dirty="0"/>
                  <a:t>Kapeni Meeting 2</a:t>
                </a:r>
              </a:p>
              <a:p>
                <a:pPr lvl="1"/>
                <a:r>
                  <a:rPr b="1" dirty="0"/>
                  <a:t>Jessie</a:t>
                </a:r>
                <a:r>
                  <a:rPr dirty="0"/>
                  <a:t> - Mondays @ 3pm; </a:t>
                </a:r>
                <a:r>
                  <a:rPr b="1" dirty="0"/>
                  <a:t>Kapeni Hurdle 1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b="1" dirty="0"/>
              </a:p>
              <a:p>
                <a:pPr lvl="0"/>
                <a:r>
                  <a:rPr dirty="0"/>
                  <a:t>Housekeeping</a:t>
                </a:r>
              </a:p>
              <a:p>
                <a:pPr lvl="1"/>
                <a:r>
                  <a:rPr dirty="0"/>
                  <a:t>Refreshments (no lunch - sorry)</a:t>
                </a:r>
              </a:p>
              <a:p>
                <a:pPr lvl="1"/>
                <a:r>
                  <a:rPr dirty="0"/>
                  <a:t>Fire exits &amp; bathrooms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476" y="1523700"/>
                <a:ext cx="10515600" cy="4667250"/>
              </a:xfrm>
              <a:blipFill>
                <a:blip r:embed="rId3"/>
                <a:stretch>
                  <a:fillRect l="-522" t="-2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337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AutoNum type="arabicPeriod"/>
            </a:pPr>
            <a:r>
              <a:rPr b="1" dirty="0"/>
              <a:t>KNOW R</a:t>
            </a:r>
            <a:r>
              <a:rPr dirty="0"/>
              <a:t>: Explain know what R is &amp; what it can do.</a:t>
            </a:r>
          </a:p>
          <a:p>
            <a:pPr marL="457200" lvl="0" indent="-457200">
              <a:buAutoNum type="arabicPeriod"/>
            </a:pPr>
            <a:r>
              <a:rPr b="1" dirty="0"/>
              <a:t>KNOW R RESOURCES</a:t>
            </a:r>
            <a:r>
              <a:rPr dirty="0"/>
              <a:t>: List useful R resources and access them.</a:t>
            </a:r>
          </a:p>
          <a:p>
            <a:pPr marL="457200" lvl="0" indent="-457200">
              <a:buAutoNum type="arabicPeriod"/>
            </a:pPr>
            <a:r>
              <a:rPr b="1" dirty="0"/>
              <a:t>DO R</a:t>
            </a:r>
            <a:r>
              <a:rPr dirty="0"/>
              <a:t>: Perform basic operations relevant for your research in R:</a:t>
            </a:r>
          </a:p>
          <a:p>
            <a:pPr marL="914400" lvl="1" indent="-457200">
              <a:buAutoNum type="alphaLcPeriod"/>
            </a:pPr>
            <a:r>
              <a:rPr dirty="0"/>
              <a:t>Read data into R &amp; write data or results to the </a:t>
            </a:r>
            <a:r>
              <a:rPr dirty="0" err="1"/>
              <a:t>harddrive</a:t>
            </a:r>
            <a:r>
              <a:rPr dirty="0"/>
              <a:t>.</a:t>
            </a:r>
          </a:p>
          <a:p>
            <a:pPr marL="914400" lvl="1" indent="-457200">
              <a:buAutoNum type="alphaLcPeriod"/>
            </a:pPr>
            <a:r>
              <a:rPr dirty="0"/>
              <a:t>Manipulate &amp; use different object types.</a:t>
            </a:r>
          </a:p>
          <a:p>
            <a:pPr marL="914400" lvl="1" indent="-457200">
              <a:buAutoNum type="alphaLcPeriod"/>
            </a:pPr>
            <a:r>
              <a:rPr dirty="0"/>
              <a:t>Write &amp; use functions in R</a:t>
            </a:r>
          </a:p>
          <a:p>
            <a:pPr marL="914400" lvl="1" indent="-457200">
              <a:buAutoNum type="alphaLcPeriod"/>
            </a:pPr>
            <a:r>
              <a:rPr dirty="0"/>
              <a:t>Perform basic analyses on a dataset: mean, standard deviation, linear regression.</a:t>
            </a:r>
          </a:p>
          <a:p>
            <a:pPr marL="914400" lvl="1" indent="-457200">
              <a:buAutoNum type="alphaLcPeriod"/>
            </a:pPr>
            <a:r>
              <a:rPr dirty="0"/>
              <a:t>Produce various standard graphs and tables</a:t>
            </a:r>
          </a:p>
          <a:p>
            <a:pPr marL="457200" lvl="0" indent="-457200">
              <a:buAutoNum type="arabicPeriod"/>
            </a:pPr>
            <a:r>
              <a:rPr b="1" dirty="0"/>
              <a:t>UNDERSTAND BASICS OF STATISTICS</a:t>
            </a:r>
            <a:r>
              <a:rPr dirty="0"/>
              <a:t>: Explain basic statistical theory: common distributions, standard statistical techniques, common study designs, assumptions behind common statistical tests and regression models.</a:t>
            </a:r>
          </a:p>
          <a:p>
            <a:pPr marL="457200" lvl="0" indent="-457200">
              <a:buAutoNum type="arabicPeriod"/>
            </a:pPr>
            <a:r>
              <a:rPr b="1" dirty="0"/>
              <a:t>UNDERSTAND STUDY DESIGNS</a:t>
            </a:r>
            <a:r>
              <a:rPr dirty="0"/>
              <a:t>: Recommend appropriate designs &amp; analyses.</a:t>
            </a:r>
          </a:p>
          <a:p>
            <a:pPr marL="457200" lvl="0" indent="-457200">
              <a:buAutoNum type="arabicPeriod"/>
            </a:pPr>
            <a:r>
              <a:rPr b="1" dirty="0"/>
              <a:t>COMPREHEND OPEN SCIENCE</a:t>
            </a:r>
            <a:r>
              <a:rPr dirty="0"/>
              <a:t>: </a:t>
            </a:r>
            <a:r>
              <a:rPr dirty="0" err="1"/>
              <a:t>Summarise</a:t>
            </a:r>
            <a:r>
              <a:rPr dirty="0"/>
              <a:t> principles of open, reproducible research.</a:t>
            </a:r>
          </a:p>
          <a:p>
            <a:pPr marL="457200" lvl="0" indent="-457200">
              <a:buAutoNum type="arabicPeriod"/>
            </a:pPr>
            <a:r>
              <a:rPr b="1" dirty="0"/>
              <a:t>DO OPEN SCIENCE WITH R</a:t>
            </a:r>
            <a:r>
              <a:rPr dirty="0"/>
              <a:t>: Use R scripts, R markdown, packages &amp; GitHub.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Preliminaries</a:t>
            </a:r>
          </a:p>
        </p:txBody>
      </p:sp>
      <p:pic>
        <p:nvPicPr>
          <p:cNvPr id="3" name="Picture 1" descr="dataAndSupportDocs/QRcode_RandStats_GitHu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3200" y="1816100"/>
            <a:ext cx="41529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9690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>
                <a:hlinkClick r:id="rId3"/>
              </a:rPr>
              <a:t>https://github.com/mlw-stats/R_And_Statistics_Training_2026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A little exercise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little 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What is a graph? Can you give examples?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What are elements of a graph?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What is the point of a graph?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Grammar of graphics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 has powerful data visualisation capabilities, especially when you start using packages.</a:t>
            </a:r>
          </a:p>
          <a:p>
            <a:pPr marL="0" lvl="0" indent="0">
              <a:buNone/>
            </a:pPr>
            <a:r>
              <a:t>The standard R visualisation library is </a:t>
            </a:r>
            <a:r>
              <a:rPr>
                <a:latin typeface="Courier"/>
              </a:rPr>
              <a:t>graphics</a:t>
            </a:r>
            <a:r>
              <a:t>, which is installed when you install R and loaded automatically at start-up. The main function here is </a:t>
            </a:r>
            <a:r>
              <a:rPr>
                <a:latin typeface="Courier"/>
              </a:rPr>
              <a:t>plot()</a:t>
            </a:r>
            <a:r>
              <a:t>.</a:t>
            </a:r>
          </a:p>
          <a:p>
            <a:pPr marL="0" lvl="0" indent="0">
              <a:buNone/>
            </a:pPr>
            <a:r>
              <a:t>However, the </a:t>
            </a:r>
            <a:r>
              <a:rPr>
                <a:latin typeface="Courier"/>
              </a:rPr>
              <a:t>graphics</a:t>
            </a:r>
            <a:r>
              <a:t> package is quite basic and has inconsistent syntax and function names for different types of graphs.</a:t>
            </a:r>
          </a:p>
          <a:p>
            <a:pPr marL="0" lvl="0" indent="0">
              <a:buNone/>
            </a:pPr>
            <a:r>
              <a:t>The </a:t>
            </a:r>
            <a:r>
              <a:rPr>
                <a:latin typeface="Courier"/>
              </a:rPr>
              <a:t>tidyverse</a:t>
            </a:r>
            <a:r>
              <a:t> comes with the R package </a:t>
            </a:r>
            <a:r>
              <a:rPr>
                <a:latin typeface="Courier"/>
              </a:rPr>
              <a:t>ggplot2</a:t>
            </a:r>
            <a:r>
              <a:t> which provides a more consistent way of producing graphs (it is based on a </a:t>
            </a:r>
            <a:r>
              <a:rPr b="1"/>
              <a:t>g</a:t>
            </a:r>
            <a:r>
              <a:t>rammar of </a:t>
            </a:r>
            <a:r>
              <a:rPr b="1"/>
              <a:t>g</a:t>
            </a:r>
            <a:r>
              <a:t>raphics).</a:t>
            </a:r>
          </a:p>
          <a:p>
            <a:pPr marL="0" lvl="0" indent="0">
              <a:buNone/>
            </a:pPr>
            <a:r>
              <a:t>For example, let’s do a scatter plot.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1302"/>
            <a:ext cx="3932237" cy="3811588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iris </a:t>
            </a:r>
            <a:r>
              <a:rPr dirty="0">
                <a:solidFill>
                  <a:srgbClr val="4070A0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mapping=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 err="1">
                <a:latin typeface="Courier"/>
              </a:rPr>
              <a:t>Petal.Length,</a:t>
            </a:r>
            <a:r>
              <a:rPr dirty="0" err="1">
                <a:solidFill>
                  <a:srgbClr val="7D9029"/>
                </a:solidFill>
                <a:latin typeface="Courier"/>
              </a:rPr>
              <a:t>y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Petal.Width,</a:t>
            </a:r>
            <a:r>
              <a:rPr dirty="0" err="1">
                <a:solidFill>
                  <a:srgbClr val="7D9029"/>
                </a:solidFill>
                <a:latin typeface="Courier"/>
              </a:rPr>
              <a:t>col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Species,</a:t>
            </a:r>
            <a:r>
              <a:rPr dirty="0" err="1">
                <a:solidFill>
                  <a:srgbClr val="7D9029"/>
                </a:solidFill>
                <a:latin typeface="Courier"/>
              </a:rPr>
              <a:t>pch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Species))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geom_point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scale_colour_manual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steelblue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orange"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4070A0"/>
                </a:solidFill>
                <a:latin typeface="Courier"/>
              </a:rPr>
              <a:t>"salmon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),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"Species"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scale_shape_manual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40A070"/>
                </a:solidFill>
                <a:latin typeface="Courier"/>
              </a:rPr>
              <a:t>15</a:t>
            </a:r>
            <a:r>
              <a:rPr dirty="0">
                <a:solidFill>
                  <a:srgbClr val="4070A0"/>
                </a:solidFill>
                <a:latin typeface="Courier"/>
              </a:rPr>
              <a:t>:</a:t>
            </a:r>
            <a:r>
              <a:rPr dirty="0">
                <a:solidFill>
                  <a:srgbClr val="40A070"/>
                </a:solidFill>
                <a:latin typeface="Courier"/>
              </a:rPr>
              <a:t>17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"Species"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xlab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"Petal length"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ylab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"Petal width"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labs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title=</a:t>
            </a:r>
            <a:r>
              <a:rPr dirty="0">
                <a:solidFill>
                  <a:srgbClr val="4070A0"/>
                </a:solidFill>
                <a:latin typeface="Courier"/>
              </a:rPr>
              <a:t>"Scatterplot of petal length and width in the iris </a:t>
            </a:r>
            <a:r>
              <a:rPr dirty="0" err="1">
                <a:solidFill>
                  <a:srgbClr val="4070A0"/>
                </a:solidFill>
                <a:latin typeface="Courier"/>
              </a:rPr>
              <a:t>dataset"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7D9029"/>
                </a:solidFill>
                <a:latin typeface="Courier"/>
              </a:rPr>
              <a:t>caption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"Figure produced during the </a:t>
            </a:r>
            <a:r>
              <a:rPr dirty="0" err="1">
                <a:solidFill>
                  <a:srgbClr val="4070A0"/>
                </a:solidFill>
                <a:latin typeface="Courier"/>
              </a:rPr>
              <a:t>KUHeS</a:t>
            </a:r>
            <a:r>
              <a:rPr dirty="0">
                <a:solidFill>
                  <a:srgbClr val="4070A0"/>
                </a:solidFill>
                <a:latin typeface="Courier"/>
              </a:rPr>
              <a:t> CRM R training, using ggplot2."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theme_light</a:t>
            </a:r>
            <a:r>
              <a:rPr dirty="0"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plot1b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 </a:t>
                </a:r>
                <a:r>
                  <a:rPr b="1"/>
                  <a:t>aesthetic</a:t>
                </a:r>
                <a:r>
                  <a:t> (the </a:t>
                </a:r>
                <a:r>
                  <a:rPr>
                    <a:latin typeface="Courier"/>
                  </a:rPr>
                  <a:t>aes()</a:t>
                </a:r>
                <a:r>
                  <a:t> call in the above) defines </a:t>
                </a:r>
                <a:r>
                  <a:rPr i="1"/>
                  <a:t>what</a:t>
                </a:r>
                <a:r>
                  <a:t> you will see, i.e. the data you will plot.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 </a:t>
                </a:r>
                <a:r>
                  <a:rPr b="1"/>
                  <a:t>geom</a:t>
                </a:r>
                <a:r>
                  <a:t> will define the geometry, i.e. </a:t>
                </a:r>
                <a:r>
                  <a:rPr i="1"/>
                  <a:t>how</a:t>
                </a:r>
                <a:r>
                  <a:t> you will plot the data.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 </a:t>
                </a:r>
                <a:r>
                  <a:rPr b="1"/>
                  <a:t>coordinate system</a:t>
                </a:r>
                <a:r>
                  <a:t> governs the </a:t>
                </a:r>
                <a:r>
                  <a:rPr i="1"/>
                  <a:t>data representation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 </a:t>
                </a:r>
                <a:r>
                  <a:rPr b="1"/>
                  <a:t>theme</a:t>
                </a:r>
                <a:r>
                  <a:t> defines the </a:t>
                </a:r>
                <a:r>
                  <a:rPr i="1"/>
                  <a:t>visual style</a:t>
                </a:r>
                <a:r>
                  <a:t> (background, major &amp; minor axes, font face &amp; size, default colour scales, margins, text alignment, …).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p:pic>
        <p:nvPicPr>
          <p:cNvPr id="3" name="Picture 1" descr="dataAndSupportDocs/ggplotBasic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76700" y="1816100"/>
            <a:ext cx="40386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9690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The basics behind ggplot2 (</a:t>
            </a:r>
            <a:r>
              <a:rPr>
                <a:hlinkClick r:id="rId3"/>
              </a:rPr>
              <a:t>https://github.com/rstudio/cheatsheets/raw/master/data-visualization.pdf</a:t>
            </a:r>
            <a:r>
              <a:t>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It would not make much sense, but we </a:t>
                </a:r>
                <a:r>
                  <a:rPr i="1"/>
                  <a:t>could</a:t>
                </a:r>
                <a:r>
                  <a:t> decide to plot the same data from before not as a scatterplot but as a line graph.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All we need to do is to change the geom from </a:t>
                </a:r>
                <a:r>
                  <a:rPr>
                    <a:latin typeface="Courier"/>
                  </a:rPr>
                  <a:t>geom_point()</a:t>
                </a:r>
                <a:r>
                  <a:t> to </a:t>
                </a:r>
                <a:r>
                  <a:rPr>
                    <a:latin typeface="Courier"/>
                  </a:rPr>
                  <a:t>geom_line()</a:t>
                </a:r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55807"/>
            <a:ext cx="3932237" cy="3811588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iris </a:t>
            </a:r>
            <a:r>
              <a:rPr dirty="0">
                <a:solidFill>
                  <a:srgbClr val="4070A0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mapping=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 err="1">
                <a:latin typeface="Courier"/>
              </a:rPr>
              <a:t>Petal.Length,</a:t>
            </a:r>
            <a:r>
              <a:rPr dirty="0" err="1">
                <a:solidFill>
                  <a:srgbClr val="7D9029"/>
                </a:solidFill>
                <a:latin typeface="Courier"/>
              </a:rPr>
              <a:t>y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Petal.Width,</a:t>
            </a:r>
            <a:r>
              <a:rPr dirty="0" err="1">
                <a:solidFill>
                  <a:srgbClr val="7D9029"/>
                </a:solidFill>
                <a:latin typeface="Courier"/>
              </a:rPr>
              <a:t>col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Species,</a:t>
            </a:r>
            <a:r>
              <a:rPr dirty="0" err="1">
                <a:solidFill>
                  <a:srgbClr val="7D9029"/>
                </a:solidFill>
                <a:latin typeface="Courier"/>
              </a:rPr>
              <a:t>pch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Species))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geom_line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scale_colour_manual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steelblue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orange"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4070A0"/>
                </a:solidFill>
                <a:latin typeface="Courier"/>
              </a:rPr>
              <a:t>"salmon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),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"Species"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scale_shape_manual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40A070"/>
                </a:solidFill>
                <a:latin typeface="Courier"/>
              </a:rPr>
              <a:t>15</a:t>
            </a:r>
            <a:r>
              <a:rPr dirty="0">
                <a:solidFill>
                  <a:srgbClr val="4070A0"/>
                </a:solidFill>
                <a:latin typeface="Courier"/>
              </a:rPr>
              <a:t>:</a:t>
            </a:r>
            <a:r>
              <a:rPr dirty="0">
                <a:solidFill>
                  <a:srgbClr val="40A070"/>
                </a:solidFill>
                <a:latin typeface="Courier"/>
              </a:rPr>
              <a:t>17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"Species"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xlab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"Petal length"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ylab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"Petal width"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labs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title=</a:t>
            </a:r>
            <a:r>
              <a:rPr dirty="0">
                <a:solidFill>
                  <a:srgbClr val="4070A0"/>
                </a:solidFill>
                <a:latin typeface="Courier"/>
              </a:rPr>
              <a:t>"Line graph of petal length and width in the iris </a:t>
            </a:r>
            <a:r>
              <a:rPr dirty="0" err="1">
                <a:solidFill>
                  <a:srgbClr val="4070A0"/>
                </a:solidFill>
                <a:latin typeface="Courier"/>
              </a:rPr>
              <a:t>dataset"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7D9029"/>
                </a:solidFill>
                <a:latin typeface="Courier"/>
              </a:rPr>
              <a:t>caption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"Figure produced during the </a:t>
            </a:r>
            <a:r>
              <a:rPr dirty="0" err="1">
                <a:solidFill>
                  <a:srgbClr val="4070A0"/>
                </a:solidFill>
                <a:latin typeface="Courier"/>
              </a:rPr>
              <a:t>KUHeS</a:t>
            </a:r>
            <a:r>
              <a:rPr dirty="0">
                <a:solidFill>
                  <a:srgbClr val="4070A0"/>
                </a:solidFill>
                <a:latin typeface="Courier"/>
              </a:rPr>
              <a:t> CRM R training, using ggplot2."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theme_light</a:t>
            </a:r>
            <a:r>
              <a:rPr dirty="0"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plot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Even for very different graphs, there is very similar code to write with </a:t>
                </a:r>
                <a:r>
                  <a:rPr>
                    <a:latin typeface="Courier"/>
                  </a:rPr>
                  <a:t>ggplot2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You can also use more than one geom on the same graph.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Basic figures &amp;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11083"/>
            <a:ext cx="3932237" cy="3811588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iris </a:t>
            </a:r>
            <a:r>
              <a:rPr dirty="0">
                <a:solidFill>
                  <a:srgbClr val="4070A0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mapping=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 err="1">
                <a:latin typeface="Courier"/>
              </a:rPr>
              <a:t>Species,</a:t>
            </a:r>
            <a:r>
              <a:rPr dirty="0" err="1">
                <a:solidFill>
                  <a:srgbClr val="7D9029"/>
                </a:solidFill>
                <a:latin typeface="Courier"/>
              </a:rPr>
              <a:t>y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Petal.Width,</a:t>
            </a:r>
            <a:r>
              <a:rPr dirty="0" err="1">
                <a:solidFill>
                  <a:srgbClr val="7D9029"/>
                </a:solidFill>
                <a:latin typeface="Courier"/>
              </a:rPr>
              <a:t>col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Species))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geom_boxplot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geom_jitter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height=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width=</a:t>
            </a:r>
            <a:r>
              <a:rPr dirty="0">
                <a:solidFill>
                  <a:srgbClr val="40A070"/>
                </a:solidFill>
                <a:latin typeface="Courier"/>
              </a:rPr>
              <a:t>0.2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scale_colour_manual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steelblue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orange"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4070A0"/>
                </a:solidFill>
                <a:latin typeface="Courier"/>
              </a:rPr>
              <a:t>"salmon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scale_fill_manual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steelblue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orange"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4070A0"/>
                </a:solidFill>
                <a:latin typeface="Courier"/>
              </a:rPr>
              <a:t>"salmon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xlab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"Species"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ylab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"Petal width"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labs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title=</a:t>
            </a:r>
            <a:r>
              <a:rPr dirty="0">
                <a:solidFill>
                  <a:srgbClr val="4070A0"/>
                </a:solidFill>
                <a:latin typeface="Courier"/>
              </a:rPr>
              <a:t>"Box and jitter plot of petal width against species in the iris </a:t>
            </a:r>
            <a:r>
              <a:rPr dirty="0" err="1">
                <a:solidFill>
                  <a:srgbClr val="4070A0"/>
                </a:solidFill>
                <a:latin typeface="Courier"/>
              </a:rPr>
              <a:t>dataset"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7D9029"/>
                </a:solidFill>
                <a:latin typeface="Courier"/>
              </a:rPr>
              <a:t>caption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"Figure produced during the MATSURV R training, using ggplot2."</a:t>
            </a:r>
            <a:r>
              <a:rPr dirty="0">
                <a:latin typeface="Courier"/>
              </a:rPr>
              <a:t>) </a:t>
            </a:r>
          </a:p>
        </p:txBody>
      </p:sp>
      <p:pic>
        <p:nvPicPr>
          <p:cNvPr id="3" name="Picture 1" descr="MLW_KUHeS_RandStatistics_Session2_DataVisualisation_files/figure-pptx/plot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Resources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</a:t>
                </a:r>
                <a:r>
                  <a:rPr dirty="0">
                    <a:hlinkClick r:id="rId2"/>
                  </a:rPr>
                  <a:t>R Graph Gallery</a:t>
                </a:r>
                <a:r>
                  <a:rPr dirty="0"/>
                  <a:t> is an excellent resource to get started when you have a specific plot in mind that you want to do for your data.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The </a:t>
                </a:r>
                <a:r>
                  <a:rPr dirty="0">
                    <a:latin typeface="Courier"/>
                  </a:rPr>
                  <a:t>ggplot2</a:t>
                </a:r>
                <a:r>
                  <a:rPr dirty="0"/>
                  <a:t> </a:t>
                </a:r>
                <a:r>
                  <a:rPr dirty="0">
                    <a:hlinkClick r:id="rId3"/>
                  </a:rPr>
                  <a:t>cheat sheet</a:t>
                </a:r>
                <a:r>
                  <a:rPr dirty="0"/>
                  <a:t> is another excellent resource.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19</a:t>
            </a:fld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Distributions: what values did you record for a given variable?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/>
                <a:r>
                  <a:t>Discrete values (nominal, ordinal, integer-valued) values:</a:t>
                </a:r>
              </a:p>
              <a:p>
                <a:pPr lvl="1"/>
                <a:r>
                  <a:t>bar plots</a:t>
                </a:r>
              </a:p>
              <a:p>
                <a:pPr lvl="1"/>
                <a:r>
                  <a:t>pie charts</a:t>
                </a:r>
              </a:p>
              <a:p>
                <a:pPr lvl="0"/>
                <a:r>
                  <a:t>Continuous values</a:t>
                </a:r>
              </a:p>
              <a:p>
                <a:pPr lvl="1"/>
                <a:r>
                  <a:t>histograms</a:t>
                </a:r>
              </a:p>
              <a:p>
                <a:pPr marL="0" lvl="0" indent="0">
                  <a:buNone/>
                </a:pPr>
                <a:r>
                  <a:t>Let’s generate some data.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20</a:t>
            </a:fld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typesTmp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paste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sep=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4070A0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type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sample</a:t>
            </a:r>
            <a:r>
              <a:rPr>
                <a:latin typeface="Courier"/>
              </a:rPr>
              <a:t>(typesTmp,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7D9029"/>
                </a:solidFill>
                <a:latin typeface="Courier"/>
              </a:rPr>
              <a:t>size=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7D9029"/>
                </a:solidFill>
                <a:latin typeface="Courier"/>
              </a:rPr>
              <a:t>replace=</a:t>
            </a:r>
            <a:r>
              <a:rPr>
                <a:latin typeface="Courier"/>
              </a:rPr>
              <a:t>T,</a:t>
            </a:r>
            <a:br/>
            <a:r>
              <a:rPr>
                <a:latin typeface="Courier"/>
              </a:rPr>
              <a:t>                    </a:t>
            </a:r>
            <a:r>
              <a:rPr>
                <a:solidFill>
                  <a:srgbClr val="7D9029"/>
                </a:solidFill>
                <a:latin typeface="Courier"/>
              </a:rPr>
              <a:t>prob=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0.45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)))</a:t>
            </a:r>
            <a:br/>
            <a:r>
              <a:rPr>
                <a:latin typeface="Courier"/>
              </a:rPr>
              <a:t>x1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rbinom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size=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prob=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x2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rpois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lambda=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=="type3"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dat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data.frame</a:t>
            </a:r>
            <a:r>
              <a:rPr>
                <a:latin typeface="Courier"/>
              </a:rPr>
              <a:t>(type,x1,x2)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x3=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=="type1"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</a:t>
            </a:r>
            <a:r>
              <a:rPr>
                <a:solidFill>
                  <a:srgbClr val="06287E"/>
                </a:solidFill>
                <a:latin typeface="Courier"/>
              </a:rPr>
              <a:t>rnorm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=="type1"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7D9029"/>
                </a:solidFill>
                <a:latin typeface="Courier"/>
              </a:rPr>
              <a:t>mean=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 </a:t>
            </a:r>
            <a:r>
              <a:rPr>
                <a:solidFill>
                  <a:srgbClr val="06287E"/>
                </a:solidFill>
                <a:latin typeface="Courier"/>
              </a:rPr>
              <a:t>ifelse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=="type2"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rnorm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=="type2"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7D9029"/>
                </a:solidFill>
                <a:latin typeface="Courier"/>
              </a:rPr>
              <a:t>mean=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        </a:t>
            </a:r>
            <a:r>
              <a:rPr>
                <a:solidFill>
                  <a:srgbClr val="06287E"/>
                </a:solidFill>
                <a:latin typeface="Courier"/>
              </a:rPr>
              <a:t>runif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(type</a:t>
            </a:r>
            <a:r>
              <a:rPr>
                <a:solidFill>
                  <a:srgbClr val="4070A0"/>
                </a:solidFill>
                <a:latin typeface="Courier"/>
              </a:rPr>
              <a:t>=="type3"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                  )</a:t>
            </a:r>
            <a:br/>
            <a:r>
              <a:rPr>
                <a:latin typeface="Courier"/>
              </a:rPr>
              <a:t>                   )</a:t>
            </a:r>
            <a:br/>
            <a:r>
              <a:rPr>
                <a:latin typeface="Courier"/>
              </a:rPr>
              <a:t>         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x4=</a:t>
            </a:r>
            <a:r>
              <a:rPr>
                <a:solidFill>
                  <a:srgbClr val="06287E"/>
                </a:solidFill>
                <a:latin typeface="Courier"/>
              </a:rPr>
              <a:t>rnorm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n</a:t>
            </a:r>
            <a:r>
              <a:rPr>
                <a:latin typeface="Courier"/>
              </a:rPr>
              <a:t>(),</a:t>
            </a:r>
            <a:r>
              <a:rPr>
                <a:solidFill>
                  <a:srgbClr val="7D9029"/>
                </a:solidFill>
                <a:latin typeface="Courier"/>
              </a:rPr>
              <a:t>mean=</a:t>
            </a:r>
            <a:r>
              <a:rPr>
                <a:latin typeface="Courier"/>
              </a:rPr>
              <a:t>x3))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rPr b="1"/>
                  <a:t>Bar plots</a:t>
                </a:r>
                <a:r>
                  <a:t> simply show bars the height of which is proportional to the relative frequency of the different levels of a categorical variable in your dataset.</a:t>
                </a:r>
              </a:p>
              <a:p>
                <a:pPr marL="0" lvl="0" indent="0">
                  <a:buNone/>
                </a:pPr>
                <a:r>
                  <a:t>In </a:t>
                </a:r>
                <a:r>
                  <a:rPr>
                    <a:latin typeface="Courier"/>
                  </a:rPr>
                  <a:t>ggplot2</a:t>
                </a:r>
                <a:r>
                  <a:t>, the geom to use for barplots is </a:t>
                </a:r>
                <a:r>
                  <a:rPr>
                    <a:latin typeface="Courier"/>
                  </a:rPr>
                  <a:t>geom_barplot()</a:t>
                </a:r>
                <a:r>
                  <a:t>.</a:t>
                </a:r>
              </a:p>
              <a:p>
                <a:pPr marL="0" lvl="0" indent="0">
                  <a:buNone/>
                </a:pPr>
                <a:r>
                  <a:t>On the next few slides we generate simple bar plots for 3 variables.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x1))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geom_bar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x2))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geom_bar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type))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geom_bar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We can stratify a bar plot by a grouping variable (in this case the variable </a:t>
            </a:r>
            <a:r>
              <a:rPr>
                <a:latin typeface="Courier"/>
              </a:rPr>
              <a:t>type</a:t>
            </a:r>
            <a:r>
              <a:t>).</a:t>
            </a:r>
          </a:p>
          <a:p>
            <a:pPr lvl="0" indent="0">
              <a:buNone/>
            </a:pPr>
            <a:r>
              <a:rPr>
                <a:latin typeface="Courier"/>
              </a:rPr>
              <a:t>dat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(type,x2)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complete</a:t>
            </a:r>
            <a:r>
              <a:rPr>
                <a:latin typeface="Courier"/>
              </a:rPr>
              <a:t>(type,x2,</a:t>
            </a:r>
            <a:r>
              <a:rPr>
                <a:solidFill>
                  <a:srgbClr val="7D9029"/>
                </a:solidFill>
                <a:latin typeface="Courier"/>
              </a:rPr>
              <a:t>fill=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n=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fill=</a:t>
            </a:r>
            <a:r>
              <a:rPr>
                <a:latin typeface="Courier"/>
              </a:rPr>
              <a:t>type,</a:t>
            </a:r>
            <a:r>
              <a:rPr>
                <a:solidFill>
                  <a:srgbClr val="7D9029"/>
                </a:solidFill>
                <a:latin typeface="Courier"/>
              </a:rPr>
              <a:t>y=</a:t>
            </a:r>
            <a:r>
              <a:rPr>
                <a:latin typeface="Courier"/>
              </a:rPr>
              <a:t>n,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x2))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position=</a:t>
            </a:r>
            <a:r>
              <a:rPr>
                <a:solidFill>
                  <a:srgbClr val="4070A0"/>
                </a:solidFill>
                <a:latin typeface="Courier"/>
              </a:rPr>
              <a:t>"dodge"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stat=</a:t>
            </a:r>
            <a:r>
              <a:rPr>
                <a:solidFill>
                  <a:srgbClr val="4070A0"/>
                </a:solidFill>
                <a:latin typeface="Courier"/>
              </a:rPr>
              <a:t>"identity"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))</a:t>
            </a:r>
          </a:p>
        </p:txBody>
      </p:sp>
      <p:pic>
        <p:nvPicPr>
          <p:cNvPr id="3" name="Picture 1" descr="MLW_KUHeS_RandStatistics_Session2_DataVisualisation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You can customise graphs by adding other options for the coordinate system, the annotations, the theme etc.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x2))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geom_bar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coord_flip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ggtitle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"Barplot for variable x2"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xlab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"values"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ylab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))</a:t>
            </a:r>
          </a:p>
        </p:txBody>
      </p:sp>
      <p:pic>
        <p:nvPicPr>
          <p:cNvPr id="3" name="Picture 1" descr="MLW_KUHeS_RandStatistics_Session2_DataVisualisation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You can change the coordinate system to get a circular plot (note, use these carefully - most often they are NOT a good idea).</a:t>
            </a:r>
          </a:p>
          <a:p>
            <a:pPr marL="0" lvl="0" indent="0">
              <a:buNone/>
            </a:pPr>
            <a:r>
              <a:rPr dirty="0"/>
              <a:t>For this you can use </a:t>
            </a:r>
            <a:r>
              <a:rPr dirty="0" err="1">
                <a:latin typeface="Courier"/>
              </a:rPr>
              <a:t>coord_polar</a:t>
            </a:r>
            <a:r>
              <a:rPr dirty="0">
                <a:latin typeface="Courier"/>
              </a:rPr>
              <a:t>()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To get annotations for each bar, requires a bit more work (but see the </a:t>
            </a:r>
            <a:r>
              <a:rPr dirty="0">
                <a:hlinkClick r:id="rId2"/>
              </a:rPr>
              <a:t>R Graph Gallery</a:t>
            </a:r>
            <a:r>
              <a:rPr dirty="0"/>
              <a:t> for examples).</a:t>
            </a:r>
          </a:p>
          <a:p>
            <a:pPr lvl="0" indent="0">
              <a:buNone/>
            </a:pP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data=</a:t>
            </a:r>
            <a:r>
              <a:rPr dirty="0" err="1">
                <a:latin typeface="Courier"/>
              </a:rPr>
              <a:t>dat,</a:t>
            </a:r>
            <a:r>
              <a:rPr dirty="0" err="1">
                <a:solidFill>
                  <a:srgbClr val="7D9029"/>
                </a:solidFill>
                <a:latin typeface="Courier"/>
              </a:rPr>
              <a:t>mapping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>
                <a:latin typeface="Courier"/>
              </a:rPr>
              <a:t>x2))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geom_bar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coord_polar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start=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theme_minimal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theme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solidFill>
                  <a:srgbClr val="7D9029"/>
                </a:solidFill>
                <a:latin typeface="Courier"/>
              </a:rPr>
              <a:t>axis.text</a:t>
            </a:r>
            <a:r>
              <a:rPr dirty="0">
                <a:solidFill>
                  <a:srgbClr val="7D9029"/>
                </a:solidFill>
                <a:latin typeface="Courier"/>
              </a:rPr>
              <a:t> 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element_blank</a:t>
            </a:r>
            <a:r>
              <a:rPr dirty="0">
                <a:latin typeface="Courier"/>
              </a:rPr>
              <a:t>(),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solidFill>
                  <a:srgbClr val="7D9029"/>
                </a:solidFill>
                <a:latin typeface="Courier"/>
              </a:rPr>
              <a:t>axis.title</a:t>
            </a:r>
            <a:r>
              <a:rPr dirty="0">
                <a:solidFill>
                  <a:srgbClr val="7D9029"/>
                </a:solidFill>
                <a:latin typeface="Courier"/>
              </a:rPr>
              <a:t> 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element_blank</a:t>
            </a:r>
            <a:r>
              <a:rPr dirty="0">
                <a:latin typeface="Courier"/>
              </a:rPr>
              <a:t>(),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solidFill>
                  <a:srgbClr val="7D9029"/>
                </a:solidFill>
                <a:latin typeface="Courier"/>
              </a:rPr>
              <a:t>panel.grid</a:t>
            </a:r>
            <a:r>
              <a:rPr dirty="0">
                <a:solidFill>
                  <a:srgbClr val="7D9029"/>
                </a:solidFill>
                <a:latin typeface="Courier"/>
              </a:rPr>
              <a:t> 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element_blank</a:t>
            </a:r>
            <a:r>
              <a:rPr dirty="0">
                <a:latin typeface="Courier"/>
              </a:rPr>
              <a:t>(),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solidFill>
                  <a:srgbClr val="7D9029"/>
                </a:solidFill>
                <a:latin typeface="Courier"/>
              </a:rPr>
              <a:t>plot.margin</a:t>
            </a:r>
            <a:r>
              <a:rPr dirty="0">
                <a:solidFill>
                  <a:srgbClr val="7D9029"/>
                </a:solidFill>
                <a:latin typeface="Courier"/>
              </a:rPr>
              <a:t> 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6287E"/>
                </a:solidFill>
                <a:latin typeface="Courier"/>
              </a:rPr>
              <a:t>unit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06287E"/>
                </a:solidFill>
                <a:latin typeface="Courier"/>
              </a:rPr>
              <a:t>rep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4</a:t>
            </a:r>
            <a:r>
              <a:rPr dirty="0">
                <a:latin typeface="Courier"/>
              </a:rPr>
              <a:t>), </a:t>
            </a:r>
            <a:r>
              <a:rPr dirty="0">
                <a:solidFill>
                  <a:srgbClr val="4070A0"/>
                </a:solidFill>
                <a:latin typeface="Courier"/>
              </a:rPr>
              <a:t>"cm"</a:t>
            </a:r>
            <a:r>
              <a:rPr dirty="0">
                <a:latin typeface="Courier"/>
              </a:rPr>
              <a:t>) </a:t>
            </a:r>
            <a:r>
              <a:rPr i="1" dirty="0">
                <a:solidFill>
                  <a:srgbClr val="60A0B0"/>
                </a:solidFill>
                <a:latin typeface="Courier"/>
              </a:rPr>
              <a:t># removing unnecessary margins</a:t>
            </a:r>
            <a:br>
              <a:rPr dirty="0"/>
            </a:br>
            <a:r>
              <a:rPr dirty="0">
                <a:latin typeface="Courier"/>
              </a:rPr>
              <a:t>  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ylim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100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250</a:t>
            </a:r>
            <a:r>
              <a:rPr dirty="0">
                <a:latin typeface="Courier"/>
              </a:rPr>
              <a:t>) </a:t>
            </a:r>
            <a:r>
              <a:rPr i="1" dirty="0">
                <a:solidFill>
                  <a:srgbClr val="60A0B0"/>
                </a:solidFill>
                <a:latin typeface="Courier"/>
              </a:rPr>
              <a:t>#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dtermines</a:t>
            </a:r>
            <a:r>
              <a:rPr i="1" dirty="0">
                <a:solidFill>
                  <a:srgbClr val="60A0B0"/>
                </a:solidFill>
                <a:latin typeface="Courier"/>
              </a:rPr>
              <a:t> size of the inner radius</a:t>
            </a:r>
          </a:p>
        </p:txBody>
      </p:sp>
      <p:pic>
        <p:nvPicPr>
          <p:cNvPr id="3" name="Picture 1" descr="MLW_KUHeS_RandStatistics_Session2_DataVisualisation_files/figure-pptx/unnamed-chunk-8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In </a:t>
                </a:r>
                <a:r>
                  <a:rPr>
                    <a:latin typeface="Courier"/>
                  </a:rPr>
                  <a:t>ggplot2</a:t>
                </a:r>
                <a:r>
                  <a:t>, </a:t>
                </a:r>
                <a:r>
                  <a:rPr b="1"/>
                  <a:t>pie charts</a:t>
                </a:r>
                <a:r>
                  <a:t> are just bar charts with a special (polar) coordinate system.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(dat, 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factor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), 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fill=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factor</a:t>
                </a:r>
                <a:r>
                  <a:rPr>
                    <a:latin typeface="Courier"/>
                  </a:rPr>
                  <a:t>(type)))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geom_bar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 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coord_polar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"y"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xlab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""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theme_void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9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Note: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Generally, R discourages the use of pie charts (they are horrible &amp; misleading - human brains are not good at judging the relative sizes of areas).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Histograms</a:t>
            </a:r>
            <a:r>
              <a:t> are useful graphs. They:</a:t>
            </a:r>
          </a:p>
          <a:p>
            <a:pPr lvl="0"/>
            <a:r>
              <a:t>Summarise the distribution of continuous variables, by binning data into discrete intervals.</a:t>
            </a:r>
          </a:p>
          <a:p>
            <a:pPr lvl="0"/>
            <a:r>
              <a:t>Can be used for binary and discrete variables as well, but barplots better suited for such variables.</a:t>
            </a:r>
          </a:p>
          <a:p>
            <a:pPr marL="0" lvl="0" indent="0">
              <a:buNone/>
            </a:pPr>
            <a:r>
              <a:t>In </a:t>
            </a:r>
            <a:r>
              <a:rPr>
                <a:latin typeface="Courier"/>
              </a:rPr>
              <a:t>ggplot2</a:t>
            </a:r>
            <a:r>
              <a:t>, the </a:t>
            </a:r>
            <a:r>
              <a:rPr>
                <a:latin typeface="Courier"/>
              </a:rPr>
              <a:t>geom_histogram()</a:t>
            </a:r>
            <a:r>
              <a:t> is used to generate histograms.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x3))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geom_histogram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## `stat_bin()` using `bins = 30`. Pick better value `binwidth`.</a:t>
            </a:r>
          </a:p>
        </p:txBody>
      </p:sp>
      <p:pic>
        <p:nvPicPr>
          <p:cNvPr id="3" name="Picture 1" descr="MLW_KUHeS_RandStatistics_Session2_DataVisualisation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Note the warning message above. You can ignore this, but R is just trying to tell you that other bin widths / number of bins may work better. You can set this by specifying the </a:t>
                </a:r>
                <a:r>
                  <a:rPr>
                    <a:latin typeface="Courier"/>
                  </a:rPr>
                  <a:t>bins</a:t>
                </a:r>
                <a:r>
                  <a:t> or the </a:t>
                </a:r>
                <a:r>
                  <a:rPr>
                    <a:latin typeface="Courier"/>
                  </a:rPr>
                  <a:t>bindwidth</a:t>
                </a:r>
                <a:r>
                  <a:t> parameter.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x3))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geom_histogram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binwidth=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r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1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33</a:t>
            </a:fld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46849"/>
            <a:ext cx="3932237" cy="381158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endParaRPr dirty="0"/>
          </a:p>
          <a:p>
            <a:pPr lvl="0" indent="0">
              <a:buNone/>
            </a:pP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data=</a:t>
            </a:r>
            <a:r>
              <a:rPr dirty="0" err="1">
                <a:latin typeface="Courier"/>
              </a:rPr>
              <a:t>dat,</a:t>
            </a:r>
            <a:r>
              <a:rPr dirty="0" err="1">
                <a:solidFill>
                  <a:srgbClr val="7D9029"/>
                </a:solidFill>
                <a:latin typeface="Courier"/>
              </a:rPr>
              <a:t>mapping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>
                <a:latin typeface="Courier"/>
              </a:rPr>
              <a:t>x3,</a:t>
            </a:r>
            <a:r>
              <a:rPr dirty="0">
                <a:solidFill>
                  <a:srgbClr val="06287E"/>
                </a:solidFill>
                <a:latin typeface="Courier"/>
              </a:rPr>
              <a:t>stat</a:t>
            </a:r>
            <a:r>
              <a:rPr dirty="0">
                <a:latin typeface="Courier"/>
              </a:rPr>
              <a:t>(density)))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geom_histogram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7D9029"/>
                </a:solidFill>
                <a:latin typeface="Courier"/>
              </a:rPr>
              <a:t>binwidth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0.15</a:t>
            </a:r>
            <a:r>
              <a:rPr dirty="0">
                <a:latin typeface="Courier"/>
              </a:rPr>
              <a:t>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Warning: `stat(density)` was deprecated in ggplot2 3.4.0.
## ℹ Please use `</a:t>
            </a:r>
            <a:r>
              <a:rPr dirty="0" err="1">
                <a:latin typeface="Courier"/>
              </a:rPr>
              <a:t>after_stat</a:t>
            </a:r>
            <a:r>
              <a:rPr dirty="0">
                <a:latin typeface="Courier"/>
              </a:rPr>
              <a:t>(density)` instead.
## This warning is displayed once every 8 hours.
## Call `lifecycle::</a:t>
            </a:r>
            <a:r>
              <a:rPr dirty="0" err="1">
                <a:latin typeface="Courier"/>
              </a:rPr>
              <a:t>last_lifecycle_warnings</a:t>
            </a:r>
            <a:r>
              <a:rPr dirty="0">
                <a:latin typeface="Courier"/>
              </a:rPr>
              <a:t>()` to see where this warning was
## generated.</a:t>
            </a:r>
          </a:p>
        </p:txBody>
      </p:sp>
      <p:pic>
        <p:nvPicPr>
          <p:cNvPr id="2" name="Picture 1" descr="MLW_KUHeS_RandStatistics_Session2_DataVisualisation_files/figure-pptx/unnamed-chunk-11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There’s many other parameters you can specify to customise the histogram graph.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x3,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stat</a:t>
                </a:r>
                <a:r>
                  <a:rPr>
                    <a:latin typeface="Courier"/>
                  </a:rPr>
                  <a:t>(density)))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geom_histogram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binwidth=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0.15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coord_cartesian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xlim 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</a:t>
                </a:r>
                <a:r>
                  <a:rPr>
                    <a:latin typeface="Courier"/>
                  </a:rPr>
                  <a:t>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ggtitle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"Histogram"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theme_light</a:t>
                </a:r>
                <a:r>
                  <a:rPr>
                    <a:latin typeface="Courier"/>
                  </a:rPr>
                  <a:t>()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theme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text=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element_text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size=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24</a:t>
                </a:r>
                <a:r>
                  <a:rPr>
                    <a:latin typeface="Courier"/>
                  </a:rPr>
                  <a:t>))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35</a:t>
            </a:fld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We can add kernel density estimates for the distribution function.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x3,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stat</a:t>
                </a:r>
                <a:r>
                  <a:rPr>
                    <a:latin typeface="Courier"/>
                  </a:rPr>
                  <a:t>(density)))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geom_histogram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binwidth=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0.15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geom_density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bw=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"SJ"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col=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"blue"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lwd=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3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We can stratify by a grouping variable (variable </a:t>
                </a:r>
                <a:r>
                  <a:rPr>
                    <a:latin typeface="Courier"/>
                  </a:rPr>
                  <a:t>type</a:t>
                </a:r>
                <a:r>
                  <a:t> in this case).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x3,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fill=</a:t>
                </a:r>
                <a:r>
                  <a:rPr>
                    <a:latin typeface="Courier"/>
                  </a:rPr>
                  <a:t>type))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geom_histogram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binwidth=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0.15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position=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"dodge"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4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Distribution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You can change the default colours that are being used for the </a:t>
            </a:r>
            <a:r>
              <a:rPr>
                <a:latin typeface="Courier"/>
              </a:rPr>
              <a:t>type</a:t>
            </a:r>
            <a:r>
              <a:t> variable.</a:t>
            </a:r>
          </a:p>
          <a:p>
            <a:pPr marL="0" lvl="0" indent="0">
              <a:buNone/>
            </a:pPr>
            <a:r>
              <a:t>The aesthetic element governing the colour of the bars is the variable specified by </a:t>
            </a:r>
            <a:r>
              <a:rPr>
                <a:latin typeface="Courier"/>
              </a:rPr>
              <a:t>fill=type</a:t>
            </a:r>
            <a:r>
              <a:t>.</a:t>
            </a:r>
          </a:p>
          <a:p>
            <a:pPr marL="0" lvl="0" indent="0">
              <a:buNone/>
            </a:pPr>
            <a:r>
              <a:t>So to change the colours, we need to use the function </a:t>
            </a:r>
            <a:r>
              <a:rPr>
                <a:latin typeface="Courier"/>
              </a:rPr>
              <a:t>scale_fill_manual()</a:t>
            </a:r>
            <a:r>
              <a:t>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x3,</a:t>
            </a:r>
            <a:r>
              <a:rPr>
                <a:solidFill>
                  <a:srgbClr val="7D9029"/>
                </a:solidFill>
                <a:latin typeface="Courier"/>
              </a:rPr>
              <a:t>fill=</a:t>
            </a:r>
            <a:r>
              <a:rPr>
                <a:latin typeface="Courier"/>
              </a:rPr>
              <a:t>type))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geom_histogram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binwidth=</a:t>
            </a:r>
            <a:r>
              <a:rPr>
                <a:solidFill>
                  <a:srgbClr val="40A070"/>
                </a:solidFill>
                <a:latin typeface="Courier"/>
              </a:rPr>
              <a:t>0.15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position=</a:t>
            </a:r>
            <a:r>
              <a:rPr>
                <a:solidFill>
                  <a:srgbClr val="4070A0"/>
                </a:solidFill>
                <a:latin typeface="Courier"/>
              </a:rPr>
              <a:t>"dodge"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scale_fill_manual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values=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"steelblue"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"orange"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"salmon"</a:t>
            </a:r>
            <a:r>
              <a:rPr>
                <a:latin typeface="Courier"/>
              </a:rPr>
              <a:t>))</a:t>
            </a:r>
          </a:p>
        </p:txBody>
      </p:sp>
      <p:pic>
        <p:nvPicPr>
          <p:cNvPr id="3" name="Picture 1" descr="MLW_KUHeS_RandStatistics_Session2_DataVisualisation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38</a:t>
            </a:fld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39</a:t>
            </a:fld>
            <a:endParaRPr lang="en-GB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Covariation figures let you visually explore whether there is a relationship between 2 or more variables.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40</a:t>
            </a:fld>
            <a:endParaRPr lang="en-GB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rPr b="1"/>
                  <a:t>Boxplots</a:t>
                </a:r>
                <a:r>
                  <a:t>, and their variation violin plots, allow you to explore what, if any, relationship there is between a binary / discrete / categorical and a continuous variable.</a:t>
                </a:r>
              </a:p>
              <a:p>
                <a:pPr marL="0" lvl="0" indent="0">
                  <a:buNone/>
                </a:pPr>
                <a:r>
                  <a:t>For boxplots the geom </a:t>
                </a:r>
                <a:r>
                  <a:rPr>
                    <a:latin typeface="Courier"/>
                  </a:rPr>
                  <a:t>geom_boxplot()</a:t>
                </a:r>
                <a:r>
                  <a:t> is used is used.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type,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x3))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geom_boxplot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r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6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41</a:t>
            </a:fld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Often it is nice to add individual data points on top. To better display these (since they all have the same x-axis coordinate), you need to add jitter to their x-axis coordinates. </a:t>
                </a:r>
                <a:r>
                  <a:rPr>
                    <a:latin typeface="Courier"/>
                  </a:rPr>
                  <a:t>ggplot2</a:t>
                </a:r>
                <a:r>
                  <a:t> provides a geom for this: </a:t>
                </a:r>
                <a:r>
                  <a:rPr>
                    <a:latin typeface="Courier"/>
                  </a:rPr>
                  <a:t>geom_jitter()</a:t>
                </a:r>
                <a:r>
                  <a:t>. By specifying some transparency (the </a:t>
                </a:r>
                <a:r>
                  <a:rPr>
                    <a:latin typeface="Courier"/>
                  </a:rPr>
                  <a:t>alpha</a:t>
                </a:r>
                <a:r>
                  <a:t> parameter), it is easier to get an idea where the data density is highest.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type,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x3))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geom_boxplot</a:t>
                </a:r>
                <a:r>
                  <a:rPr>
                    <a:latin typeface="Courier"/>
                  </a:rPr>
                  <a:t>()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geom_jitter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0.25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height=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alpha=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0.3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r="-155" b="-9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7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42</a:t>
            </a:fld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You can also generate horizontal boxplots, by flipping the coordinate system.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type,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x3))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geom_boxplot</a:t>
                </a:r>
                <a:r>
                  <a:rPr>
                    <a:latin typeface="Courier"/>
                  </a:rPr>
                  <a:t>()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coord_flip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r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8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43</a:t>
            </a:fld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It is important that you understand what information is summarised in a boxplot.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44</a:t>
            </a:fld>
            <a:endParaRPr lang="en-GB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pic>
        <p:nvPicPr>
          <p:cNvPr id="3" name="Picture 1" descr="dataAndSupportDocs/boxWhiskerPlo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17700" y="1816100"/>
            <a:ext cx="83566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59690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Wickham, H. &amp; Grolemund G., R for Data Science, O’Reilly, 2016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45</a:t>
            </a:fld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rPr b="1"/>
                  <a:t>Violin plots</a:t>
                </a:r>
                <a:r>
                  <a:t> are similar to boxplots, but they combine box plots with histograms.</a:t>
                </a:r>
              </a:p>
              <a:p>
                <a:pPr marL="0" lvl="0" indent="0">
                  <a:buNone/>
                </a:pPr>
                <a:r>
                  <a:t>In </a:t>
                </a:r>
                <a:r>
                  <a:rPr>
                    <a:latin typeface="Courier"/>
                  </a:rPr>
                  <a:t>ggplot2</a:t>
                </a:r>
                <a:r>
                  <a:t>, the geom </a:t>
                </a:r>
                <a:r>
                  <a:rPr>
                    <a:latin typeface="Courier"/>
                  </a:rPr>
                  <a:t>geom_violin()</a:t>
                </a:r>
                <a:r>
                  <a:t> is used to generate these types of graphs.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type,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x3,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fill=</a:t>
                </a:r>
                <a:r>
                  <a:rPr>
                    <a:latin typeface="Courier"/>
                  </a:rPr>
                  <a:t>type))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geom_violin</a:t>
                </a:r>
                <a:r>
                  <a:rPr>
                    <a:latin typeface="Courier"/>
                  </a:rPr>
                  <a:t>()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geom_boxplot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0.05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fill=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"white"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19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46</a:t>
            </a:fld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The </a:t>
                </a:r>
                <a:r>
                  <a:rPr b="1"/>
                  <a:t>scatter plot</a:t>
                </a:r>
                <a:r>
                  <a:t>, which shows 2 continuous variables plotted against each other, is probably the most basic and most used covariation plot.</a:t>
                </a:r>
              </a:p>
              <a:p>
                <a:pPr marL="0" lvl="0" indent="0">
                  <a:buNone/>
                </a:pPr>
                <a:r>
                  <a:t>For example, it is the basis of any graph showing a regression model.</a:t>
                </a:r>
              </a:p>
              <a:p>
                <a:pPr marL="0" lvl="0" indent="0">
                  <a:buNone/>
                </a:pPr>
                <a:r>
                  <a:t>The geom </a:t>
                </a:r>
                <a:r>
                  <a:rPr>
                    <a:latin typeface="Courier"/>
                  </a:rPr>
                  <a:t>geom_point()</a:t>
                </a:r>
                <a:r>
                  <a:t> is used to generate scatter plots in </a:t>
                </a:r>
                <a:r>
                  <a:rPr>
                    <a:latin typeface="Courier"/>
                  </a:rPr>
                  <a:t>ggplot2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dat,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x3,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x4))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geom_point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20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47</a:t>
            </a:fld>
            <a:endParaRPr lang="en-GB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This can be customised and you can easily add smooth regression lines with </a:t>
                </a:r>
                <a:r>
                  <a:rPr>
                    <a:latin typeface="Courier"/>
                  </a:rPr>
                  <a:t>geom_smooth()</a:t>
                </a:r>
                <a:r>
                  <a:t>.</a:t>
                </a:r>
              </a:p>
              <a:p>
                <a:pPr marL="0" lvl="0" indent="0">
                  <a:buNone/>
                </a:pPr>
                <a:r>
                  <a:t>Note that the colour of the individual points is given by the </a:t>
                </a:r>
                <a:r>
                  <a:rPr>
                    <a:latin typeface="Courier"/>
                  </a:rPr>
                  <a:t>col</a:t>
                </a:r>
                <a:r>
                  <a:t> argument and so </a:t>
                </a:r>
                <a:r>
                  <a:rPr>
                    <a:latin typeface="Courier"/>
                  </a:rPr>
                  <a:t>scale_colour_manual()</a:t>
                </a:r>
                <a:r>
                  <a:t> is used to specify colours (rather than </a:t>
                </a:r>
                <a:r>
                  <a:rPr>
                    <a:latin typeface="Courier"/>
                  </a:rPr>
                  <a:t>scale_fill_manual()</a:t>
                </a:r>
                <a:r>
                  <a:t> as was used above in the example for histograms).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48</a:t>
            </a:fld>
            <a:endParaRPr lang="en-GB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95423"/>
            <a:ext cx="3932237" cy="3811588"/>
          </a:xfrm>
        </p:spPr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data=</a:t>
            </a:r>
            <a:r>
              <a:rPr dirty="0" err="1">
                <a:latin typeface="Courier"/>
              </a:rPr>
              <a:t>dat,</a:t>
            </a:r>
            <a:r>
              <a:rPr dirty="0" err="1">
                <a:solidFill>
                  <a:srgbClr val="7D9029"/>
                </a:solidFill>
                <a:latin typeface="Courier"/>
              </a:rPr>
              <a:t>mapping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>
                <a:latin typeface="Courier"/>
              </a:rPr>
              <a:t>x3,</a:t>
            </a:r>
            <a:r>
              <a:rPr dirty="0">
                <a:solidFill>
                  <a:srgbClr val="7D9029"/>
                </a:solidFill>
                <a:latin typeface="Courier"/>
              </a:rPr>
              <a:t>y=</a:t>
            </a:r>
            <a:r>
              <a:rPr dirty="0">
                <a:latin typeface="Courier"/>
              </a:rPr>
              <a:t>x4,</a:t>
            </a:r>
            <a:r>
              <a:rPr dirty="0">
                <a:solidFill>
                  <a:srgbClr val="7D9029"/>
                </a:solidFill>
                <a:latin typeface="Courier"/>
              </a:rPr>
              <a:t>col=</a:t>
            </a:r>
            <a:r>
              <a:rPr dirty="0">
                <a:latin typeface="Courier"/>
              </a:rPr>
              <a:t>type))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geom_point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geom_smooth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scale_colour_manual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values=</a:t>
            </a:r>
            <a:r>
              <a:rPr dirty="0">
                <a:solidFill>
                  <a:srgbClr val="06287E"/>
                </a:solidFill>
                <a:latin typeface="Courier"/>
              </a:rPr>
              <a:t>c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steelblue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salmon"</a:t>
            </a:r>
            <a:r>
              <a:rPr dirty="0" err="1">
                <a:latin typeface="Courier"/>
              </a:rPr>
              <a:t>,</a:t>
            </a:r>
            <a:r>
              <a:rPr dirty="0" err="1">
                <a:solidFill>
                  <a:srgbClr val="4070A0"/>
                </a:solidFill>
                <a:latin typeface="Courier"/>
              </a:rPr>
              <a:t>"orange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                  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"Type"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xlab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"Variable x3"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ylab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"Variable x4"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ggtitle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"A covariation plot."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theme_light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theme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text=</a:t>
            </a:r>
            <a:r>
              <a:rPr dirty="0" err="1">
                <a:solidFill>
                  <a:srgbClr val="06287E"/>
                </a:solidFill>
                <a:latin typeface="Courier"/>
              </a:rPr>
              <a:t>element_text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size=</a:t>
            </a:r>
            <a:r>
              <a:rPr dirty="0">
                <a:solidFill>
                  <a:srgbClr val="40A070"/>
                </a:solidFill>
                <a:latin typeface="Courier"/>
              </a:rPr>
              <a:t>14</a:t>
            </a:r>
            <a:r>
              <a:rPr dirty="0">
                <a:latin typeface="Courier"/>
              </a:rPr>
              <a:t>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`</a:t>
            </a:r>
            <a:r>
              <a:rPr dirty="0" err="1">
                <a:latin typeface="Courier"/>
              </a:rPr>
              <a:t>geom_smooth</a:t>
            </a:r>
            <a:r>
              <a:rPr dirty="0">
                <a:latin typeface="Courier"/>
              </a:rPr>
              <a:t>()` using method = 'loess' and formula = 'y ~ x'</a:t>
            </a:r>
          </a:p>
        </p:txBody>
      </p:sp>
      <p:pic>
        <p:nvPicPr>
          <p:cNvPr id="3" name="Picture 1" descr="MLW_KUHeS_RandStatistics_Session2_DataVisualisation_files/figure-pptx/unnamed-chunk-2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49</a:t>
            </a:fld>
            <a:endParaRPr lang="en-GB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If one of the 2 variables has an order to it, such as e.g. a time variable, then </a:t>
                </a:r>
                <a:r>
                  <a:rPr b="1"/>
                  <a:t>line graphs</a:t>
                </a:r>
                <a:r>
                  <a:t> may be better suited.</a:t>
                </a:r>
              </a:p>
              <a:p>
                <a:pPr marL="0" lvl="0" indent="0">
                  <a:buNone/>
                </a:pPr>
                <a:r>
                  <a:t>The geom </a:t>
                </a:r>
                <a:r>
                  <a:rPr>
                    <a:latin typeface="Courier"/>
                  </a:rPr>
                  <a:t>geom_line()</a:t>
                </a:r>
                <a:r>
                  <a:t> is used for this.</a:t>
                </a:r>
              </a:p>
              <a:p>
                <a:pPr marL="0" lvl="0" indent="0">
                  <a:buNone/>
                </a:pPr>
                <a:r>
                  <a:t>For an example, we will use a dataset that comes with R: </a:t>
                </a:r>
                <a:r>
                  <a:rPr>
                    <a:latin typeface="Courier"/>
                  </a:rPr>
                  <a:t>beavers</a:t>
                </a:r>
                <a:r>
                  <a:t> which consists of body temperature measurements from 2 beavers, stored in data frame </a:t>
                </a:r>
                <a:r>
                  <a:rPr>
                    <a:latin typeface="Courier"/>
                  </a:rPr>
                  <a:t>beaver1</a:t>
                </a:r>
                <a:r>
                  <a:t> and </a:t>
                </a:r>
                <a:r>
                  <a:rPr>
                    <a:latin typeface="Courier"/>
                  </a:rPr>
                  <a:t>beaver2</a:t>
                </a:r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50</a:t>
            </a:fld>
            <a:endParaRPr lang="en-GB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beaver</a:t>
                </a:r>
                <a:r>
                  <a:rPr>
                    <a:solidFill>
                      <a:srgbClr val="007020"/>
                    </a:solidFill>
                    <a:latin typeface="Courier"/>
                  </a:rPr>
                  <a:t>&lt;-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rbind</a:t>
                </a:r>
                <a:r>
                  <a:rPr>
                    <a:latin typeface="Courier"/>
                  </a:rPr>
                  <a:t>(beaver1[beaver1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$</a:t>
                </a:r>
                <a:r>
                  <a:rPr>
                    <a:latin typeface="Courier"/>
                  </a:rPr>
                  <a:t>day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346</a:t>
                </a:r>
                <a:r>
                  <a:rPr>
                    <a:latin typeface="Courier"/>
                  </a:rPr>
                  <a:t>,],beaver2[beaver2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$</a:t>
                </a:r>
                <a:r>
                  <a:rPr>
                    <a:latin typeface="Courier"/>
                  </a:rPr>
                  <a:t>day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307</a:t>
                </a:r>
                <a:r>
                  <a:rPr>
                    <a:latin typeface="Courier"/>
                  </a:rPr>
                  <a:t>,])</a:t>
                </a:r>
                <a:br/>
                <a:r>
                  <a:rPr>
                    <a:latin typeface="Courier"/>
                  </a:rPr>
                  <a:t>beaver</a:t>
                </a:r>
                <a:r>
                  <a:rPr>
                    <a:solidFill>
                      <a:srgbClr val="007020"/>
                    </a:solidFill>
                    <a:latin typeface="Courier"/>
                  </a:rPr>
                  <a:t>&lt;-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data.frame</a:t>
                </a:r>
                <a:r>
                  <a:rPr>
                    <a:latin typeface="Courier"/>
                  </a:rPr>
                  <a:t>(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name=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c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rep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"beaver1"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sum</a:t>
                </a:r>
                <a:r>
                  <a:rPr>
                    <a:latin typeface="Courier"/>
                  </a:rPr>
                  <a:t>(beaver1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$</a:t>
                </a:r>
                <a:r>
                  <a:rPr>
                    <a:latin typeface="Courier"/>
                  </a:rPr>
                  <a:t>day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346</a:t>
                </a:r>
                <a:r>
                  <a:rPr>
                    <a:latin typeface="Courier"/>
                  </a:rPr>
                  <a:t>)),</a:t>
                </a:r>
                <a:br/>
                <a:r>
                  <a:rPr>
                    <a:latin typeface="Courier"/>
                  </a:rPr>
                  <a:t>       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rep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"beaver2"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sum</a:t>
                </a:r>
                <a:r>
                  <a:rPr>
                    <a:latin typeface="Courier"/>
                  </a:rPr>
                  <a:t>(beaver2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$</a:t>
                </a:r>
                <a:r>
                  <a:rPr>
                    <a:latin typeface="Courier"/>
                  </a:rPr>
                  <a:t>day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==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307</a:t>
                </a:r>
                <a:r>
                  <a:rPr>
                    <a:latin typeface="Courier"/>
                  </a:rPr>
                  <a:t>))),beaver)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51</a:t>
            </a:fld>
            <a:endParaRPr lang="en-GB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For a simple line graph, you just need and x and a y variable.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beaver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%&gt;%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filter</a:t>
                </a:r>
                <a:r>
                  <a:rPr>
                    <a:latin typeface="Courier"/>
                  </a:rPr>
                  <a:t>(name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=="beaver1"</a:t>
                </a:r>
                <a:r>
                  <a:rPr>
                    <a:latin typeface="Courier"/>
                  </a:rPr>
                  <a:t>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%&gt;%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time,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temp))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geom_line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23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52</a:t>
            </a:fld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You can easily stratify a line graph by a grouping variable (in this case the variable </a:t>
                </a:r>
                <a:r>
                  <a:rPr>
                    <a:latin typeface="Courier"/>
                  </a:rPr>
                  <a:t>name</a:t>
                </a:r>
                <a:r>
                  <a:t>) in </a:t>
                </a:r>
                <a:r>
                  <a:rPr>
                    <a:latin typeface="Courier"/>
                  </a:rPr>
                  <a:t>ggplot2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beaver,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time,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temp,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colour=</a:t>
                </a:r>
                <a:r>
                  <a:rPr>
                    <a:latin typeface="Courier"/>
                  </a:rPr>
                  <a:t>name))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geom_line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lwd=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1.5</a:t>
                </a:r>
                <a:r>
                  <a:rPr>
                    <a:latin typeface="Courier"/>
                  </a:rPr>
                  <a:t>)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the lwd parameter sets the line width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 r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24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53</a:t>
            </a:fld>
            <a:endParaRPr lang="en-GB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rPr b="1"/>
                  <a:t>Heatmaps</a:t>
                </a:r>
                <a:r>
                  <a:t> are useful to show covariation among 3 variables.</a:t>
                </a:r>
              </a:p>
              <a:p>
                <a:pPr marL="0" lvl="0" indent="0">
                  <a:buNone/>
                </a:pPr>
                <a:r>
                  <a:t>The x- and y-axis show 2 of the variables and the third variable determines the colour of cells.</a:t>
                </a:r>
              </a:p>
              <a:p>
                <a:pPr marL="0" lvl="0" indent="0">
                  <a:buNone/>
                </a:pPr>
                <a:r>
                  <a:t>The variables can be either categorical or continuous.</a:t>
                </a:r>
              </a:p>
              <a:p>
                <a:pPr marL="0" lvl="0" indent="0">
                  <a:buNone/>
                </a:pPr>
                <a:r>
                  <a:t>In </a:t>
                </a:r>
                <a:r>
                  <a:rPr>
                    <a:latin typeface="Courier"/>
                  </a:rPr>
                  <a:t>ggplot2</a:t>
                </a:r>
                <a:r>
                  <a:t>, one geom that you can use for heatmaps is </a:t>
                </a:r>
                <a:r>
                  <a:rPr>
                    <a:latin typeface="Courier"/>
                  </a:rPr>
                  <a:t>geom_tile()</a:t>
                </a:r>
                <a:r>
                  <a:t>.</a:t>
                </a:r>
              </a:p>
              <a:p>
                <a:pPr marL="0" lvl="0" indent="0">
                  <a:buNone/>
                </a:pPr>
                <a:r>
                  <a:t>First, we need some data.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54</a:t>
            </a:fld>
            <a:endParaRPr lang="en-GB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Courier"/>
              </a:rPr>
              <a:t>dens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x,y</a:t>
            </a:r>
            <a:r>
              <a:rPr dirty="0">
                <a:latin typeface="Courier"/>
              </a:rPr>
              <a:t>){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A070"/>
                </a:solidFill>
                <a:latin typeface="Courier"/>
              </a:rPr>
              <a:t>0.35</a:t>
            </a:r>
            <a:r>
              <a:rPr dirty="0">
                <a:solidFill>
                  <a:srgbClr val="4070A0"/>
                </a:solidFill>
                <a:latin typeface="Courier"/>
              </a:rPr>
              <a:t>*</a:t>
            </a:r>
            <a:r>
              <a:rPr dirty="0" err="1">
                <a:solidFill>
                  <a:srgbClr val="06287E"/>
                </a:solidFill>
                <a:latin typeface="Courier"/>
              </a:rPr>
              <a:t>dnorm</a:t>
            </a:r>
            <a:r>
              <a:rPr dirty="0">
                <a:latin typeface="Courier"/>
              </a:rPr>
              <a:t>(x)</a:t>
            </a:r>
            <a:r>
              <a:rPr dirty="0">
                <a:solidFill>
                  <a:srgbClr val="4070A0"/>
                </a:solidFill>
                <a:latin typeface="Courier"/>
              </a:rPr>
              <a:t>*</a:t>
            </a:r>
            <a:r>
              <a:rPr dirty="0" err="1">
                <a:solidFill>
                  <a:srgbClr val="06287E"/>
                </a:solidFill>
                <a:latin typeface="Courier"/>
              </a:rPr>
              <a:t>dnorm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y,</a:t>
            </a:r>
            <a:r>
              <a:rPr dirty="0" err="1">
                <a:solidFill>
                  <a:srgbClr val="7D9029"/>
                </a:solidFill>
                <a:latin typeface="Courier"/>
              </a:rPr>
              <a:t>sd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1.5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A070"/>
                </a:solidFill>
                <a:latin typeface="Courier"/>
              </a:rPr>
              <a:t>0.65</a:t>
            </a:r>
            <a:r>
              <a:rPr dirty="0">
                <a:solidFill>
                  <a:srgbClr val="4070A0"/>
                </a:solidFill>
                <a:latin typeface="Courier"/>
              </a:rPr>
              <a:t>*</a:t>
            </a:r>
            <a:r>
              <a:rPr dirty="0" err="1">
                <a:solidFill>
                  <a:srgbClr val="06287E"/>
                </a:solidFill>
                <a:latin typeface="Courier"/>
              </a:rPr>
              <a:t>dnorm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x,</a:t>
            </a:r>
            <a:r>
              <a:rPr dirty="0" err="1">
                <a:solidFill>
                  <a:srgbClr val="7D9029"/>
                </a:solidFill>
                <a:latin typeface="Courier"/>
              </a:rPr>
              <a:t>mean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sd=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4070A0"/>
                </a:solidFill>
                <a:latin typeface="Courier"/>
              </a:rPr>
              <a:t>*</a:t>
            </a:r>
            <a:r>
              <a:rPr dirty="0" err="1">
                <a:solidFill>
                  <a:srgbClr val="06287E"/>
                </a:solidFill>
                <a:latin typeface="Courier"/>
              </a:rPr>
              <a:t>dnorm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y,</a:t>
            </a:r>
            <a:r>
              <a:rPr dirty="0" err="1">
                <a:solidFill>
                  <a:srgbClr val="7D9029"/>
                </a:solidFill>
                <a:latin typeface="Courier"/>
              </a:rPr>
              <a:t>mean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3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)</a:t>
            </a:r>
            <a:br>
              <a:rPr dirty="0"/>
            </a:br>
            <a:r>
              <a:rPr dirty="0"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x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solidFill>
                  <a:srgbClr val="06287E"/>
                </a:solidFill>
                <a:latin typeface="Courier"/>
              </a:rPr>
              <a:t>seq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2.5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6.5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by=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y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solidFill>
                  <a:srgbClr val="06287E"/>
                </a:solidFill>
                <a:latin typeface="Courier"/>
              </a:rPr>
              <a:t>seq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-</a:t>
            </a:r>
            <a:r>
              <a:rPr dirty="0">
                <a:solidFill>
                  <a:srgbClr val="40A070"/>
                </a:solidFill>
                <a:latin typeface="Courier"/>
              </a:rPr>
              <a:t>3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40A070"/>
                </a:solidFill>
                <a:latin typeface="Courier"/>
              </a:rPr>
              <a:t>5.5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by=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dirty="0" err="1">
                <a:latin typeface="Courier"/>
              </a:rPr>
              <a:t>densSurf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 err="1">
                <a:solidFill>
                  <a:srgbClr val="06287E"/>
                </a:solidFill>
                <a:latin typeface="Courier"/>
              </a:rPr>
              <a:t>expand.grid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 err="1">
                <a:latin typeface="Courier"/>
              </a:rPr>
              <a:t>x,</a:t>
            </a:r>
            <a:r>
              <a:rPr dirty="0" err="1">
                <a:solidFill>
                  <a:srgbClr val="7D9029"/>
                </a:solidFill>
                <a:latin typeface="Courier"/>
              </a:rPr>
              <a:t>y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y) </a:t>
            </a:r>
            <a:r>
              <a:rPr dirty="0">
                <a:solidFill>
                  <a:srgbClr val="4070A0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06287E"/>
                </a:solidFill>
                <a:latin typeface="Courier"/>
              </a:rPr>
              <a:t>mutate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dens=</a:t>
            </a:r>
            <a:r>
              <a:rPr dirty="0">
                <a:solidFill>
                  <a:srgbClr val="06287E"/>
                </a:solidFill>
                <a:latin typeface="Courier"/>
              </a:rPr>
              <a:t>dens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x,y</a:t>
            </a:r>
            <a:r>
              <a:rPr dirty="0">
                <a:latin typeface="Courier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55</a:t>
            </a:fld>
            <a:endParaRPr lang="en-GB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Then we can do a basic heat map, using default colours.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densSurf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%&gt;%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y,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fill=</a:t>
                </a:r>
                <a:r>
                  <a:rPr>
                    <a:latin typeface="Courier"/>
                  </a:rPr>
                  <a:t>dens))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geom_tile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0.05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height=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0.05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26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56</a:t>
            </a:fld>
            <a:endParaRPr lang="en-GB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But we can also provide custom colour scales.</a:t>
            </a:r>
          </a:p>
          <a:p>
            <a:pPr lvl="0" indent="0">
              <a:buNone/>
            </a:pPr>
            <a:r>
              <a:rPr>
                <a:latin typeface="Courier"/>
              </a:rPr>
              <a:t>clrs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colorRampPalette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"blue"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"orange"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"yellow"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"white"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densSurf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x,</a:t>
            </a:r>
            <a:r>
              <a:rPr>
                <a:solidFill>
                  <a:srgbClr val="7D9029"/>
                </a:solidFill>
                <a:latin typeface="Courier"/>
              </a:rPr>
              <a:t>y=</a:t>
            </a:r>
            <a:r>
              <a:rPr>
                <a:latin typeface="Courier"/>
              </a:rPr>
              <a:t>y,</a:t>
            </a:r>
            <a:r>
              <a:rPr>
                <a:solidFill>
                  <a:srgbClr val="7D9029"/>
                </a:solidFill>
                <a:latin typeface="Courier"/>
              </a:rPr>
              <a:t>fill=</a:t>
            </a:r>
            <a:r>
              <a:rPr>
                <a:latin typeface="Courier"/>
              </a:rPr>
              <a:t>dens))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geom_tile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width=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height=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scale_fill_gradientn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colours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clrs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7D9029"/>
                </a:solidFill>
                <a:latin typeface="Courier"/>
              </a:rPr>
              <a:t>name=</a:t>
            </a:r>
            <a:r>
              <a:rPr>
                <a:solidFill>
                  <a:srgbClr val="4070A0"/>
                </a:solidFill>
                <a:latin typeface="Courier"/>
              </a:rPr>
              <a:t>"probability density"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theme_minimal</a:t>
            </a:r>
            <a:r>
              <a:rPr>
                <a:latin typeface="Courier"/>
              </a:rPr>
              <a:t>()</a:t>
            </a:r>
          </a:p>
        </p:txBody>
      </p:sp>
      <p:pic>
        <p:nvPicPr>
          <p:cNvPr id="3" name="Picture 1" descr="MLW_KUHeS_RandStatistics_Session2_DataVisualisation_files/figure-pptx/unnamed-chunk-2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57</a:t>
            </a:fld>
            <a:endParaRPr lang="en-GB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rPr b="1"/>
                  <a:t>Contour plots</a:t>
                </a:r>
                <a:r>
                  <a:t> are similar but use contour lines rather than colour scales to show variation in the third variable.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ggplot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data=</a:t>
                </a:r>
                <a:r>
                  <a:rPr>
                    <a:latin typeface="Courier"/>
                  </a:rPr>
                  <a:t>densSurf,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mapping=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aes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x=</a:t>
                </a:r>
                <a:r>
                  <a:rPr>
                    <a:latin typeface="Courier"/>
                  </a:rPr>
                  <a:t>x,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y=</a:t>
                </a:r>
                <a:r>
                  <a:rPr>
                    <a:latin typeface="Courier"/>
                  </a:rPr>
                  <a:t>y,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z=</a:t>
                </a:r>
                <a:r>
                  <a:rPr>
                    <a:latin typeface="Courier"/>
                  </a:rPr>
                  <a:t>dens))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+</a:t>
                </a:r>
                <a:br/>
                <a:r>
                  <a:rPr>
                    <a:latin typeface="Courier"/>
                  </a:rPr>
                  <a:t> 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geom_contour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C278EB-CD3C-4569-8B41-D3DDD3B40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MLW_KUHeS_RandStatistics_Session2_DataVisualisation_files/figure-pptx/unnamed-chunk-28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58</a:t>
            </a:fld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Covariation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229929"/>
            <a:ext cx="3932237" cy="3811588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You can combine </a:t>
            </a:r>
            <a:r>
              <a:rPr dirty="0" err="1"/>
              <a:t>heampaps</a:t>
            </a:r>
            <a:r>
              <a:rPr dirty="0"/>
              <a:t> and contour plots.</a:t>
            </a:r>
          </a:p>
          <a:p>
            <a:pPr lvl="0" indent="0">
              <a:buNone/>
            </a:pPr>
            <a:r>
              <a:rPr dirty="0" err="1">
                <a:latin typeface="Courier"/>
              </a:rPr>
              <a:t>densSurf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%&gt;%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ggplot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mapping=</a:t>
            </a:r>
            <a:r>
              <a:rPr dirty="0" err="1">
                <a:solidFill>
                  <a:srgbClr val="06287E"/>
                </a:solidFill>
                <a:latin typeface="Courier"/>
              </a:rPr>
              <a:t>aes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x=</a:t>
            </a:r>
            <a:r>
              <a:rPr dirty="0" err="1">
                <a:latin typeface="Courier"/>
              </a:rPr>
              <a:t>x,</a:t>
            </a:r>
            <a:r>
              <a:rPr dirty="0" err="1">
                <a:solidFill>
                  <a:srgbClr val="7D9029"/>
                </a:solidFill>
                <a:latin typeface="Courier"/>
              </a:rPr>
              <a:t>y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y,</a:t>
            </a:r>
            <a:r>
              <a:rPr dirty="0" err="1">
                <a:solidFill>
                  <a:srgbClr val="7D9029"/>
                </a:solidFill>
                <a:latin typeface="Courier"/>
              </a:rPr>
              <a:t>fill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dens,</a:t>
            </a:r>
            <a:r>
              <a:rPr dirty="0" err="1">
                <a:solidFill>
                  <a:srgbClr val="7D9029"/>
                </a:solidFill>
                <a:latin typeface="Courier"/>
              </a:rPr>
              <a:t>z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dens))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geom_tile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width=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height=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geom_contour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7D9029"/>
                </a:solidFill>
                <a:latin typeface="Courier"/>
              </a:rPr>
              <a:t>col=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darkgrey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,</a:t>
            </a:r>
            <a:r>
              <a:rPr dirty="0" err="1">
                <a:solidFill>
                  <a:srgbClr val="7D9029"/>
                </a:solidFill>
                <a:latin typeface="Courier"/>
              </a:rPr>
              <a:t>lwd</a:t>
            </a:r>
            <a:r>
              <a:rPr dirty="0">
                <a:solidFill>
                  <a:srgbClr val="7D9029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0.35</a:t>
            </a:r>
            <a:r>
              <a:rPr dirty="0">
                <a:latin typeface="Courier"/>
              </a:rPr>
              <a:t>,</a:t>
            </a:r>
            <a:r>
              <a:rPr dirty="0">
                <a:solidFill>
                  <a:srgbClr val="7D9029"/>
                </a:solidFill>
                <a:latin typeface="Courier"/>
              </a:rPr>
              <a:t>alpha=</a:t>
            </a:r>
            <a:r>
              <a:rPr dirty="0">
                <a:solidFill>
                  <a:srgbClr val="40A070"/>
                </a:solidFill>
                <a:latin typeface="Courier"/>
              </a:rPr>
              <a:t>0.75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scale_fill_gradientn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7D9029"/>
                </a:solidFill>
                <a:latin typeface="Courier"/>
              </a:rPr>
              <a:t>colours</a:t>
            </a:r>
            <a:r>
              <a:rPr dirty="0">
                <a:solidFill>
                  <a:srgbClr val="7D9029"/>
                </a:solidFill>
                <a:latin typeface="Courier"/>
              </a:rPr>
              <a:t> =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clrs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200</a:t>
            </a:r>
            <a:r>
              <a:rPr dirty="0">
                <a:latin typeface="Courier"/>
              </a:rPr>
              <a:t>),</a:t>
            </a:r>
            <a:r>
              <a:rPr dirty="0">
                <a:solidFill>
                  <a:srgbClr val="7D9029"/>
                </a:solidFill>
                <a:latin typeface="Courier"/>
              </a:rPr>
              <a:t>name=</a:t>
            </a:r>
            <a:r>
              <a:rPr dirty="0">
                <a:solidFill>
                  <a:srgbClr val="4070A0"/>
                </a:solidFill>
                <a:latin typeface="Courier"/>
              </a:rPr>
              <a:t>"probability density"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solidFill>
                  <a:srgbClr val="06287E"/>
                </a:solidFill>
                <a:latin typeface="Courier"/>
              </a:rPr>
              <a:t>theme_minimal</a:t>
            </a:r>
            <a:r>
              <a:rPr dirty="0">
                <a:latin typeface="Courier"/>
              </a:rPr>
              <a:t>()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Warning: The following aesthetics were dropped during statistical transformation: fill.
## ℹ This can happen when </a:t>
            </a:r>
            <a:r>
              <a:rPr dirty="0" err="1">
                <a:latin typeface="Courier"/>
              </a:rPr>
              <a:t>ggplot</a:t>
            </a:r>
            <a:r>
              <a:rPr dirty="0">
                <a:latin typeface="Courier"/>
              </a:rPr>
              <a:t> fails to infer the correct grouping structure in
##   the data.
## ℹ Did you forget to specify a `group` aesthetic or to convert a numerical
##   variable into a factor?</a:t>
            </a:r>
          </a:p>
        </p:txBody>
      </p:sp>
      <p:pic>
        <p:nvPicPr>
          <p:cNvPr id="3" name="Picture 1" descr="MLW_KUHeS_RandStatistics_Session2_DataVisualisation_files/figure-pptx/unnamed-chunk-29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59</a:t>
            </a:fld>
            <a:endParaRPr lang="en-GB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60</a:t>
            </a:fld>
            <a:endParaRPr lang="en-GB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There’s multiple ways to generate multi-panel figures. Here we just cover 2 examples.</a:t>
            </a:r>
          </a:p>
          <a:p>
            <a:pPr marL="0" lvl="0" indent="0">
              <a:buNone/>
            </a:pPr>
            <a:r>
              <a:t>For a basic, but general way of combining multipe graphs onto the same figure, the function </a:t>
            </a:r>
            <a:r>
              <a:rPr>
                <a:latin typeface="Courier"/>
              </a:rPr>
              <a:t>grid.arrange()</a:t>
            </a:r>
            <a:r>
              <a:t> from the R package </a:t>
            </a:r>
            <a:r>
              <a:rPr>
                <a:latin typeface="Courier"/>
              </a:rPr>
              <a:t>gridExtra</a:t>
            </a:r>
            <a:r>
              <a:t> can be used.</a:t>
            </a:r>
          </a:p>
          <a:p>
            <a:pPr marL="0" lvl="0" indent="0">
              <a:buNone/>
            </a:pPr>
            <a:r>
              <a:t>The procedure is very simple:</a:t>
            </a:r>
          </a:p>
          <a:p>
            <a:pPr lvl="0"/>
            <a:r>
              <a:t>Load the package (if not loaded already): </a:t>
            </a:r>
            <a:r>
              <a:rPr>
                <a:latin typeface="Courier"/>
              </a:rPr>
              <a:t>library(gridExtra)</a:t>
            </a:r>
          </a:p>
          <a:p>
            <a:pPr lvl="0"/>
            <a:r>
              <a:t>Assign each </a:t>
            </a:r>
            <a:r>
              <a:rPr>
                <a:latin typeface="Courier"/>
              </a:rPr>
              <a:t>ggplot()</a:t>
            </a:r>
            <a:r>
              <a:t> call to an object (e.g. </a:t>
            </a:r>
            <a:r>
              <a:rPr>
                <a:latin typeface="Courier"/>
              </a:rPr>
              <a:t>p1&lt;-ggplot(...) + ...</a:t>
            </a:r>
            <a:r>
              <a:t>)</a:t>
            </a:r>
          </a:p>
          <a:p>
            <a:pPr lvl="0"/>
            <a:r>
              <a:t>Produce a multipanel figure with </a:t>
            </a:r>
            <a:r>
              <a:rPr>
                <a:latin typeface="Courier"/>
              </a:rPr>
              <a:t>grid.arrange(p1,p2,...,nrow=2)</a:t>
            </a:r>
          </a:p>
          <a:p>
            <a:pPr marL="0" lvl="0" indent="0">
              <a:buNone/>
            </a:pPr>
            <a:r>
              <a:t>The </a:t>
            </a:r>
            <a:r>
              <a:rPr>
                <a:latin typeface="Courier"/>
              </a:rPr>
              <a:t>nrow</a:t>
            </a:r>
            <a:r>
              <a:t> parameter specifies over how many rows you want to arrange the plots.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61</a:t>
            </a:fld>
            <a:endParaRPr lang="en-GB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g1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type,</a:t>
            </a:r>
            <a:r>
              <a:rPr>
                <a:solidFill>
                  <a:srgbClr val="7D9029"/>
                </a:solidFill>
                <a:latin typeface="Courier"/>
              </a:rPr>
              <a:t>y=</a:t>
            </a:r>
            <a:r>
              <a:rPr>
                <a:latin typeface="Courier"/>
              </a:rPr>
              <a:t>x3))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geom_jitter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width=</a:t>
            </a:r>
            <a:r>
              <a:rPr>
                <a:solidFill>
                  <a:srgbClr val="40A070"/>
                </a:solidFill>
                <a:latin typeface="Courier"/>
              </a:rPr>
              <a:t>0.25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height=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7D9029"/>
                </a:solidFill>
                <a:latin typeface="Courier"/>
              </a:rPr>
              <a:t>alpha=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xlab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ylab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"Variable x3"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ggtitle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 box &amp; jitter plot."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theme_minimal</a:t>
            </a:r>
            <a:r>
              <a:rPr>
                <a:latin typeface="Courier"/>
              </a:rPr>
              <a:t>()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62</a:t>
            </a:fld>
            <a:endParaRPr lang="en-GB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g2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dat,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x3,</a:t>
            </a:r>
            <a:r>
              <a:rPr>
                <a:solidFill>
                  <a:srgbClr val="7D9029"/>
                </a:solidFill>
                <a:latin typeface="Courier"/>
              </a:rPr>
              <a:t>y=</a:t>
            </a:r>
            <a:r>
              <a:rPr>
                <a:latin typeface="Courier"/>
              </a:rPr>
              <a:t>x4,</a:t>
            </a:r>
            <a:r>
              <a:rPr>
                <a:solidFill>
                  <a:srgbClr val="7D9029"/>
                </a:solidFill>
                <a:latin typeface="Courier"/>
              </a:rPr>
              <a:t>col=</a:t>
            </a:r>
            <a:r>
              <a:rPr>
                <a:latin typeface="Courier"/>
              </a:rPr>
              <a:t>type))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geom_smooth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scale_colour_manual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values=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"steelblue"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"salmon"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"orange"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    </a:t>
            </a:r>
            <a:r>
              <a:rPr>
                <a:solidFill>
                  <a:srgbClr val="7D9029"/>
                </a:solidFill>
                <a:latin typeface="Courier"/>
              </a:rPr>
              <a:t>name=</a:t>
            </a:r>
            <a:r>
              <a:rPr>
                <a:solidFill>
                  <a:srgbClr val="4070A0"/>
                </a:solidFill>
                <a:latin typeface="Courier"/>
              </a:rPr>
              <a:t>"Type"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xlab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"Variable x3"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ylab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"Variable x4"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ggtitle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 covariation plot."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theme_light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text=</a:t>
            </a:r>
            <a:r>
              <a:rPr>
                <a:solidFill>
                  <a:srgbClr val="06287E"/>
                </a:solidFill>
                <a:latin typeface="Courier"/>
              </a:rPr>
              <a:t>element_text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size=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63</a:t>
            </a:fld>
            <a:endParaRPr lang="en-GB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grid.arrange</a:t>
            </a:r>
            <a:r>
              <a:rPr>
                <a:latin typeface="Courier"/>
              </a:rPr>
              <a:t>(g1,g2,</a:t>
            </a:r>
            <a:r>
              <a:rPr>
                <a:solidFill>
                  <a:srgbClr val="7D9029"/>
                </a:solidFill>
                <a:latin typeface="Courier"/>
              </a:rPr>
              <a:t>nrow=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`geom_smooth()` using method = 'loess' and formula = 'y ~ x'</a:t>
            </a:r>
          </a:p>
        </p:txBody>
      </p:sp>
      <p:pic>
        <p:nvPicPr>
          <p:cNvPr id="3" name="Picture 1" descr="MLW_KUHeS_RandStatistics_Session2_DataVisualisation_files/figure-pptx/unnamed-chunk-3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64</a:t>
            </a:fld>
            <a:endParaRPr lang="en-GB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marL="0" lvl="0" indent="0">
              <a:buNone/>
            </a:pPr>
            <a:r>
              <a:t>Multi-panel figures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The other approach we will cover, is if you want to repeat the same graph for different groups of observations within your dataset.</a:t>
            </a:r>
          </a:p>
          <a:p>
            <a:pPr marL="0" lvl="0" indent="0">
              <a:buNone/>
            </a:pPr>
            <a:r>
              <a:t>This is called </a:t>
            </a:r>
            <a:r>
              <a:rPr b="1"/>
              <a:t>faceting</a:t>
            </a:r>
            <a:r>
              <a:t> and in </a:t>
            </a:r>
            <a:r>
              <a:rPr>
                <a:latin typeface="Courier"/>
              </a:rPr>
              <a:t>ggplot2</a:t>
            </a:r>
            <a:r>
              <a:t> the function </a:t>
            </a:r>
            <a:r>
              <a:rPr>
                <a:latin typeface="Courier"/>
              </a:rPr>
              <a:t>facet_wrap()</a:t>
            </a:r>
            <a:r>
              <a:t> allows to do this very easily.</a:t>
            </a:r>
          </a:p>
          <a:p>
            <a:pPr lvl="0" indent="0">
              <a:buNone/>
            </a:pPr>
            <a:r>
              <a:rPr>
                <a:latin typeface="Courier"/>
              </a:rPr>
              <a:t>iris </a:t>
            </a:r>
            <a:r>
              <a:rPr>
                <a:solidFill>
                  <a:srgbClr val="4070A0"/>
                </a:solidFill>
                <a:latin typeface="Courier"/>
              </a:rPr>
              <a:t>%&gt;%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mapping=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x=</a:t>
            </a:r>
            <a:r>
              <a:rPr>
                <a:latin typeface="Courier"/>
              </a:rPr>
              <a:t>Petal.Length,</a:t>
            </a:r>
            <a:r>
              <a:rPr>
                <a:solidFill>
                  <a:srgbClr val="7D9029"/>
                </a:solidFill>
                <a:latin typeface="Courier"/>
              </a:rPr>
              <a:t>y=</a:t>
            </a:r>
            <a:r>
              <a:rPr>
                <a:latin typeface="Courier"/>
              </a:rPr>
              <a:t>Petal.Width))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geom_point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facet_wrap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Species)</a:t>
            </a:r>
          </a:p>
        </p:txBody>
      </p:sp>
      <p:pic>
        <p:nvPicPr>
          <p:cNvPr id="3" name="Picture 1" descr="MLW_KUHeS_RandStatistics_Session2_DataVisualisation_files/figure-pptx/unnamed-chunk-3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676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65</a:t>
            </a:fld>
            <a:endParaRPr lang="en-GB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marL="0" lvl="0" indent="0">
              <a:buNone/>
            </a:pPr>
            <a:r>
              <a:t>Saving graphs to files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66</a:t>
            </a:fld>
            <a:endParaRPr lang="en-GB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Saving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In </a:t>
                </a:r>
                <a:r>
                  <a:rPr>
                    <a:latin typeface="Courier"/>
                  </a:rPr>
                  <a:t>ggplot2</a:t>
                </a:r>
                <a:r>
                  <a:t>, the simplest way to save graphs is to use the function </a:t>
                </a:r>
                <a:r>
                  <a:rPr>
                    <a:latin typeface="Courier"/>
                  </a:rPr>
                  <a:t>ggsave()</a:t>
                </a:r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ggsave</a:t>
                </a:r>
                <a:r>
                  <a:rPr>
                    <a:latin typeface="Courier"/>
                  </a:rPr>
                  <a:t>(g1,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filename=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"myplot.png"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16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height=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9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units=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"cm"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dpi=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450</a:t>
                </a:r>
                <a:r>
                  <a:rPr>
                    <a:latin typeface="Courier"/>
                  </a:rPr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67</a:t>
            </a:fld>
            <a:endParaRPr lang="en-GB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Saving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Another way is to enclose your plotting code inside a statement that specifies a </a:t>
                </a:r>
                <a:r>
                  <a:rPr i="1" dirty="0"/>
                  <a:t>graphics device</a:t>
                </a:r>
                <a:r>
                  <a:rPr dirty="0"/>
                  <a:t>. “Graphics device” means a pdf, </a:t>
                </a:r>
                <a:r>
                  <a:rPr dirty="0" err="1"/>
                  <a:t>png</a:t>
                </a:r>
                <a:r>
                  <a:rPr dirty="0"/>
                  <a:t>, jpg or other file.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Example:</a:t>
                </a:r>
              </a:p>
              <a:p>
                <a:pPr lvl="0" indent="0">
                  <a:buNone/>
                </a:pPr>
                <a:r>
                  <a:rPr dirty="0">
                    <a:solidFill>
                      <a:srgbClr val="06287E"/>
                    </a:solidFill>
                    <a:latin typeface="Courier"/>
                  </a:rPr>
                  <a:t>pdf</a:t>
                </a:r>
                <a:r>
                  <a:rPr dirty="0">
                    <a:latin typeface="Courier"/>
                  </a:rPr>
                  <a:t>(</a:t>
                </a:r>
                <a:r>
                  <a:rPr dirty="0"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 dirty="0">
                    <a:solidFill>
                      <a:srgbClr val="40A070"/>
                    </a:solidFill>
                    <a:latin typeface="Courier"/>
                  </a:rPr>
                  <a:t>16</a:t>
                </a:r>
                <a:r>
                  <a:rPr dirty="0">
                    <a:latin typeface="Courier"/>
                  </a:rPr>
                  <a:t>,</a:t>
                </a:r>
                <a:r>
                  <a:rPr dirty="0">
                    <a:solidFill>
                      <a:srgbClr val="7D9029"/>
                    </a:solidFill>
                    <a:latin typeface="Courier"/>
                  </a:rPr>
                  <a:t>height=</a:t>
                </a:r>
                <a:r>
                  <a:rPr dirty="0">
                    <a:solidFill>
                      <a:srgbClr val="40A070"/>
                    </a:solidFill>
                    <a:latin typeface="Courier"/>
                  </a:rPr>
                  <a:t>9</a:t>
                </a:r>
                <a:r>
                  <a:rPr dirty="0">
                    <a:latin typeface="Courier"/>
                  </a:rPr>
                  <a:t>,</a:t>
                </a:r>
                <a:r>
                  <a:rPr dirty="0">
                    <a:solidFill>
                      <a:srgbClr val="7D9029"/>
                    </a:solidFill>
                    <a:latin typeface="Courier"/>
                  </a:rPr>
                  <a:t>file=</a:t>
                </a:r>
                <a:r>
                  <a:rPr dirty="0">
                    <a:solidFill>
                      <a:srgbClr val="4070A0"/>
                    </a:solidFill>
                    <a:latin typeface="Courier"/>
                  </a:rPr>
                  <a:t>"myfile.pdf"</a:t>
                </a:r>
                <a:r>
                  <a:rPr dirty="0">
                    <a:latin typeface="Courier"/>
                  </a:rPr>
                  <a:t>) </a:t>
                </a:r>
                <a:r>
                  <a:rPr i="1" dirty="0">
                    <a:solidFill>
                      <a:srgbClr val="60A0B0"/>
                    </a:solidFill>
                    <a:latin typeface="Courier"/>
                  </a:rPr>
                  <a:t># opens the device; pdf will produce vector graphics</a:t>
                </a:r>
                <a:br>
                  <a:rPr dirty="0"/>
                </a:br>
                <a:r>
                  <a:rPr i="1" dirty="0">
                    <a:solidFill>
                      <a:srgbClr val="60A0B0"/>
                    </a:solidFill>
                    <a:latin typeface="Courier"/>
                  </a:rPr>
                  <a:t># plotting code here</a:t>
                </a:r>
                <a:br>
                  <a:rPr dirty="0"/>
                </a:br>
                <a:r>
                  <a:rPr dirty="0" err="1">
                    <a:solidFill>
                      <a:srgbClr val="06287E"/>
                    </a:solidFill>
                    <a:latin typeface="Courier"/>
                  </a:rPr>
                  <a:t>dev.off</a:t>
                </a:r>
                <a:r>
                  <a:rPr dirty="0">
                    <a:latin typeface="Courier"/>
                  </a:rPr>
                  <a:t>() </a:t>
                </a:r>
                <a:r>
                  <a:rPr i="1" dirty="0">
                    <a:solidFill>
                      <a:srgbClr val="60A0B0"/>
                    </a:solidFill>
                    <a:latin typeface="Courier"/>
                  </a:rPr>
                  <a:t># closes the device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r="-2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68</a:t>
            </a:fld>
            <a:endParaRPr lang="en-GB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Saving figures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Or: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png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width=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16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height=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9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units=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"in"</a:t>
                </a:r>
                <a:r>
                  <a:rPr>
                    <a:latin typeface="Courier"/>
                  </a:rPr>
                  <a:t>,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res=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450</a:t>
                </a:r>
                <a:r>
                  <a:rPr>
                    <a:latin typeface="Courier"/>
                  </a:rPr>
                  <a:t>)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raster graphics</a:t>
                </a:r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# plotting code here</a:t>
                </a:r>
                <a:br/>
                <a:r>
                  <a:rPr>
                    <a:solidFill>
                      <a:srgbClr val="06287E"/>
                    </a:solidFill>
                    <a:latin typeface="Courier"/>
                  </a:rPr>
                  <a:t>dev.off</a:t>
                </a:r>
                <a:r>
                  <a:rPr>
                    <a:latin typeface="Courier"/>
                  </a:rPr>
                  <a:t>()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69</a:t>
            </a:fld>
            <a:endParaRPr lang="en-GB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[end of Session 2]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70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4586</Words>
  <Application>Microsoft Office PowerPoint</Application>
  <PresentationFormat>Widescreen</PresentationFormat>
  <Paragraphs>360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Courier</vt:lpstr>
      <vt:lpstr>Office Theme</vt:lpstr>
      <vt:lpstr>Statistics and R short course</vt:lpstr>
      <vt:lpstr>Introduction</vt:lpstr>
      <vt:lpstr>Preliminaries</vt:lpstr>
      <vt:lpstr>Learning outcomes</vt:lpstr>
      <vt:lpstr>Preliminaries</vt:lpstr>
      <vt:lpstr>A little exercise</vt:lpstr>
      <vt:lpstr>A little exercise</vt:lpstr>
      <vt:lpstr>Grammar of graphics</vt:lpstr>
      <vt:lpstr>Basic figures &amp; graphs</vt:lpstr>
      <vt:lpstr>Basic figures &amp; graphs</vt:lpstr>
      <vt:lpstr>Basic figures &amp; graphs</vt:lpstr>
      <vt:lpstr>Basic figures &amp; graphs</vt:lpstr>
      <vt:lpstr>Basic figures &amp; graphs</vt:lpstr>
      <vt:lpstr>Basic figures &amp; graphs</vt:lpstr>
      <vt:lpstr>Basic figures &amp; graphs</vt:lpstr>
      <vt:lpstr>Basic figures &amp; graphs</vt:lpstr>
      <vt:lpstr>Resources</vt:lpstr>
      <vt:lpstr>Resources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Distribution figures</vt:lpstr>
      <vt:lpstr>PowerPoint Presentation</vt:lpstr>
      <vt:lpstr>Distribution figures</vt:lpstr>
      <vt:lpstr>Distribution figures</vt:lpstr>
      <vt:lpstr>Distribution figures</vt:lpstr>
      <vt:lpstr>Distribution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Covariation figures</vt:lpstr>
      <vt:lpstr>Multi-panel figures</vt:lpstr>
      <vt:lpstr>Multi-panel figures</vt:lpstr>
      <vt:lpstr>Multi-panel figures</vt:lpstr>
      <vt:lpstr>Multi-panel figures</vt:lpstr>
      <vt:lpstr>Multi-panel figures</vt:lpstr>
      <vt:lpstr>Multi-panel figures</vt:lpstr>
      <vt:lpstr>Saving graphs to files</vt:lpstr>
      <vt:lpstr>Saving figures</vt:lpstr>
      <vt:lpstr>Saving figures</vt:lpstr>
      <vt:lpstr>Saving figures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21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and R short course</dc:title>
  <dc:creator>Vester Gunsaru</dc:creator>
  <cp:keywords/>
  <cp:lastModifiedBy>Vester Gunsaru</cp:lastModifiedBy>
  <cp:revision>1</cp:revision>
  <dcterms:created xsi:type="dcterms:W3CDTF">2026-01-16T06:46:31Z</dcterms:created>
  <dcterms:modified xsi:type="dcterms:W3CDTF">2026-01-20T11:09:48Z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21 January 2026</vt:lpwstr>
  </property>
  <property fmtid="{D5CDD505-2E9C-101B-9397-08002B2CF9AE}" pid="3" name="output">
    <vt:lpwstr/>
  </property>
  <property fmtid="{D5CDD505-2E9C-101B-9397-08002B2CF9AE}" pid="4" name="subtitle">
    <vt:lpwstr>Session 2: Data visualisation</vt:lpwstr>
  </property>
</Properties>
</file>